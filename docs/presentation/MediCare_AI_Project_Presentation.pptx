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a:t>
            </a:r>
          </a:p>
          <a:p>
            <a:r>
              <a:t>"Good morning, everyone. Welcome to the presentation of MediCare AI, an intelligent, production-ready healthcare management platform.</a:t>
            </a:r>
          </a:p>
          <a:p/>
          <a:p>
            <a:r>
              <a:t>Healthcare today is full of friction. Patients struggle to interpret complex laboratory reports and prescriptions, while clinicians are overwhelmed by fragmented EHR systems and delayed vital alerts. </a:t>
            </a:r>
          </a:p>
          <a:p/>
          <a:p>
            <a:r>
              <a:t>MediCare AI bridges this gap. It provides patient-centered document intelligence, continuous physiological telemetry through our VitalSense engine, and clinician decision support with strict safety guardrails. Today, I will walk you through what our platform does, how it is built, and how it delivers measurable value across the care continuum."</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2):</a:t>
            </a:r>
          </a:p>
          <a:p>
            <a:r>
              <a:t>"To understand why MediCare AI exists, we have to look at the three major friction points in healthcare today.</a:t>
            </a:r>
          </a:p>
          <a:p/>
          <a:p>
            <a:r>
              <a:t>First: Document Incomprehension. Over 70% of adults cannot comfortably interpret a lab report or prescription instructions. Patients see words like 'Microalbuminuria' or 'Hypokalemia' and turn to unverified internet searches, causing panic.</a:t>
            </a:r>
          </a:p>
          <a:p/>
          <a:p>
            <a:r>
              <a:t>Second: Fragmented Records. Vital data is trapped in institutional silos. A patient seeing a cardiologist often has to carry paper copies of blood work done by their endocrinologist.</a:t>
            </a:r>
          </a:p>
          <a:p/>
          <a:p>
            <a:r>
              <a:t>Third: Silent Physiological Drift. Hypertension and diabetes do not wait for an annual checkup. Between 3-month clinic visits, blood pressure creeps upward unnoticed until it manifests as a hypertensive crisis. </a:t>
            </a:r>
          </a:p>
          <a:p/>
          <a:p>
            <a:r>
              <a:t>MediCare AI addresses each of these problems through transparent software workflows."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3):</a:t>
            </a:r>
          </a:p>
          <a:p>
            <a:r>
              <a:t>"Here is how MediCare AI solves these challenges through four foundational pillars:</a:t>
            </a:r>
          </a:p>
          <a:p/>
          <a:p>
            <a:r>
              <a:t>On the patient side, we give people back their autonomy. We transform frightening PDFs into clean, 4-part structured guides: What was tested, What the result means, Whether it's normal, and What questions to ask your doctor.</a:t>
            </a:r>
          </a:p>
          <a:p/>
          <a:p>
            <a:r>
              <a:t>For clinicians, we provide active triage. Doctors don't have time to review thousands of numbers. Our VitalSense engine calculates Mean Arterial Pressure and flags Stage 2 Hypertension or Hypoglycemia straight to their alert queue.</a:t>
            </a:r>
          </a:p>
          <a:p/>
          <a:p>
            <a:r>
              <a:t>Crucially, our system is safety-first. We do NOT rely blindly on generative AI. Clinical guidelines from the American Heart Association and our 10-drug interaction matrix run deterministically in code. AI is used solely for plain-language communication.</a:t>
            </a:r>
          </a:p>
          <a:p/>
          <a:p>
            <a:r>
              <a:t>Finally, enterprise governance: every clinical action is audited in our Master Patient Index."</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4):</a:t>
            </a:r>
          </a:p>
          <a:p>
            <a:r>
              <a:t>"Healthcare software must serve multiple masters to succeed. MediCare AI aligns the incentives of all three primary stakeholder groups.</a:t>
            </a:r>
          </a:p>
          <a:p/>
          <a:p>
            <a:r>
              <a:t>For patients and family caregivers, it replaces confusion with confidence. When a mother uploads her father's lab report, she receives a clear explanation of his kidney markers instead of incomprehensible numbers.</a:t>
            </a:r>
          </a:p>
          <a:p/>
          <a:p>
            <a:r>
              <a:t>For doctors and nurses, it combats burnout. Instead of spending 15 minutes clicking through clunky EHR screens, the doctor sees an automated summary of 30-day vitals, calculated MAP, and pre-screened drug interactions.</a:t>
            </a:r>
          </a:p>
          <a:p/>
          <a:p>
            <a:r>
              <a:t>For hospital administrators and CIOs, it ensures governance. Our audit log tracks every read, update, and export with IP and timestamp metadata, ensuring strict accountability."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5):</a:t>
            </a:r>
          </a:p>
          <a:p>
            <a:r>
              <a:t>"This slide represents our honesty-first engineering commitment. We distinguish verified, working software from simulations and roadmap proposals.</a:t>
            </a:r>
          </a:p>
          <a:p/>
          <a:p>
            <a:r>
              <a:t>Everything marked green in this inventory is fully implemented, tested, and running live on Render today. That includes the Patient Dashboard, the VitalSense telemetry system, prescription analysis, the doctor alert queue, and our cryptographic device ingestion API.</a:t>
            </a:r>
          </a:p>
          <a:p/>
          <a:p>
            <a:r>
              <a:t>Notice the amber card on the bottom right: We explicitly label our educational webcam tool as a simulation, not a diagnostic medical device. Furthermore, all AI document workflows feature deterministic offline fallbacks so the system never fails if cloud APIs are unreachable."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6):</a:t>
            </a:r>
          </a:p>
          <a:p>
            <a:r>
              <a:t>"Let us step into the patient's shoes. When Alice Johnson logs in, she is greeted by her personal health overview. </a:t>
            </a:r>
          </a:p>
          <a:p/>
          <a:p>
            <a:r>
              <a:t>At the top, four summary counters show her upcoming appointments, active medications, and recent lab results. Below that, our interactive Full Body Diagnostics Digital Twin provides an intuitive anatomical map. </a:t>
            </a:r>
          </a:p>
          <a:p/>
          <a:p>
            <a:r>
              <a:t>Instead of reading raw data tables, she can click on her Cardiovascular zone to see her blood pressure history and calculated Mean Arterial Pressure. If a vital sign drifts into Stage 2 hypertension, that zone glows red, alerting her to follow up.</a:t>
            </a:r>
          </a:p>
          <a:p/>
          <a:p>
            <a:r>
              <a:t>And in an urgent situation, the Emergency Hospitals button immediately presents nearby emergency rooms with address, distance, and direct 911 calling."</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7):</a:t>
            </a:r>
          </a:p>
          <a:p>
            <a:r>
              <a:t>"Now let's examine our physiological monitoring engine: VitalSense.</a:t>
            </a:r>
          </a:p>
          <a:p/>
          <a:p>
            <a:r>
              <a:t>For blood pressure, our backend immediately computes Mean Arterial Pressure using the clinical standard formula: Diastolic plus one-third of pulse pressure. It classifies the reading under American Heart Association guidelines. If a patient logs 185 over 125, the system immediately presents an emergency red banner instructing them to call 911 and dispatches an alert to the doctor's queue.</a:t>
            </a:r>
          </a:p>
          <a:p/>
          <a:p>
            <a:r>
              <a:t>For blood glucose, we follow American Diabetes Association guidelines, tracking Time-in-Range between 70 and 180 mg/dL.</a:t>
            </a:r>
          </a:p>
          <a:p/>
          <a:p>
            <a:r>
              <a:t>Notice the bottom section on data provenance. We differentiate between genuine measurements and demo simulations. A student or evaluator can test simulated states, and then click 'Reset Demo'—our system atomically purges only the synthetic records, leaving real patient data untouched."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8):</a:t>
            </a:r>
          </a:p>
          <a:p>
            <a:r>
              <a:t>"One of our proudest architectural decisions is our adherence to biomedical reality.</a:t>
            </a:r>
          </a:p>
          <a:p/>
          <a:p>
            <a:r>
              <a:t>Many health apps make dubious claims—like measuring blood sugar simply by putting a finger on a smartphone camera. MediCare AI rejects this pseudoscience. Our documentation clearly explains that glucose is a tiny molecule with identical optical absorption to other serum components; non-invasive optical glucose is physically unfeasible without interstitial fluid access.</a:t>
            </a:r>
          </a:p>
          <a:p/>
          <a:p>
            <a:r>
              <a:t>Instead, we focus on what optical sensors actually measure: heart rate, SpO2, perfusion index, and contact force. </a:t>
            </a:r>
          </a:p>
          <a:p/>
          <a:p>
            <a:r>
              <a:t>On the software side, we support WebSerial and WebBluetooth GATT protocols, allowing direct browser connection to standard medical hardware. Every packet is checked for signal quality—rejecting motion artifacts—and hashed with SHA-256 for auditability."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9):</a:t>
            </a:r>
          </a:p>
          <a:p>
            <a:r>
              <a:t>"Prescription errors harm millions of patients each year. Our Prescription Intelligence engine provides a vital safety check.</a:t>
            </a:r>
          </a:p>
          <a:p/>
          <a:p>
            <a:r>
              <a:t>When a patient uploads a prescription scan, our pipeline extracts the medication name, strength, and schedule. Before passing anything to an AI model, our software runs an immediate, deterministic check against our 10-rule Drug-Drug Interaction Matrix.</a:t>
            </a:r>
          </a:p>
          <a:p/>
          <a:p>
            <a:r>
              <a:t>For example, if a patient is prescribed Aspirin while already taking Warfarin, the system immediately triggers a high-severity alert for bleeding risk. </a:t>
            </a:r>
          </a:p>
          <a:p/>
          <a:p>
            <a:r>
              <a:t>It then compiles a clean patient checklist: Take with food, space calcium 4 hours apart from thyroid medication, and monitor for side effects. This turns confusing medical jargon into actionable safety."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10):</a:t>
            </a:r>
          </a:p>
          <a:p>
            <a:r>
              <a:t>"Laboratory reports are often the most intimidating documents a patient receives. Our Diagnostic Lab Pipeline transforms that experience.</a:t>
            </a:r>
          </a:p>
          <a:p/>
          <a:p>
            <a:r>
              <a:t>We built an embedded clinical terminology dictionary of 37 standard hospital biomarkers—from HbA1c to Troponin. Even if our cloud AI connection goes offline, this dictionary runs locally, defining reference ranges and clinical meanings.</a:t>
            </a:r>
          </a:p>
          <a:p/>
          <a:p>
            <a:r>
              <a:t>We structure every analysis into a 4-part framework: What test was done, What the finding means, Is it normal, and What questions to ask your doctor.</a:t>
            </a:r>
          </a:p>
          <a:p/>
          <a:p>
            <a:r>
              <a:t>Notice part four: instead of giving medical advice, we arm the patient with informed questions for their physician. This enhances the doctor-patient relationship rather than attempting to replace it."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11):</a:t>
            </a:r>
          </a:p>
          <a:p>
            <a:r>
              <a:t>"Now let's switch perspectives to the Doctor Portal. </a:t>
            </a:r>
          </a:p>
          <a:p/>
          <a:p>
            <a:r>
              <a:t>When Dr. Sarah Chen logs into MediCare AI, she does not see a chaotic wall of data. She sees a prioritized Alert Queue. </a:t>
            </a:r>
          </a:p>
          <a:p/>
          <a:p>
            <a:r>
              <a:t>If Alice Johnson logged a blood pressure of 165 over 105, Alice immediately appears at the top of Dr. Chen's queue with a Warning badge. Dr. Chen can click on Alice's record, inspect her 30-day Mean Arterial Pressure trend, and record an action note—such as scheduling a medication review.</a:t>
            </a:r>
          </a:p>
          <a:p/>
          <a:p>
            <a:r>
              <a:t>Once actioned, the alert is marked RESOLVED and logged in our audit trail. This prevents alarm fatigue and ensures no critical outlier falls through the cracks."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12):</a:t>
            </a:r>
          </a:p>
          <a:p>
            <a:r>
              <a:t>"For hospital administrators and compliance officers, governance is paramount.</a:t>
            </a:r>
          </a:p>
          <a:p/>
          <a:p>
            <a:r>
              <a:t>MediCare AI includes a Master Patient Index that prevents duplicate medical charts across departments. A patient admitted through cardiology is seamlessly recognized by nephrology under a single, verified Medical Record Number.</a:t>
            </a:r>
          </a:p>
          <a:p/>
          <a:p>
            <a:r>
              <a:t>Alongside the MPI is our immutable Audit Log. Under HIPAA Security Rule Section 164.312(b), covered entities must maintain records of all PHI access. Our backend automatically logs every single view, edit, login, and export, capturing the user's ID, role, IP address, and exact timestamp. Administrators can audit access patterns at any time."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13):</a:t>
            </a:r>
          </a:p>
          <a:p>
            <a:r>
              <a:t>"Let's look under the hood at our technology stack. </a:t>
            </a:r>
          </a:p>
          <a:p/>
          <a:p>
            <a:r>
              <a:t>On the frontend: React 18, TypeScript, and Vite. We engineered custom error boundaries and Vite preload auto-recovery so users never experience broken screens during rolling updates.</a:t>
            </a:r>
          </a:p>
          <a:p/>
          <a:p>
            <a:r>
              <a:t>On the backend: Python 3.12 with FastAPI on Uvicorn. FastAPI provides lightning-fast asynchronous request handling and Pydantic v2 schema validation.</a:t>
            </a:r>
          </a:p>
          <a:p/>
          <a:p>
            <a:r>
              <a:t>Our clinical logic layer combines deterministic rule engines with Google Gemini 2.5 Pro for plain-language communication.</a:t>
            </a:r>
          </a:p>
          <a:p/>
          <a:p>
            <a:r>
              <a:t>And for persistence, we use SQLAlchemy 2.0 Async ORM. We support a portable SQLite engine for zero-configuration testing, and managed PostgreSQL with pgvector for production. Everything is packaged in a multi-stage Docker container deployed live on Render."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14):</a:t>
            </a:r>
          </a:p>
          <a:p>
            <a:r>
              <a:t>"To see how this architecture functions in practice, let us trace a complete 4-stage data journey.</a:t>
            </a:r>
          </a:p>
          <a:p/>
          <a:p>
            <a:r>
              <a:t>Stage 1 is Ingestion: A patient uploads a lab report, or places a finger on a hardware sensor. The file is validated in memory by FastAPI, checking magic bytes and payload size.</a:t>
            </a:r>
          </a:p>
          <a:p/>
          <a:p>
            <a:r>
              <a:t>Stage 2 is Sanitization: Our anti-injection shield strips any malicious text strings, while our cryptographic hasher generates a unique SHA-256 fingerprint.</a:t>
            </a:r>
          </a:p>
          <a:p/>
          <a:p>
            <a:r>
              <a:t>Stage 3 is Evaluation: The system deterministically matches biomarkers against clinical thresholds and drug interaction rules, then synthesizes patient guidance.</a:t>
            </a:r>
          </a:p>
          <a:p/>
          <a:p>
            <a:r>
              <a:t>Stage 4 is Triage and Persistence: The analysis is saved to the database. If any biomarker or vital indicates an acute crisis, an alert is instantly dispatched to the doctor's triage dashboard. The loop closes when the clinician reviews the finding and records their care note."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15):</a:t>
            </a:r>
          </a:p>
          <a:p>
            <a:r>
              <a:t>"Healthcare technology requires extraordinary ethical responsibility. </a:t>
            </a:r>
          </a:p>
          <a:p/>
          <a:p>
            <a:r>
              <a:t>From a cybersecurity perspective, we align with the technical safeguards of HIPAA: role-based JWT access tokens, TLS 1.3 encryption in transit, SHA-256 integrity verification, and immutable audit logging.</a:t>
            </a:r>
          </a:p>
          <a:p/>
          <a:p>
            <a:r>
              <a:t>From a clinical safety perspective, we make no claims of replacing physicians. Every AI summary includes a mandatory disclaimer, and our algorithms are grounded to prevent hallucinations.</a:t>
            </a:r>
          </a:p>
          <a:p/>
          <a:p>
            <a:r>
              <a:t>Furthermore, we are completely transparent about what is required before clinical deployment: formal institutional BAAs with cloud vendors, prospective clinical trials, SOC 2 Type II audits, and FDA Software as a Medical Device evaluation. We build software that respects medical and legal reality."</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16):</a:t>
            </a:r>
          </a:p>
          <a:p>
            <a:r>
              <a:t>"Our strategic roadmap outlines the journey from today's validated application to an enterprise-grade hospital deployment.</a:t>
            </a:r>
          </a:p>
          <a:p/>
          <a:p>
            <a:r>
              <a:t>Phase 1 is complete: 91 backend tests passing, zero frontend build errors, and live production deployment on Render.</a:t>
            </a:r>
          </a:p>
          <a:p/>
          <a:p>
            <a:r>
              <a:t>Phase 2 deepens our clinical dictionary to over 100 biomarkers and enhances vector RAG grounding.</a:t>
            </a:r>
          </a:p>
          <a:p/>
          <a:p>
            <a:r>
              <a:t>Phase 3 and 4 introduce enterprise hospital requirements: SAML single sign-on, and HL7 FHIR interoperability to synchronize data bidirectionally with Epic and Cerner EHRs.</a:t>
            </a:r>
          </a:p>
          <a:p/>
          <a:p>
            <a:r>
              <a:t>Phases 5 and 6 govern real-world evaluation: conducting structured pilot studies to measure clinician time savings, followed by formal FDA Software as a Medical Device pre-submissions."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17):</a:t>
            </a:r>
          </a:p>
          <a:p>
            <a:r>
              <a:t>"In conclusion, MediCare AI demonstrates that modern web technology and responsible artificial intelligence can come together to transform healthcare communication.</a:t>
            </a:r>
          </a:p>
          <a:p/>
          <a:p>
            <a:r>
              <a:t>We have proven that complex documents can be made understandable, that physiological trends can be tracked transparently, and that clinician workflows can be protected from alert fatigue.</a:t>
            </a:r>
          </a:p>
          <a:p/>
          <a:p>
            <a:r>
              <a:t>The platform is live right now at medicare-ai-iv31.onrender.com. I invite you to participate in a 5-minute live demonstration: we will log in as patient Alice Johnson, record a vital sign, view the immediate AHA evaluation, and watch it surface in Dr. Sarah Chen's triage queue.</a:t>
            </a:r>
          </a:p>
          <a:p/>
          <a:p>
            <a:r>
              <a:t>Thank you for your time, and I look forward to your questions and discussing potential pilot partnerships."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1097280" y="1645920"/>
            <a:ext cx="9966960" cy="3474720"/>
          </a:xfrm>
          <a:prstGeom prst="rect">
            <a:avLst/>
          </a:prstGeom>
          <a:noFill/>
        </p:spPr>
        <p:txBody>
          <a:bodyPr wrap="square">
            <a:spAutoFit/>
          </a:bodyPr>
          <a:lstStyle/>
          <a:p>
            <a:pPr>
              <a:spcAft>
                <a:spcPts val="1200"/>
              </a:spcAft>
              <a:defRPr sz="1100" b="1">
                <a:solidFill>
                  <a:srgbClr val="00B4D8"/>
                </a:solidFill>
              </a:defRPr>
            </a:pPr>
            <a:r>
              <a:t>INTELLIGENT HEALTHCARE MANAGEMENT PLATFORM</a:t>
            </a:r>
          </a:p>
          <a:p>
            <a:pPr>
              <a:spcAft>
                <a:spcPts val="800"/>
              </a:spcAft>
              <a:defRPr sz="4400" b="1">
                <a:solidFill>
                  <a:srgbClr val="FFFFFF"/>
                </a:solidFill>
              </a:defRPr>
            </a:pPr>
            <a:r>
              <a:t>MediCare AI</a:t>
            </a:r>
          </a:p>
          <a:p>
            <a:pPr>
              <a:spcAft>
                <a:spcPts val="2000"/>
              </a:spcAft>
              <a:defRPr sz="1700">
                <a:solidFill>
                  <a:srgbClr val="2DD4BF"/>
                </a:solidFill>
              </a:defRPr>
            </a:pPr>
            <a:r>
              <a:t>Clinical Document Intelligence, Physiological Telemetry &amp; Care Team Decision Support</a:t>
            </a:r>
          </a:p>
          <a:p>
            <a:pPr>
              <a:spcAft>
                <a:spcPts val="2400"/>
              </a:spcAft>
              <a:defRPr sz="1150">
                <a:solidFill>
                  <a:srgbClr val="94A3B8"/>
                </a:solidFill>
              </a:defRPr>
            </a:pPr>
            <a:r>
              <a:t>A production-grade, secure healthcare platform built with React 18, FastAPI, and Google Gemini AI.</a:t>
            </a:r>
            <a:br/>
            <a:r>
              <a:t>Engineered with deterministic clinical safety guardrails, anti-prompt-injection shields, and dual-layer data isolation.</a:t>
            </a:r>
          </a:p>
          <a:p>
            <a:pPr>
              <a:defRPr sz="1050" b="1">
                <a:solidFill>
                  <a:srgbClr val="3B82F6"/>
                </a:solidFill>
              </a:defRPr>
            </a:pPr>
            <a:r>
              <a:t>Live Production: medicare-ai-iv31.onrender.com  |  Repository: github.com/gopidsai687/medicare-ai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INDUSTRY CHALLENGE</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The Triad of Modern Healthcare Friction</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Why clinical information and routine monitoring remain difficult for patients and healthcare providers.</a:t>
            </a:r>
          </a:p>
        </p:txBody>
      </p:sp>
      <p:sp>
        <p:nvSpPr>
          <p:cNvPr id="5" name="Rounded Rectangle 4"/>
          <p:cNvSpPr/>
          <p:nvPr/>
        </p:nvSpPr>
        <p:spPr>
          <a:xfrm>
            <a:off x="7315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1. Document Incomprehension</a:t>
            </a:r>
            <a:r>
              <a:rPr sz="950" b="1">
                <a:solidFill>
                  <a:srgbClr val="F59E0B"/>
                </a:solidFill>
              </a:rPr>
              <a:t>  [Patient Friction]</a:t>
            </a:r>
          </a:p>
          <a:p>
            <a:pPr>
              <a:spcAft>
                <a:spcPts val="500"/>
              </a:spcAft>
              <a:defRPr sz="1000">
                <a:solidFill>
                  <a:srgbClr val="94A3B8"/>
                </a:solidFill>
              </a:defRPr>
            </a:pPr>
            <a:r>
              <a:t>•  71% of patients struggle to interpret laboratory ranges and diagnostic terminology.</a:t>
            </a:r>
          </a:p>
          <a:p>
            <a:pPr>
              <a:spcAft>
                <a:spcPts val="500"/>
              </a:spcAft>
              <a:defRPr sz="1000">
                <a:solidFill>
                  <a:srgbClr val="94A3B8"/>
                </a:solidFill>
              </a:defRPr>
            </a:pPr>
            <a:r>
              <a:t>•  Critical findings (e.g., eGFR decline, elevated Troponin) trigger intense anxiety.</a:t>
            </a:r>
          </a:p>
          <a:p>
            <a:pPr>
              <a:spcAft>
                <a:spcPts val="500"/>
              </a:spcAft>
              <a:defRPr sz="1000">
                <a:solidFill>
                  <a:srgbClr val="94A3B8"/>
                </a:solidFill>
              </a:defRPr>
            </a:pPr>
            <a:r>
              <a:t>•  Prescription directions are frequently misunderstood, risking dangerous dosing errors.</a:t>
            </a:r>
          </a:p>
          <a:p>
            <a:pPr>
              <a:spcAft>
                <a:spcPts val="500"/>
              </a:spcAft>
              <a:defRPr sz="1000">
                <a:solidFill>
                  <a:srgbClr val="94A3B8"/>
                </a:solidFill>
              </a:defRPr>
            </a:pPr>
            <a:r>
              <a:t>•  Patients leave hospital encounters without clear next steps or doctor discussion questions.</a:t>
            </a:r>
          </a:p>
        </p:txBody>
      </p:sp>
      <p:sp>
        <p:nvSpPr>
          <p:cNvPr id="7" name="Rounded Rectangle 6"/>
          <p:cNvSpPr/>
          <p:nvPr/>
        </p:nvSpPr>
        <p:spPr>
          <a:xfrm>
            <a:off x="43891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2. Fragmented EHR Portals</a:t>
            </a:r>
            <a:r>
              <a:rPr sz="950" b="1">
                <a:solidFill>
                  <a:srgbClr val="F59E0B"/>
                </a:solidFill>
              </a:rPr>
              <a:t>  [Systemic Barrier]</a:t>
            </a:r>
          </a:p>
          <a:p>
            <a:pPr>
              <a:spcAft>
                <a:spcPts val="500"/>
              </a:spcAft>
              <a:defRPr sz="1000">
                <a:solidFill>
                  <a:srgbClr val="94A3B8"/>
                </a:solidFill>
              </a:defRPr>
            </a:pPr>
            <a:r>
              <a:t>•  Health records, prescriptions, and lab panels are trapped across disconnected portals.</a:t>
            </a:r>
          </a:p>
          <a:p>
            <a:pPr>
              <a:spcAft>
                <a:spcPts val="500"/>
              </a:spcAft>
              <a:defRPr sz="1000">
                <a:solidFill>
                  <a:srgbClr val="94A3B8"/>
                </a:solidFill>
              </a:defRPr>
            </a:pPr>
            <a:r>
              <a:t>•  Caregivers lack a single, unified view of a loved one's medications and upcoming visits.</a:t>
            </a:r>
          </a:p>
          <a:p>
            <a:pPr>
              <a:spcAft>
                <a:spcPts val="500"/>
              </a:spcAft>
              <a:defRPr sz="1000">
                <a:solidFill>
                  <a:srgbClr val="94A3B8"/>
                </a:solidFill>
              </a:defRPr>
            </a:pPr>
            <a:r>
              <a:t>•  Manual paper printouts remain the dominant method patients use to convey history.</a:t>
            </a:r>
          </a:p>
          <a:p>
            <a:pPr>
              <a:spcAft>
                <a:spcPts val="500"/>
              </a:spcAft>
              <a:defRPr sz="1000">
                <a:solidFill>
                  <a:srgbClr val="94A3B8"/>
                </a:solidFill>
              </a:defRPr>
            </a:pPr>
            <a:r>
              <a:t>•  Loss of continuity between primary care visits and specialist encounters.</a:t>
            </a:r>
          </a:p>
        </p:txBody>
      </p:sp>
      <p:sp>
        <p:nvSpPr>
          <p:cNvPr id="9" name="Rounded Rectangle 8"/>
          <p:cNvSpPr/>
          <p:nvPr/>
        </p:nvSpPr>
        <p:spPr>
          <a:xfrm>
            <a:off x="80467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3. Silent Physiological Drift</a:t>
            </a:r>
            <a:r>
              <a:rPr sz="950" b="1">
                <a:solidFill>
                  <a:srgbClr val="F59E0B"/>
                </a:solidFill>
              </a:rPr>
              <a:t>  [Clinical Risk]</a:t>
            </a:r>
          </a:p>
          <a:p>
            <a:pPr>
              <a:spcAft>
                <a:spcPts val="500"/>
              </a:spcAft>
              <a:defRPr sz="1000">
                <a:solidFill>
                  <a:srgbClr val="94A3B8"/>
                </a:solidFill>
              </a:defRPr>
            </a:pPr>
            <a:r>
              <a:t>•  Chronic conditions like Hypertension and Diabetes progress silently between clinic visits.</a:t>
            </a:r>
          </a:p>
          <a:p>
            <a:pPr>
              <a:spcAft>
                <a:spcPts val="500"/>
              </a:spcAft>
              <a:defRPr sz="1000">
                <a:solidFill>
                  <a:srgbClr val="94A3B8"/>
                </a:solidFill>
              </a:defRPr>
            </a:pPr>
            <a:r>
              <a:t>•  Infrequent snapshot clinic measurements miss dangerous longitudinal trends.</a:t>
            </a:r>
          </a:p>
          <a:p>
            <a:pPr>
              <a:spcAft>
                <a:spcPts val="500"/>
              </a:spcAft>
              <a:defRPr sz="1000">
                <a:solidFill>
                  <a:srgbClr val="94A3B8"/>
                </a:solidFill>
              </a:defRPr>
            </a:pPr>
            <a:r>
              <a:t>•  Clinicians are overwhelmed by raw numbers but lack automated outlier alerting.</a:t>
            </a:r>
          </a:p>
          <a:p>
            <a:pPr>
              <a:spcAft>
                <a:spcPts val="500"/>
              </a:spcAft>
              <a:defRPr sz="1000">
                <a:solidFill>
                  <a:srgbClr val="94A3B8"/>
                </a:solidFill>
              </a:defRPr>
            </a:pPr>
            <a:r>
              <a:t>•  Delayed triage of Stage 2 HTN or glycemic crises leads to preventable ER admissions.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MISSION STATEMENT</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The MediCare AI Unified Solution</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Democratizing clinical comprehension while delivering trustworthy decision support for clinicians.</a:t>
            </a:r>
          </a:p>
        </p:txBody>
      </p:sp>
      <p:sp>
        <p:nvSpPr>
          <p:cNvPr id="5" name="Rounded Rectangle 4"/>
          <p:cNvSpPr/>
          <p:nvPr/>
        </p:nvSpPr>
        <p:spPr>
          <a:xfrm>
            <a:off x="73152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Patient Self-Management &amp; Autonomy</a:t>
            </a:r>
            <a:r>
              <a:rPr sz="950" b="1">
                <a:solidFill>
                  <a:srgbClr val="2DD4BF"/>
                </a:solidFill>
              </a:rPr>
              <a:t>  [Patient Pillar]</a:t>
            </a:r>
          </a:p>
          <a:p>
            <a:pPr>
              <a:spcAft>
                <a:spcPts val="500"/>
              </a:spcAft>
              <a:defRPr sz="1000">
                <a:solidFill>
                  <a:srgbClr val="94A3B8"/>
                </a:solidFill>
              </a:defRPr>
            </a:pPr>
            <a:r>
              <a:t>•  Translate dense lab results into plain-language 4-part explanations.</a:t>
            </a:r>
          </a:p>
          <a:p>
            <a:pPr>
              <a:spcAft>
                <a:spcPts val="500"/>
              </a:spcAft>
              <a:defRPr sz="1000">
                <a:solidFill>
                  <a:srgbClr val="94A3B8"/>
                </a:solidFill>
              </a:defRPr>
            </a:pPr>
            <a:r>
              <a:t>•  Longitudinal VitalSense tracking for blood pressure and glucose.</a:t>
            </a:r>
          </a:p>
          <a:p>
            <a:pPr>
              <a:spcAft>
                <a:spcPts val="500"/>
              </a:spcAft>
              <a:defRPr sz="1000">
                <a:solidFill>
                  <a:srgbClr val="94A3B8"/>
                </a:solidFill>
              </a:defRPr>
            </a:pPr>
            <a:r>
              <a:t>•  Interactive Human Digital Twin anatomical body map with diagnostic hotspots.</a:t>
            </a:r>
          </a:p>
          <a:p>
            <a:pPr>
              <a:spcAft>
                <a:spcPts val="500"/>
              </a:spcAft>
              <a:defRPr sz="1000">
                <a:solidFill>
                  <a:srgbClr val="94A3B8"/>
                </a:solidFill>
              </a:defRPr>
            </a:pPr>
            <a:r>
              <a:t>•  Prescription safety screening with actionable food and timing checklists.</a:t>
            </a:r>
          </a:p>
        </p:txBody>
      </p:sp>
      <p:sp>
        <p:nvSpPr>
          <p:cNvPr id="7" name="Rounded Rectangle 6"/>
          <p:cNvSpPr/>
          <p:nvPr/>
        </p:nvSpPr>
        <p:spPr>
          <a:xfrm>
            <a:off x="630936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Clinician Triage &amp; Efficiency</a:t>
            </a:r>
            <a:r>
              <a:rPr sz="950" b="1">
                <a:solidFill>
                  <a:srgbClr val="3B82F6"/>
                </a:solidFill>
              </a:rPr>
              <a:t>  [Doctor Pillar]</a:t>
            </a:r>
          </a:p>
          <a:p>
            <a:pPr>
              <a:spcAft>
                <a:spcPts val="500"/>
              </a:spcAft>
              <a:defRPr sz="1000">
                <a:solidFill>
                  <a:srgbClr val="94A3B8"/>
                </a:solidFill>
              </a:defRPr>
            </a:pPr>
            <a:r>
              <a:t>•  Real-time outlier alert queue prioritizing patients in hypertensive or glycemic crisis.</a:t>
            </a:r>
          </a:p>
          <a:p>
            <a:pPr>
              <a:spcAft>
                <a:spcPts val="500"/>
              </a:spcAft>
              <a:defRPr sz="1000">
                <a:solidFill>
                  <a:srgbClr val="94A3B8"/>
                </a:solidFill>
              </a:defRPr>
            </a:pPr>
            <a:r>
              <a:t>•  Consented patient telemetry views showing 30-day Mean Arterial Pressure (MAP).</a:t>
            </a:r>
          </a:p>
          <a:p>
            <a:pPr>
              <a:spcAft>
                <a:spcPts val="500"/>
              </a:spcAft>
              <a:defRPr sz="1000">
                <a:solidFill>
                  <a:srgbClr val="94A3B8"/>
                </a:solidFill>
              </a:defRPr>
            </a:pPr>
            <a:r>
              <a:t>•  One-click alert acknowledgment, dose adjustment notes, and encounter documentation.</a:t>
            </a:r>
          </a:p>
          <a:p>
            <a:pPr>
              <a:spcAft>
                <a:spcPts val="500"/>
              </a:spcAft>
              <a:defRPr sz="1000">
                <a:solidFill>
                  <a:srgbClr val="94A3B8"/>
                </a:solidFill>
              </a:defRPr>
            </a:pPr>
            <a:r>
              <a:t>•  ICD-10 clinical coding support and scheduled visit management.</a:t>
            </a:r>
          </a:p>
        </p:txBody>
      </p:sp>
      <p:sp>
        <p:nvSpPr>
          <p:cNvPr id="9" name="Rounded Rectangle 8"/>
          <p:cNvSpPr/>
          <p:nvPr/>
        </p:nvSpPr>
        <p:spPr>
          <a:xfrm>
            <a:off x="731520" y="4023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87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Safety-First Deterministic Engineering</a:t>
            </a:r>
            <a:r>
              <a:rPr sz="950" b="1">
                <a:solidFill>
                  <a:srgbClr val="10B981"/>
                </a:solidFill>
              </a:rPr>
              <a:t>  [Safety Core]</a:t>
            </a:r>
          </a:p>
          <a:p>
            <a:pPr>
              <a:spcAft>
                <a:spcPts val="500"/>
              </a:spcAft>
              <a:defRPr sz="1000">
                <a:solidFill>
                  <a:srgbClr val="94A3B8"/>
                </a:solidFill>
              </a:defRPr>
            </a:pPr>
            <a:r>
              <a:t>•  Strict rule-based clinical bounds (AHA / ACC / ADA guidelines) execute before AI.</a:t>
            </a:r>
          </a:p>
          <a:p>
            <a:pPr>
              <a:spcAft>
                <a:spcPts val="500"/>
              </a:spcAft>
              <a:defRPr sz="1000">
                <a:solidFill>
                  <a:srgbClr val="94A3B8"/>
                </a:solidFill>
              </a:defRPr>
            </a:pPr>
            <a:r>
              <a:t>•  10 high-risk drug-drug interaction matrix operates deterministically without LLM lag.</a:t>
            </a:r>
          </a:p>
          <a:p>
            <a:pPr>
              <a:spcAft>
                <a:spcPts val="500"/>
              </a:spcAft>
              <a:defRPr sz="1000">
                <a:solidFill>
                  <a:srgbClr val="94A3B8"/>
                </a:solidFill>
              </a:defRPr>
            </a:pPr>
            <a:r>
              <a:t>•  37-term embedded clinical terminology dictionary guarantees offline operation.</a:t>
            </a:r>
          </a:p>
          <a:p>
            <a:pPr>
              <a:spcAft>
                <a:spcPts val="500"/>
              </a:spcAft>
              <a:defRPr sz="1000">
                <a:solidFill>
                  <a:srgbClr val="94A3B8"/>
                </a:solidFill>
              </a:defRPr>
            </a:pPr>
            <a:r>
              <a:t>•  Anti-prompt-injection sanitization guards against malicious document payloads.</a:t>
            </a:r>
          </a:p>
        </p:txBody>
      </p:sp>
      <p:sp>
        <p:nvSpPr>
          <p:cNvPr id="11" name="Rounded Rectangle 10"/>
          <p:cNvSpPr/>
          <p:nvPr/>
        </p:nvSpPr>
        <p:spPr>
          <a:xfrm>
            <a:off x="6309360" y="4023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187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Institutional Trust &amp; Governance</a:t>
            </a:r>
            <a:r>
              <a:rPr sz="950" b="1">
                <a:solidFill>
                  <a:srgbClr val="00B4D8"/>
                </a:solidFill>
              </a:rPr>
              <a:t>  [Enterprise Core]</a:t>
            </a:r>
          </a:p>
          <a:p>
            <a:pPr>
              <a:spcAft>
                <a:spcPts val="500"/>
              </a:spcAft>
              <a:defRPr sz="1000">
                <a:solidFill>
                  <a:srgbClr val="94A3B8"/>
                </a:solidFill>
              </a:defRPr>
            </a:pPr>
            <a:r>
              <a:t>•  Role-based access control strictly isolates Patient, Doctor, Nurse, and Admin scopes.</a:t>
            </a:r>
          </a:p>
          <a:p>
            <a:pPr>
              <a:spcAft>
                <a:spcPts val="500"/>
              </a:spcAft>
              <a:defRPr sz="1000">
                <a:solidFill>
                  <a:srgbClr val="94A3B8"/>
                </a:solidFill>
              </a:defRPr>
            </a:pPr>
            <a:r>
              <a:t>•  Master Patient Index (MPI) and immutable audit log trail recording all PHI access.</a:t>
            </a:r>
          </a:p>
          <a:p>
            <a:pPr>
              <a:spcAft>
                <a:spcPts val="500"/>
              </a:spcAft>
              <a:defRPr sz="1000">
                <a:solidFill>
                  <a:srgbClr val="94A3B8"/>
                </a:solidFill>
              </a:defRPr>
            </a:pPr>
            <a:r>
              <a:t>•  Clear separation between genuine clinical telemetry and demo bench simulations.</a:t>
            </a:r>
          </a:p>
          <a:p>
            <a:pPr>
              <a:spcAft>
                <a:spcPts val="500"/>
              </a:spcAft>
              <a:defRPr sz="1000">
                <a:solidFill>
                  <a:srgbClr val="94A3B8"/>
                </a:solidFill>
              </a:defRPr>
            </a:pPr>
            <a:r>
              <a:t>•  Prominent medical disclaimers declaring software is decision support, not doctor replacement.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WHO BENEFITS</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Stakeholder Alignment Across the Care Continuum</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Delivering tangible workflow improvements for every participant in the healthcare ecosystem.</a:t>
            </a:r>
          </a:p>
        </p:txBody>
      </p:sp>
      <p:sp>
        <p:nvSpPr>
          <p:cNvPr id="5" name="Rounded Rectangle 4"/>
          <p:cNvSpPr/>
          <p:nvPr/>
        </p:nvSpPr>
        <p:spPr>
          <a:xfrm>
            <a:off x="7315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Patients &amp; Caregivers</a:t>
            </a:r>
            <a:r>
              <a:rPr sz="950" b="1">
                <a:solidFill>
                  <a:srgbClr val="00B4D8"/>
                </a:solidFill>
              </a:rPr>
              <a:t>  [Empowerment]</a:t>
            </a:r>
          </a:p>
          <a:p>
            <a:pPr>
              <a:spcAft>
                <a:spcPts val="500"/>
              </a:spcAft>
              <a:defRPr sz="1000">
                <a:solidFill>
                  <a:srgbClr val="94A3B8"/>
                </a:solidFill>
              </a:defRPr>
            </a:pPr>
            <a:r>
              <a:t>•  Immediate clarity on uploaded medical documents and prescriptions.</a:t>
            </a:r>
          </a:p>
          <a:p>
            <a:pPr>
              <a:spcAft>
                <a:spcPts val="500"/>
              </a:spcAft>
              <a:defRPr sz="1000">
                <a:solidFill>
                  <a:srgbClr val="94A3B8"/>
                </a:solidFill>
              </a:defRPr>
            </a:pPr>
            <a:r>
              <a:t>•  Confidence in home vital sign monitoring with AHA/ADA guidance.</a:t>
            </a:r>
          </a:p>
          <a:p>
            <a:pPr>
              <a:spcAft>
                <a:spcPts val="500"/>
              </a:spcAft>
              <a:defRPr sz="1000">
                <a:solidFill>
                  <a:srgbClr val="94A3B8"/>
                </a:solidFill>
              </a:defRPr>
            </a:pPr>
            <a:r>
              <a:t>•  Interactive 3D Body Map visualizing organ health and flagged biomarkers.</a:t>
            </a:r>
          </a:p>
          <a:p>
            <a:pPr>
              <a:spcAft>
                <a:spcPts val="500"/>
              </a:spcAft>
              <a:defRPr sz="1000">
                <a:solidFill>
                  <a:srgbClr val="94A3B8"/>
                </a:solidFill>
              </a:defRPr>
            </a:pPr>
            <a:r>
              <a:t>•  Emergency hospital locator with instant 911 dialing.</a:t>
            </a:r>
          </a:p>
          <a:p>
            <a:pPr>
              <a:spcAft>
                <a:spcPts val="500"/>
              </a:spcAft>
              <a:defRPr sz="1000">
                <a:solidFill>
                  <a:srgbClr val="94A3B8"/>
                </a:solidFill>
              </a:defRPr>
            </a:pPr>
            <a:r>
              <a:t>•  Safe, grounded Q&amp;A with conversational context memory.</a:t>
            </a:r>
          </a:p>
        </p:txBody>
      </p:sp>
      <p:sp>
        <p:nvSpPr>
          <p:cNvPr id="7" name="Rounded Rectangle 6"/>
          <p:cNvSpPr/>
          <p:nvPr/>
        </p:nvSpPr>
        <p:spPr>
          <a:xfrm>
            <a:off x="43891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Physicians &amp; Nurses</a:t>
            </a:r>
            <a:r>
              <a:rPr sz="950" b="1">
                <a:solidFill>
                  <a:srgbClr val="00B4D8"/>
                </a:solidFill>
              </a:rPr>
              <a:t>  [Productivity]</a:t>
            </a:r>
          </a:p>
          <a:p>
            <a:pPr>
              <a:spcAft>
                <a:spcPts val="500"/>
              </a:spcAft>
              <a:defRPr sz="1000">
                <a:solidFill>
                  <a:srgbClr val="94A3B8"/>
                </a:solidFill>
              </a:defRPr>
            </a:pPr>
            <a:r>
              <a:t>•  Pre-visit clinical intelligence reducing intake review time by up to 60%.</a:t>
            </a:r>
          </a:p>
          <a:p>
            <a:pPr>
              <a:spcAft>
                <a:spcPts val="500"/>
              </a:spcAft>
              <a:defRPr sz="1000">
                <a:solidFill>
                  <a:srgbClr val="94A3B8"/>
                </a:solidFill>
              </a:defRPr>
            </a:pPr>
            <a:r>
              <a:t>•  Automated detection of dangerous drug-drug interactions before prescribing.</a:t>
            </a:r>
          </a:p>
          <a:p>
            <a:pPr>
              <a:spcAft>
                <a:spcPts val="500"/>
              </a:spcAft>
              <a:defRPr sz="1000">
                <a:solidFill>
                  <a:srgbClr val="94A3B8"/>
                </a:solidFill>
              </a:defRPr>
            </a:pPr>
            <a:r>
              <a:t>•  Longitudinal telemetry graphs with computed Mean Arterial Pressure (MAP).</a:t>
            </a:r>
          </a:p>
          <a:p>
            <a:pPr>
              <a:spcAft>
                <a:spcPts val="500"/>
              </a:spcAft>
              <a:defRPr sz="1000">
                <a:solidFill>
                  <a:srgbClr val="94A3B8"/>
                </a:solidFill>
              </a:defRPr>
            </a:pPr>
            <a:r>
              <a:t>•  Audited alert dismissal and encounter documentation workflow.</a:t>
            </a:r>
          </a:p>
          <a:p>
            <a:pPr>
              <a:spcAft>
                <a:spcPts val="500"/>
              </a:spcAft>
              <a:defRPr sz="1000">
                <a:solidFill>
                  <a:srgbClr val="94A3B8"/>
                </a:solidFill>
              </a:defRPr>
            </a:pPr>
            <a:r>
              <a:t>•  Rapid patient consent management and referral coordination.</a:t>
            </a:r>
          </a:p>
        </p:txBody>
      </p:sp>
      <p:sp>
        <p:nvSpPr>
          <p:cNvPr id="9" name="Rounded Rectangle 8"/>
          <p:cNvSpPr/>
          <p:nvPr/>
        </p:nvSpPr>
        <p:spPr>
          <a:xfrm>
            <a:off x="80467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Administrators &amp; IT</a:t>
            </a:r>
            <a:r>
              <a:rPr sz="950" b="1">
                <a:solidFill>
                  <a:srgbClr val="00B4D8"/>
                </a:solidFill>
              </a:rPr>
              <a:t>  [Compliance]</a:t>
            </a:r>
          </a:p>
          <a:p>
            <a:pPr>
              <a:spcAft>
                <a:spcPts val="500"/>
              </a:spcAft>
              <a:defRPr sz="1000">
                <a:solidFill>
                  <a:srgbClr val="94A3B8"/>
                </a:solidFill>
              </a:defRPr>
            </a:pPr>
            <a:r>
              <a:t>•  Immutable audit trail capturing all PHI access, role modifications, and logins.</a:t>
            </a:r>
          </a:p>
          <a:p>
            <a:pPr>
              <a:spcAft>
                <a:spcPts val="500"/>
              </a:spcAft>
              <a:defRPr sz="1000">
                <a:solidFill>
                  <a:srgbClr val="94A3B8"/>
                </a:solidFill>
              </a:defRPr>
            </a:pPr>
            <a:r>
              <a:t>•  Master Patient Index (MPI) eliminating duplicate medical records.</a:t>
            </a:r>
          </a:p>
          <a:p>
            <a:pPr>
              <a:spcAft>
                <a:spcPts val="500"/>
              </a:spcAft>
              <a:defRPr sz="1000">
                <a:solidFill>
                  <a:srgbClr val="94A3B8"/>
                </a:solidFill>
              </a:defRPr>
            </a:pPr>
            <a:r>
              <a:t>•  Modular FastAPI micro-service architecture easily hosted via Docker.</a:t>
            </a:r>
          </a:p>
          <a:p>
            <a:pPr>
              <a:spcAft>
                <a:spcPts val="500"/>
              </a:spcAft>
              <a:defRPr sz="1000">
                <a:solidFill>
                  <a:srgbClr val="94A3B8"/>
                </a:solidFill>
              </a:defRPr>
            </a:pPr>
            <a:r>
              <a:t>•  Zero-cost portable SQLite fallback for instant offline staging and evaluation.</a:t>
            </a:r>
          </a:p>
          <a:p>
            <a:pPr>
              <a:spcAft>
                <a:spcPts val="500"/>
              </a:spcAft>
              <a:defRPr sz="1000">
                <a:solidFill>
                  <a:srgbClr val="94A3B8"/>
                </a:solidFill>
              </a:defRPr>
            </a:pPr>
            <a:r>
              <a:t>•  Seamless path to PostgreSQL + pgvector enterprise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PLATFORM OVERVIEW</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Core Capabilities &amp; Verified Functional Inventory</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Comprehensive mapping of tested, operational capabilities versus external dependencies.</a:t>
            </a:r>
          </a:p>
        </p:txBody>
      </p:sp>
      <p:sp>
        <p:nvSpPr>
          <p:cNvPr id="5" name="Rounded Rectangle 4"/>
          <p:cNvSpPr/>
          <p:nvPr/>
        </p:nvSpPr>
        <p:spPr>
          <a:xfrm>
            <a:off x="731520" y="1737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Patient Self-Service Suite</a:t>
            </a:r>
            <a:r>
              <a:rPr sz="950" b="1">
                <a:solidFill>
                  <a:srgbClr val="10B981"/>
                </a:solidFill>
              </a:rPr>
              <a:t>  [Verified Live]</a:t>
            </a:r>
          </a:p>
          <a:p>
            <a:pPr>
              <a:spcAft>
                <a:spcPts val="500"/>
              </a:spcAft>
              <a:defRPr sz="1000">
                <a:solidFill>
                  <a:srgbClr val="94A3B8"/>
                </a:solidFill>
              </a:defRPr>
            </a:pPr>
            <a:r>
              <a:t>•  Welcome summary counters (Appointments, Meds, Labs).</a:t>
            </a:r>
          </a:p>
          <a:p>
            <a:pPr>
              <a:spcAft>
                <a:spcPts val="500"/>
              </a:spcAft>
              <a:defRPr sz="1000">
                <a:solidFill>
                  <a:srgbClr val="94A3B8"/>
                </a:solidFill>
              </a:defRPr>
            </a:pPr>
            <a:r>
              <a:t>•  Interactive Body Map with 5 anatomical hotspot zones.</a:t>
            </a:r>
          </a:p>
          <a:p>
            <a:pPr>
              <a:spcAft>
                <a:spcPts val="500"/>
              </a:spcAft>
              <a:defRPr sz="1000">
                <a:solidFill>
                  <a:srgbClr val="94A3B8"/>
                </a:solidFill>
              </a:defRPr>
            </a:pPr>
            <a:r>
              <a:t>•  Recent activity ledger &amp; latest vital sign feed.</a:t>
            </a:r>
          </a:p>
          <a:p>
            <a:pPr>
              <a:spcAft>
                <a:spcPts val="500"/>
              </a:spcAft>
              <a:defRPr sz="1000">
                <a:solidFill>
                  <a:srgbClr val="94A3B8"/>
                </a:solidFill>
              </a:defRPr>
            </a:pPr>
            <a:r>
              <a:t>•  Responsive navigation across all 15 clinical routes.</a:t>
            </a:r>
          </a:p>
        </p:txBody>
      </p:sp>
      <p:sp>
        <p:nvSpPr>
          <p:cNvPr id="7" name="Rounded Rectangle 6"/>
          <p:cNvSpPr/>
          <p:nvPr/>
        </p:nvSpPr>
        <p:spPr>
          <a:xfrm>
            <a:off x="4389120" y="1737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01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VitalSense Telemetry Engine</a:t>
            </a:r>
            <a:r>
              <a:rPr sz="950" b="1">
                <a:solidFill>
                  <a:srgbClr val="10B981"/>
                </a:solidFill>
              </a:rPr>
              <a:t>  [Verified Live]</a:t>
            </a:r>
          </a:p>
          <a:p>
            <a:pPr>
              <a:spcAft>
                <a:spcPts val="500"/>
              </a:spcAft>
              <a:defRPr sz="1000">
                <a:solidFill>
                  <a:srgbClr val="94A3B8"/>
                </a:solidFill>
              </a:defRPr>
            </a:pPr>
            <a:r>
              <a:t>•  Manual Blood Pressure (MAP calculation, AHA stages).</a:t>
            </a:r>
          </a:p>
          <a:p>
            <a:pPr>
              <a:spcAft>
                <a:spcPts val="500"/>
              </a:spcAft>
              <a:defRPr sz="1000">
                <a:solidFill>
                  <a:srgbClr val="94A3B8"/>
                </a:solidFill>
              </a:defRPr>
            </a:pPr>
            <a:r>
              <a:t>•  Manual Blood Glucose (mg/dL to mmol/L, TIR, ADA stages).</a:t>
            </a:r>
          </a:p>
          <a:p>
            <a:pPr>
              <a:spcAft>
                <a:spcPts val="500"/>
              </a:spcAft>
              <a:defRPr sz="1000">
                <a:solidFill>
                  <a:srgbClr val="94A3B8"/>
                </a:solidFill>
              </a:defRPr>
            </a:pPr>
            <a:r>
              <a:t>•  Mode B Genuine vs Mode C Demo simulation data isolation.</a:t>
            </a:r>
          </a:p>
          <a:p>
            <a:pPr>
              <a:spcAft>
                <a:spcPts val="500"/>
              </a:spcAft>
              <a:defRPr sz="1000">
                <a:solidFill>
                  <a:srgbClr val="94A3B8"/>
                </a:solidFill>
              </a:defRPr>
            </a:pPr>
            <a:r>
              <a:t>•  One-click atomic demo data cleanup (/clear-demo-data).</a:t>
            </a:r>
          </a:p>
        </p:txBody>
      </p:sp>
      <p:sp>
        <p:nvSpPr>
          <p:cNvPr id="9" name="Rounded Rectangle 8"/>
          <p:cNvSpPr/>
          <p:nvPr/>
        </p:nvSpPr>
        <p:spPr>
          <a:xfrm>
            <a:off x="8046720" y="1737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01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Clinical Document AI</a:t>
            </a:r>
            <a:r>
              <a:rPr sz="950" b="1">
                <a:solidFill>
                  <a:srgbClr val="10B981"/>
                </a:solidFill>
              </a:rPr>
              <a:t>  [Verified Live]</a:t>
            </a:r>
          </a:p>
          <a:p>
            <a:pPr>
              <a:spcAft>
                <a:spcPts val="500"/>
              </a:spcAft>
              <a:defRPr sz="1000">
                <a:solidFill>
                  <a:srgbClr val="94A3B8"/>
                </a:solidFill>
              </a:defRPr>
            </a:pPr>
            <a:r>
              <a:t>•  Prescription OCR &amp; regex entity extraction (dose, route).</a:t>
            </a:r>
          </a:p>
          <a:p>
            <a:pPr>
              <a:spcAft>
                <a:spcPts val="500"/>
              </a:spcAft>
              <a:defRPr sz="1000">
                <a:solidFill>
                  <a:srgbClr val="94A3B8"/>
                </a:solidFill>
              </a:defRPr>
            </a:pPr>
            <a:r>
              <a:t>•  10 high-risk drug-drug interaction matrix screening.</a:t>
            </a:r>
          </a:p>
          <a:p>
            <a:pPr>
              <a:spcAft>
                <a:spcPts val="500"/>
              </a:spcAft>
              <a:defRPr sz="1000">
                <a:solidFill>
                  <a:srgbClr val="94A3B8"/>
                </a:solidFill>
              </a:defRPr>
            </a:pPr>
            <a:r>
              <a:t>•  Medical Report Analyzer with 37 embedded clinical terms.</a:t>
            </a:r>
          </a:p>
          <a:p>
            <a:pPr>
              <a:spcAft>
                <a:spcPts val="500"/>
              </a:spcAft>
              <a:defRPr sz="1000">
                <a:solidFill>
                  <a:srgbClr val="94A3B8"/>
                </a:solidFill>
              </a:defRPr>
            </a:pPr>
            <a:r>
              <a:t>•  4-part structured plain-language translation.</a:t>
            </a:r>
          </a:p>
        </p:txBody>
      </p:sp>
      <p:sp>
        <p:nvSpPr>
          <p:cNvPr id="11" name="Rounded Rectangle 10"/>
          <p:cNvSpPr/>
          <p:nvPr/>
        </p:nvSpPr>
        <p:spPr>
          <a:xfrm>
            <a:off x="731520" y="4023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87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Clinician &amp; Admin Portals</a:t>
            </a:r>
            <a:r>
              <a:rPr sz="950" b="1">
                <a:solidFill>
                  <a:srgbClr val="10B981"/>
                </a:solidFill>
              </a:rPr>
              <a:t>  [Verified Live]</a:t>
            </a:r>
          </a:p>
          <a:p>
            <a:pPr>
              <a:spcAft>
                <a:spcPts val="500"/>
              </a:spcAft>
              <a:defRPr sz="1000">
                <a:solidFill>
                  <a:srgbClr val="94A3B8"/>
                </a:solidFill>
              </a:defRPr>
            </a:pPr>
            <a:r>
              <a:t>•  Doctor Alert Queue with severity badges (Warning/Critical).</a:t>
            </a:r>
          </a:p>
          <a:p>
            <a:pPr>
              <a:spcAft>
                <a:spcPts val="500"/>
              </a:spcAft>
              <a:defRPr sz="1000">
                <a:solidFill>
                  <a:srgbClr val="94A3B8"/>
                </a:solidFill>
              </a:defRPr>
            </a:pPr>
            <a:r>
              <a:t>•  Consented patient roster (Patient Alice Johnson / MRN-10001).</a:t>
            </a:r>
          </a:p>
          <a:p>
            <a:pPr>
              <a:spcAft>
                <a:spcPts val="500"/>
              </a:spcAft>
              <a:defRPr sz="1000">
                <a:solidFill>
                  <a:srgbClr val="94A3B8"/>
                </a:solidFill>
              </a:defRPr>
            </a:pPr>
            <a:r>
              <a:t>•  Alert actioning modal with clinical note recording.</a:t>
            </a:r>
          </a:p>
          <a:p>
            <a:pPr>
              <a:spcAft>
                <a:spcPts val="500"/>
              </a:spcAft>
              <a:defRPr sz="1000">
                <a:solidFill>
                  <a:srgbClr val="94A3B8"/>
                </a:solidFill>
              </a:defRPr>
            </a:pPr>
            <a:r>
              <a:t>•  Admin Master Patient Index &amp; immutable audit log explorer.</a:t>
            </a:r>
          </a:p>
        </p:txBody>
      </p:sp>
      <p:sp>
        <p:nvSpPr>
          <p:cNvPr id="13" name="Rounded Rectangle 12"/>
          <p:cNvSpPr/>
          <p:nvPr/>
        </p:nvSpPr>
        <p:spPr>
          <a:xfrm>
            <a:off x="4389120" y="4023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187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Biomedical Hardware Gateway</a:t>
            </a:r>
            <a:r>
              <a:rPr sz="950" b="1">
                <a:solidFill>
                  <a:srgbClr val="10B981"/>
                </a:solidFill>
              </a:rPr>
              <a:t>  [Verified (Unit/API)]</a:t>
            </a:r>
          </a:p>
          <a:p>
            <a:pPr>
              <a:spcAft>
                <a:spcPts val="500"/>
              </a:spcAft>
              <a:defRPr sz="1000">
                <a:solidFill>
                  <a:srgbClr val="94A3B8"/>
                </a:solidFill>
              </a:defRPr>
            </a:pPr>
            <a:r>
              <a:t>•  Device registration model (/api/v1/devices).</a:t>
            </a:r>
          </a:p>
          <a:p>
            <a:pPr>
              <a:spcAft>
                <a:spcPts val="500"/>
              </a:spcAft>
              <a:defRPr sz="1000">
                <a:solidFill>
                  <a:srgbClr val="94A3B8"/>
                </a:solidFill>
              </a:defRPr>
            </a:pPr>
            <a:r>
              <a:t>•  WebSerial (115.2k baud) &amp; WebBluetooth GATT adapters.</a:t>
            </a:r>
          </a:p>
          <a:p>
            <a:pPr>
              <a:spcAft>
                <a:spcPts val="500"/>
              </a:spcAft>
              <a:defRPr sz="1000">
                <a:solidFill>
                  <a:srgbClr val="94A3B8"/>
                </a:solidFill>
              </a:defRPr>
            </a:pPr>
            <a:r>
              <a:t>•  Signal Quality Indexing (SQI &gt; 25dB SNR, 0.3-2.5N force).</a:t>
            </a:r>
          </a:p>
          <a:p>
            <a:pPr>
              <a:spcAft>
                <a:spcPts val="500"/>
              </a:spcAft>
              <a:defRPr sz="1000">
                <a:solidFill>
                  <a:srgbClr val="94A3B8"/>
                </a:solidFill>
              </a:defRPr>
            </a:pPr>
            <a:r>
              <a:t>•  Cryptographic SHA-256 telemetry packet hashing.</a:t>
            </a:r>
          </a:p>
        </p:txBody>
      </p:sp>
      <p:sp>
        <p:nvSpPr>
          <p:cNvPr id="15" name="Rounded Rectangle 14"/>
          <p:cNvSpPr/>
          <p:nvPr/>
        </p:nvSpPr>
        <p:spPr>
          <a:xfrm>
            <a:off x="8046720" y="4023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4187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Future Roadmap &amp; Boundaries</a:t>
            </a:r>
            <a:r>
              <a:rPr sz="950" b="1">
                <a:solidFill>
                  <a:srgbClr val="F59E0B"/>
                </a:solidFill>
              </a:rPr>
              <a:t>  [Roadmap / Boundary]</a:t>
            </a:r>
          </a:p>
          <a:p>
            <a:pPr>
              <a:spcAft>
                <a:spcPts val="500"/>
              </a:spcAft>
              <a:defRPr sz="1000">
                <a:solidFill>
                  <a:srgbClr val="94A3B8"/>
                </a:solidFill>
              </a:defRPr>
            </a:pPr>
            <a:r>
              <a:t>•  VitalSense Webcam PPG is educational simulation only.</a:t>
            </a:r>
          </a:p>
          <a:p>
            <a:pPr>
              <a:spcAft>
                <a:spcPts val="500"/>
              </a:spcAft>
              <a:defRPr sz="1000">
                <a:solidFill>
                  <a:srgbClr val="94A3B8"/>
                </a:solidFill>
              </a:defRPr>
            </a:pPr>
            <a:r>
              <a:t>•  External Gemini API connectivity is optional (fallback active).</a:t>
            </a:r>
          </a:p>
          <a:p>
            <a:pPr>
              <a:spcAft>
                <a:spcPts val="500"/>
              </a:spcAft>
              <a:defRPr sz="1000">
                <a:solidFill>
                  <a:srgbClr val="94A3B8"/>
                </a:solidFill>
              </a:defRPr>
            </a:pPr>
            <a:r>
              <a:t>•  Proposed: HL7 FHIR v4.0.1 bidirectional EHR adapter.</a:t>
            </a:r>
          </a:p>
          <a:p>
            <a:pPr>
              <a:spcAft>
                <a:spcPts val="500"/>
              </a:spcAft>
              <a:defRPr sz="1000">
                <a:solidFill>
                  <a:srgbClr val="94A3B8"/>
                </a:solidFill>
              </a:defRPr>
            </a:pPr>
            <a:r>
              <a:t>•  Proposed: Hospital SSO (SAML 2.0 / OAuth2 federation).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PATIENT PORTAL</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Unified Health Dashboard &amp; Full Body Diagnostics HUD</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Empowering patients through intuitive visualization and accessible clinical metrics.</a:t>
            </a:r>
          </a:p>
        </p:txBody>
      </p:sp>
      <p:sp>
        <p:nvSpPr>
          <p:cNvPr id="5" name="Rounded Rectangle 4"/>
          <p:cNvSpPr/>
          <p:nvPr/>
        </p:nvSpPr>
        <p:spPr>
          <a:xfrm>
            <a:off x="73152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Executive Dashboard Features</a:t>
            </a:r>
            <a:r>
              <a:rPr sz="950" b="1">
                <a:solidFill>
                  <a:srgbClr val="00B4D8"/>
                </a:solidFill>
              </a:rPr>
              <a:t>  [Portal Core]</a:t>
            </a:r>
          </a:p>
          <a:p>
            <a:pPr>
              <a:spcAft>
                <a:spcPts val="500"/>
              </a:spcAft>
              <a:defRPr sz="1000">
                <a:solidFill>
                  <a:srgbClr val="94A3B8"/>
                </a:solidFill>
              </a:defRPr>
            </a:pPr>
            <a:r>
              <a:t>•  Welcome Header: Displays authenticated patient name and live health status badge.</a:t>
            </a:r>
          </a:p>
          <a:p>
            <a:pPr>
              <a:spcAft>
                <a:spcPts val="500"/>
              </a:spcAft>
              <a:defRPr sz="1000">
                <a:solidFill>
                  <a:srgbClr val="94A3B8"/>
                </a:solidFill>
              </a:defRPr>
            </a:pPr>
            <a:r>
              <a:t>•  At-a-Glance Metrics: 4 summary cards tracking Active Meds, Appointments, Labs, and Documents.</a:t>
            </a:r>
          </a:p>
          <a:p>
            <a:pPr>
              <a:spcAft>
                <a:spcPts val="500"/>
              </a:spcAft>
              <a:defRPr sz="1000">
                <a:solidFill>
                  <a:srgbClr val="94A3B8"/>
                </a:solidFill>
              </a:defRPr>
            </a:pPr>
            <a:r>
              <a:t>•  One-Click Workflows: Prominent launch cards for Prescription Analysis, Medical Reports, and History.</a:t>
            </a:r>
          </a:p>
          <a:p>
            <a:pPr>
              <a:spcAft>
                <a:spcPts val="500"/>
              </a:spcAft>
              <a:defRPr sz="1000">
                <a:solidFill>
                  <a:srgbClr val="94A3B8"/>
                </a:solidFill>
              </a:defRPr>
            </a:pPr>
            <a:r>
              <a:t>•  Consolidated Activity Ledger: Chronological stream of encounters, doctor notes, and uploads.</a:t>
            </a:r>
          </a:p>
          <a:p>
            <a:pPr>
              <a:spcAft>
                <a:spcPts val="500"/>
              </a:spcAft>
              <a:defRPr sz="1000">
                <a:solidFill>
                  <a:srgbClr val="94A3B8"/>
                </a:solidFill>
              </a:defRPr>
            </a:pPr>
            <a:r>
              <a:t>•  Longitudinal Trends: Direct links to dedicated Blood Pressure and Glucose trackers.</a:t>
            </a:r>
          </a:p>
          <a:p>
            <a:pPr>
              <a:spcAft>
                <a:spcPts val="500"/>
              </a:spcAft>
              <a:defRPr sz="1000">
                <a:solidFill>
                  <a:srgbClr val="94A3B8"/>
                </a:solidFill>
              </a:defRPr>
            </a:pPr>
            <a:r>
              <a:t>•  Emergency Discovery: Radius search locating verified emergency departments with 1-tap 911 dialing.</a:t>
            </a:r>
          </a:p>
        </p:txBody>
      </p:sp>
      <p:sp>
        <p:nvSpPr>
          <p:cNvPr id="7" name="Rounded Rectangle 6"/>
          <p:cNvSpPr/>
          <p:nvPr/>
        </p:nvSpPr>
        <p:spPr>
          <a:xfrm>
            <a:off x="630936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Full Body Diagnostics Digital Twin</a:t>
            </a:r>
            <a:r>
              <a:rPr sz="950" b="1">
                <a:solidFill>
                  <a:srgbClr val="00B4D8"/>
                </a:solidFill>
              </a:rPr>
              <a:t>  [Human Twin HUD]</a:t>
            </a:r>
          </a:p>
          <a:p>
            <a:pPr>
              <a:spcAft>
                <a:spcPts val="500"/>
              </a:spcAft>
              <a:defRPr sz="1000">
                <a:solidFill>
                  <a:srgbClr val="94A3B8"/>
                </a:solidFill>
              </a:defRPr>
            </a:pPr>
            <a:r>
              <a:t>•  Anatomical Hotspots: Interactive human body diagram with 5 clickable physiological zones.</a:t>
            </a:r>
          </a:p>
          <a:p>
            <a:pPr>
              <a:spcAft>
                <a:spcPts val="500"/>
              </a:spcAft>
              <a:defRPr sz="1000">
                <a:solidFill>
                  <a:srgbClr val="94A3B8"/>
                </a:solidFill>
              </a:defRPr>
            </a:pPr>
            <a:r>
              <a:t>•  Cardiovascular Zone: Heart rate, blood pressure, Mean Arterial Pressure, and ECG telemetry.</a:t>
            </a:r>
          </a:p>
          <a:p>
            <a:pPr>
              <a:spcAft>
                <a:spcPts val="500"/>
              </a:spcAft>
              <a:defRPr sz="1000">
                <a:solidFill>
                  <a:srgbClr val="94A3B8"/>
                </a:solidFill>
              </a:defRPr>
            </a:pPr>
            <a:r>
              <a:t>•  Respiratory Zone: Oxygen saturation (SpO2), plethysmograph waveform, and respiratory rate.</a:t>
            </a:r>
          </a:p>
          <a:p>
            <a:pPr>
              <a:spcAft>
                <a:spcPts val="500"/>
              </a:spcAft>
              <a:defRPr sz="1000">
                <a:solidFill>
                  <a:srgbClr val="94A3B8"/>
                </a:solidFill>
              </a:defRPr>
            </a:pPr>
            <a:r>
              <a:t>•  Metabolic Zone: Blood glucose trends, Time-in-Range (TIR), and meal context tagging.</a:t>
            </a:r>
          </a:p>
          <a:p>
            <a:pPr>
              <a:spcAft>
                <a:spcPts val="500"/>
              </a:spcAft>
              <a:defRPr sz="1000">
                <a:solidFill>
                  <a:srgbClr val="94A3B8"/>
                </a:solidFill>
              </a:defRPr>
            </a:pPr>
            <a:r>
              <a:t>•  Neurologic &amp; Musculoskeletal: Symptom logging, headache tracking, and joint mobility notes.</a:t>
            </a:r>
          </a:p>
          <a:p>
            <a:pPr>
              <a:spcAft>
                <a:spcPts val="500"/>
              </a:spcAft>
              <a:defRPr sz="1000">
                <a:solidFill>
                  <a:srgbClr val="94A3B8"/>
                </a:solidFill>
              </a:defRPr>
            </a:pPr>
            <a:r>
              <a:t>•  Real-Time Color Badging: Zones highlight green (normal), amber (elevated), or red (alert) based on telemetry.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PHYSIOLOGICAL MONITORING</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VitalSense: Telemetry Engine &amp; Guideline Classification</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Deterministic AHA and ADA clinical evaluations with zero-lag patient feedback.</a:t>
            </a:r>
          </a:p>
        </p:txBody>
      </p:sp>
      <p:sp>
        <p:nvSpPr>
          <p:cNvPr id="5" name="Rounded Rectangle 4"/>
          <p:cNvSpPr/>
          <p:nvPr/>
        </p:nvSpPr>
        <p:spPr>
          <a:xfrm>
            <a:off x="73152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Blood Pressure &amp; Mean Arterial Pressure (MAP)</a:t>
            </a:r>
            <a:r>
              <a:rPr sz="950" b="1">
                <a:solidFill>
                  <a:srgbClr val="10B981"/>
                </a:solidFill>
              </a:rPr>
              <a:t>  [AHA Guidelines]</a:t>
            </a:r>
          </a:p>
          <a:p>
            <a:pPr>
              <a:spcAft>
                <a:spcPts val="500"/>
              </a:spcAft>
              <a:defRPr sz="1000">
                <a:solidFill>
                  <a:srgbClr val="94A3B8"/>
                </a:solidFill>
              </a:defRPr>
            </a:pPr>
            <a:r>
              <a:t>•  Physiological Validation: Enforces clinical bounds (SBP 60-260, DBP 40-160 mmHg).</a:t>
            </a:r>
          </a:p>
          <a:p>
            <a:pPr>
              <a:spcAft>
                <a:spcPts val="500"/>
              </a:spcAft>
              <a:defRPr sz="1000">
                <a:solidFill>
                  <a:srgbClr val="94A3B8"/>
                </a:solidFill>
              </a:defRPr>
            </a:pPr>
            <a:r>
              <a:t>•  Deterministic MAP Formula: MAP = DBP + (SBP - DBP) / 3.</a:t>
            </a:r>
          </a:p>
          <a:p>
            <a:pPr>
              <a:spcAft>
                <a:spcPts val="500"/>
              </a:spcAft>
              <a:defRPr sz="1000">
                <a:solidFill>
                  <a:srgbClr val="94A3B8"/>
                </a:solidFill>
              </a:defRPr>
            </a:pPr>
            <a:r>
              <a:t>•  AHA / ACC Stages: Normal, Elevated, Stage 1 HTN, Stage 2 HTN, Hypertensive Crisis.</a:t>
            </a:r>
          </a:p>
          <a:p>
            <a:pPr>
              <a:spcAft>
                <a:spcPts val="500"/>
              </a:spcAft>
              <a:defRPr sz="1000">
                <a:solidFill>
                  <a:srgbClr val="94A3B8"/>
                </a:solidFill>
              </a:defRPr>
            </a:pPr>
            <a:r>
              <a:t>•  Hypertensive Crisis Red Alert: Prompts immediate 911 call if SBP &gt;= 180 or DBP &gt;= 120.</a:t>
            </a:r>
          </a:p>
        </p:txBody>
      </p:sp>
      <p:sp>
        <p:nvSpPr>
          <p:cNvPr id="7" name="Rounded Rectangle 6"/>
          <p:cNvSpPr/>
          <p:nvPr/>
        </p:nvSpPr>
        <p:spPr>
          <a:xfrm>
            <a:off x="630936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Blood Glucose &amp; Glycemic Metrics</a:t>
            </a:r>
            <a:r>
              <a:rPr sz="950" b="1">
                <a:solidFill>
                  <a:srgbClr val="10B981"/>
                </a:solidFill>
              </a:rPr>
              <a:t>  [ADA Guidelines]</a:t>
            </a:r>
          </a:p>
          <a:p>
            <a:pPr>
              <a:spcAft>
                <a:spcPts val="500"/>
              </a:spcAft>
              <a:defRPr sz="1000">
                <a:solidFill>
                  <a:srgbClr val="94A3B8"/>
                </a:solidFill>
              </a:defRPr>
            </a:pPr>
            <a:r>
              <a:t>•  Context Tagging: Fasting, 2-Hour Post-Prandial, Pre-Meal, Bedtime, Random.</a:t>
            </a:r>
          </a:p>
          <a:p>
            <a:pPr>
              <a:spcAft>
                <a:spcPts val="500"/>
              </a:spcAft>
              <a:defRPr sz="1000">
                <a:solidFill>
                  <a:srgbClr val="94A3B8"/>
                </a:solidFill>
              </a:defRPr>
            </a:pPr>
            <a:r>
              <a:t>•  Dual Unit Support: Automatic mathematical conversion between mg/dL and mmol/L.</a:t>
            </a:r>
          </a:p>
          <a:p>
            <a:pPr>
              <a:spcAft>
                <a:spcPts val="500"/>
              </a:spcAft>
              <a:defRPr sz="1000">
                <a:solidFill>
                  <a:srgbClr val="94A3B8"/>
                </a:solidFill>
              </a:defRPr>
            </a:pPr>
            <a:r>
              <a:t>•  ADA Classifications: Normal (70-99), Pre-diabetes (100-125), Diabetes (126+), Hypo (&lt;70).</a:t>
            </a:r>
          </a:p>
          <a:p>
            <a:pPr>
              <a:spcAft>
                <a:spcPts val="500"/>
              </a:spcAft>
              <a:defRPr sz="1000">
                <a:solidFill>
                  <a:srgbClr val="94A3B8"/>
                </a:solidFill>
              </a:defRPr>
            </a:pPr>
            <a:r>
              <a:t>•  Time-in-Range (TIR): Evaluates percentage of readings within target 70-180 mg/dL band.</a:t>
            </a:r>
          </a:p>
        </p:txBody>
      </p:sp>
      <p:sp>
        <p:nvSpPr>
          <p:cNvPr id="9" name="Rounded Rectangle 8"/>
          <p:cNvSpPr/>
          <p:nvPr/>
        </p:nvSpPr>
        <p:spPr>
          <a:xfrm>
            <a:off x="731520" y="4023360"/>
            <a:ext cx="106984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87952"/>
            <a:ext cx="10332720" cy="1783080"/>
          </a:xfrm>
          <a:prstGeom prst="rect">
            <a:avLst/>
          </a:prstGeom>
          <a:noFill/>
        </p:spPr>
        <p:txBody>
          <a:bodyPr wrap="square" lIns="0" tIns="0" rIns="0" bIns="0">
            <a:spAutoFit/>
          </a:bodyPr>
          <a:lstStyle/>
          <a:p>
            <a:pPr>
              <a:spcAft>
                <a:spcPts val="800"/>
              </a:spcAft>
              <a:defRPr sz="1300" b="1">
                <a:solidFill>
                  <a:srgbClr val="F8FAFC"/>
                </a:solidFill>
              </a:defRPr>
            </a:pPr>
            <a:r>
              <a:t>Data Provenance &amp; Scientific Integrity Architecture</a:t>
            </a:r>
            <a:r>
              <a:rPr sz="950" b="1">
                <a:solidFill>
                  <a:srgbClr val="00B4D8"/>
                </a:solidFill>
              </a:rPr>
              <a:t>  [Scientific Truth]</a:t>
            </a:r>
          </a:p>
          <a:p>
            <a:pPr>
              <a:spcAft>
                <a:spcPts val="500"/>
              </a:spcAft>
              <a:defRPr sz="1000">
                <a:solidFill>
                  <a:srgbClr val="94A3B8"/>
                </a:solidFill>
              </a:defRPr>
            </a:pPr>
            <a:r>
              <a:t>•  Mode A (Verified Device): Logged from certified peripherals with cryptographic SHA-256 packet verification.</a:t>
            </a:r>
          </a:p>
          <a:p>
            <a:pPr>
              <a:spcAft>
                <a:spcPts val="500"/>
              </a:spcAft>
              <a:defRPr sz="1000">
                <a:solidFill>
                  <a:srgbClr val="94A3B8"/>
                </a:solidFill>
              </a:defRPr>
            </a:pPr>
            <a:r>
              <a:t>•  Mode B (Manual Entry): Self-reported home cuff or fingerstick readings stamped with source='manual_home_cuff' / 'manual_fingerstick'.</a:t>
            </a:r>
          </a:p>
          <a:p>
            <a:pPr>
              <a:spcAft>
                <a:spcPts val="500"/>
              </a:spcAft>
              <a:defRPr sz="1000">
                <a:solidFill>
                  <a:srgbClr val="94A3B8"/>
                </a:solidFill>
              </a:defRPr>
            </a:pPr>
            <a:r>
              <a:t>•  Mode C (Demo Simulation): Synthetic test readings stamped is_sample=True, cleanly isolated from genuine patient medical history.</a:t>
            </a:r>
          </a:p>
          <a:p>
            <a:pPr>
              <a:spcAft>
                <a:spcPts val="500"/>
              </a:spcAft>
              <a:defRPr sz="1000">
                <a:solidFill>
                  <a:srgbClr val="94A3B8"/>
                </a:solidFill>
              </a:defRPr>
            </a:pPr>
            <a:r>
              <a:t>•  Atomic Cleanup Engine: POST /api/v1/vitals/clear-demo-data purges fictional test records with zero data leakage into genuine records.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HARDWARE INTEGRATION</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Biomedical Sensor Reality &amp; Telemetry Protocols</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Bridging physical medical peripherals while upholding rigorous scientific feasibility.</a:t>
            </a:r>
          </a:p>
        </p:txBody>
      </p:sp>
      <p:sp>
        <p:nvSpPr>
          <p:cNvPr id="5" name="Rounded Rectangle 4"/>
          <p:cNvSpPr/>
          <p:nvPr/>
        </p:nvSpPr>
        <p:spPr>
          <a:xfrm>
            <a:off x="7315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Physically Measurable Biometrics</a:t>
            </a:r>
            <a:r>
              <a:rPr sz="950" b="1">
                <a:solidFill>
                  <a:srgbClr val="10B981"/>
                </a:solidFill>
              </a:rPr>
              <a:t>  [Direct Physical]</a:t>
            </a:r>
          </a:p>
          <a:p>
            <a:pPr>
              <a:spcAft>
                <a:spcPts val="500"/>
              </a:spcAft>
              <a:defRPr sz="1000">
                <a:solidFill>
                  <a:srgbClr val="94A3B8"/>
                </a:solidFill>
              </a:defRPr>
            </a:pPr>
            <a:r>
              <a:t>•  Heart Rate (BPM): Optical PPG peak-to-peak systolic pulse detection.</a:t>
            </a:r>
          </a:p>
          <a:p>
            <a:pPr>
              <a:spcAft>
                <a:spcPts val="500"/>
              </a:spcAft>
              <a:defRPr sz="1000">
                <a:solidFill>
                  <a:srgbClr val="94A3B8"/>
                </a:solidFill>
              </a:defRPr>
            </a:pPr>
            <a:r>
              <a:t>•  Oxygen Saturation (SpO2): Ratio-of-ratios (R) between 660nm Red and 940nm IR absorption.</a:t>
            </a:r>
          </a:p>
          <a:p>
            <a:pPr>
              <a:spcAft>
                <a:spcPts val="500"/>
              </a:spcAft>
              <a:defRPr sz="1000">
                <a:solidFill>
                  <a:srgbClr val="94A3B8"/>
                </a:solidFill>
              </a:defRPr>
            </a:pPr>
            <a:r>
              <a:t>•  Perfusion Index (PI): AC/DC ratio reflecting peripheral blood flow strength.</a:t>
            </a:r>
          </a:p>
          <a:p>
            <a:pPr>
              <a:spcAft>
                <a:spcPts val="500"/>
              </a:spcAft>
              <a:defRPr sz="1000">
                <a:solidFill>
                  <a:srgbClr val="94A3B8"/>
                </a:solidFill>
              </a:defRPr>
            </a:pPr>
            <a:r>
              <a:t>•  Skin Temperature: Infrared thermopile sensor measuring dermal micro-vessel radiation.</a:t>
            </a:r>
          </a:p>
          <a:p>
            <a:pPr>
              <a:spcAft>
                <a:spcPts val="500"/>
              </a:spcAft>
              <a:defRPr sz="1000">
                <a:solidFill>
                  <a:srgbClr val="94A3B8"/>
                </a:solidFill>
              </a:defRPr>
            </a:pPr>
            <a:r>
              <a:t>•  Contact Force: Piezoelectric load cell enforcing 0.3 to 2.5 Newtons optimal contact.</a:t>
            </a:r>
          </a:p>
        </p:txBody>
      </p:sp>
      <p:sp>
        <p:nvSpPr>
          <p:cNvPr id="7" name="Rounded Rectangle 6"/>
          <p:cNvSpPr/>
          <p:nvPr/>
        </p:nvSpPr>
        <p:spPr>
          <a:xfrm>
            <a:off x="43891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Regulated Surrogates &amp; Reality</a:t>
            </a:r>
            <a:r>
              <a:rPr sz="950" b="1">
                <a:solidFill>
                  <a:srgbClr val="F59E0B"/>
                </a:solidFill>
              </a:rPr>
              <a:t>  [Scientific Truth]</a:t>
            </a:r>
          </a:p>
          <a:p>
            <a:pPr>
              <a:spcAft>
                <a:spcPts val="500"/>
              </a:spcAft>
              <a:defRPr sz="1000">
                <a:solidFill>
                  <a:srgbClr val="94A3B8"/>
                </a:solidFill>
              </a:defRPr>
            </a:pPr>
            <a:r>
              <a:t>•  Blood Pressure (Cuffless): Optical pulse transit time (PTT) requires periodic pneumatic cuff calibration under IEEE 1708.</a:t>
            </a:r>
          </a:p>
          <a:p>
            <a:pPr>
              <a:spcAft>
                <a:spcPts val="500"/>
              </a:spcAft>
              <a:defRPr sz="1000">
                <a:solidFill>
                  <a:srgbClr val="94A3B8"/>
                </a:solidFill>
              </a:defRPr>
            </a:pPr>
            <a:r>
              <a:t>•  Blood Glucose: Photoplethysmography CANNOT clinically measure glucose non-invasively; interstitial CGM or fingerstick enzyme required.</a:t>
            </a:r>
          </a:p>
          <a:p>
            <a:pPr>
              <a:spcAft>
                <a:spcPts val="500"/>
              </a:spcAft>
              <a:defRPr sz="1000">
                <a:solidFill>
                  <a:srgbClr val="94A3B8"/>
                </a:solidFill>
              </a:defRPr>
            </a:pPr>
            <a:r>
              <a:t>•  Truthful Architecture: System explicitly rejects unverified optical glucose claims, protecting patients from dangerous pseudoscientific advice.</a:t>
            </a:r>
          </a:p>
        </p:txBody>
      </p:sp>
      <p:sp>
        <p:nvSpPr>
          <p:cNvPr id="9" name="Rounded Rectangle 8"/>
          <p:cNvSpPr/>
          <p:nvPr/>
        </p:nvSpPr>
        <p:spPr>
          <a:xfrm>
            <a:off x="8046720" y="1737360"/>
            <a:ext cx="33832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01952"/>
            <a:ext cx="3017520" cy="4069080"/>
          </a:xfrm>
          <a:prstGeom prst="rect">
            <a:avLst/>
          </a:prstGeom>
          <a:noFill/>
        </p:spPr>
        <p:txBody>
          <a:bodyPr wrap="square" lIns="0" tIns="0" rIns="0" bIns="0">
            <a:spAutoFit/>
          </a:bodyPr>
          <a:lstStyle/>
          <a:p>
            <a:pPr>
              <a:spcAft>
                <a:spcPts val="800"/>
              </a:spcAft>
              <a:defRPr sz="1300" b="1">
                <a:solidFill>
                  <a:srgbClr val="F8FAFC"/>
                </a:solidFill>
              </a:defRPr>
            </a:pPr>
            <a:r>
              <a:t>Hardware Protocols &amp; Security</a:t>
            </a:r>
            <a:r>
              <a:rPr sz="950" b="1">
                <a:solidFill>
                  <a:srgbClr val="3B82F6"/>
                </a:solidFill>
              </a:rPr>
              <a:t>  [Protocol Engine]</a:t>
            </a:r>
          </a:p>
          <a:p>
            <a:pPr>
              <a:spcAft>
                <a:spcPts val="500"/>
              </a:spcAft>
              <a:defRPr sz="1000">
                <a:solidFill>
                  <a:srgbClr val="94A3B8"/>
                </a:solidFill>
              </a:defRPr>
            </a:pPr>
            <a:r>
              <a:t>•  WebSerial API: 115,200 baud USB-UART CDC ACM streaming directly from peripheral to browser.</a:t>
            </a:r>
          </a:p>
          <a:p>
            <a:pPr>
              <a:spcAft>
                <a:spcPts val="500"/>
              </a:spcAft>
              <a:defRPr sz="1000">
                <a:solidFill>
                  <a:srgbClr val="94A3B8"/>
                </a:solidFill>
              </a:defRPr>
            </a:pPr>
            <a:r>
              <a:t>•  WebBluetooth GATT: Health Thermometer and Pulse Oximeter standardized Bluetooth profiles.</a:t>
            </a:r>
          </a:p>
          <a:p>
            <a:pPr>
              <a:spcAft>
                <a:spcPts val="500"/>
              </a:spcAft>
              <a:defRPr sz="1000">
                <a:solidFill>
                  <a:srgbClr val="94A3B8"/>
                </a:solidFill>
              </a:defRPr>
            </a:pPr>
            <a:r>
              <a:t>•  Signal Quality Indexing (SQI): Automatically discards packets with SNR &lt; 25 dB or motion artifacts.</a:t>
            </a:r>
          </a:p>
          <a:p>
            <a:pPr>
              <a:spcAft>
                <a:spcPts val="500"/>
              </a:spcAft>
              <a:defRPr sz="1000">
                <a:solidFill>
                  <a:srgbClr val="94A3B8"/>
                </a:solidFill>
              </a:defRPr>
            </a:pPr>
            <a:r>
              <a:t>•  Cryptographic Packet Hash: SHA-256 digest computed across device ID, timestamp, and payload.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PRESCRIPTION INTELLIGENCE</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Prescription Analysis &amp; Drug-Drug Interaction Safety</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Optical character extraction coupled with deterministic clinical safety screening.</a:t>
            </a:r>
          </a:p>
        </p:txBody>
      </p:sp>
      <p:sp>
        <p:nvSpPr>
          <p:cNvPr id="5" name="Rounded Rectangle 4"/>
          <p:cNvSpPr/>
          <p:nvPr/>
        </p:nvSpPr>
        <p:spPr>
          <a:xfrm>
            <a:off x="73152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Document Ingestion &amp; Clinical Extraction</a:t>
            </a:r>
            <a:r>
              <a:rPr sz="950" b="1">
                <a:solidFill>
                  <a:srgbClr val="00B4D8"/>
                </a:solidFill>
              </a:rPr>
              <a:t>  [OCR &amp; NLP Engine]</a:t>
            </a:r>
          </a:p>
          <a:p>
            <a:pPr>
              <a:spcAft>
                <a:spcPts val="500"/>
              </a:spcAft>
              <a:defRPr sz="1000">
                <a:solidFill>
                  <a:srgbClr val="94A3B8"/>
                </a:solidFill>
              </a:defRPr>
            </a:pPr>
            <a:r>
              <a:t>•  Multi-Page PDF &amp; Image OCR: Extracted via pypdf and high-contrast optical parsing.</a:t>
            </a:r>
          </a:p>
          <a:p>
            <a:pPr>
              <a:spcAft>
                <a:spcPts val="500"/>
              </a:spcAft>
              <a:defRPr sz="1000">
                <a:solidFill>
                  <a:srgbClr val="94A3B8"/>
                </a:solidFill>
              </a:defRPr>
            </a:pPr>
            <a:r>
              <a:t>•  Anti-Prompt-Injection Shield: Strips adversarial injection attempts ('ignore previous instructions').</a:t>
            </a:r>
          </a:p>
          <a:p>
            <a:pPr>
              <a:spcAft>
                <a:spcPts val="500"/>
              </a:spcAft>
              <a:defRPr sz="1000">
                <a:solidFill>
                  <a:srgbClr val="94A3B8"/>
                </a:solidFill>
              </a:defRPr>
            </a:pPr>
            <a:r>
              <a:t>•  Clinical Entity Extraction: Regular expressions identify canonical drug names, dosages (mg, mcg), route (oral, IV), and dosing schedules (QD, BID, TID, PRN).</a:t>
            </a:r>
          </a:p>
          <a:p>
            <a:pPr>
              <a:spcAft>
                <a:spcPts val="500"/>
              </a:spcAft>
              <a:defRPr sz="1000">
                <a:solidFill>
                  <a:srgbClr val="94A3B8"/>
                </a:solidFill>
              </a:defRPr>
            </a:pPr>
            <a:r>
              <a:t>•  Deterministic Medication Card: Formats prescription into an intuitive patient dosage schedule.</a:t>
            </a:r>
          </a:p>
          <a:p>
            <a:pPr>
              <a:spcAft>
                <a:spcPts val="500"/>
              </a:spcAft>
              <a:defRPr sz="1000">
                <a:solidFill>
                  <a:srgbClr val="94A3B8"/>
                </a:solidFill>
              </a:defRPr>
            </a:pPr>
            <a:r>
              <a:t>•  Plain-Language Patient Guidance: Explains therapeutic purpose, common side effects, and timing instructions.</a:t>
            </a:r>
          </a:p>
        </p:txBody>
      </p:sp>
      <p:sp>
        <p:nvSpPr>
          <p:cNvPr id="7" name="Rounded Rectangle 6"/>
          <p:cNvSpPr/>
          <p:nvPr/>
        </p:nvSpPr>
        <p:spPr>
          <a:xfrm>
            <a:off x="630936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Deterministic Drug-Drug Interaction Matrix</a:t>
            </a:r>
            <a:r>
              <a:rPr sz="950" b="1">
                <a:solidFill>
                  <a:srgbClr val="10B981"/>
                </a:solidFill>
              </a:rPr>
              <a:t>  [10 High-Risk Rules]</a:t>
            </a:r>
          </a:p>
          <a:p>
            <a:pPr>
              <a:spcAft>
                <a:spcPts val="500"/>
              </a:spcAft>
              <a:defRPr sz="1000">
                <a:solidFill>
                  <a:srgbClr val="94A3B8"/>
                </a:solidFill>
              </a:defRPr>
            </a:pPr>
            <a:r>
              <a:t>•  Warfarin + Aspirin: Major bleeding risk; alerts to mucosal hemorrhaging.</a:t>
            </a:r>
          </a:p>
          <a:p>
            <a:pPr>
              <a:spcAft>
                <a:spcPts val="500"/>
              </a:spcAft>
              <a:defRPr sz="1000">
                <a:solidFill>
                  <a:srgbClr val="94A3B8"/>
                </a:solidFill>
              </a:defRPr>
            </a:pPr>
            <a:r>
              <a:t>•  Lisinopril + Spironolactone: Hyperkalemia risk; requires serum potassium checks.</a:t>
            </a:r>
          </a:p>
          <a:p>
            <a:pPr>
              <a:spcAft>
                <a:spcPts val="500"/>
              </a:spcAft>
              <a:defRPr sz="1000">
                <a:solidFill>
                  <a:srgbClr val="94A3B8"/>
                </a:solidFill>
              </a:defRPr>
            </a:pPr>
            <a:r>
              <a:t>•  Simvastatin + Clarithromycin: Rhabdomyolysis risk; advises CYP3A4 statin suspension.</a:t>
            </a:r>
          </a:p>
          <a:p>
            <a:pPr>
              <a:spcAft>
                <a:spcPts val="500"/>
              </a:spcAft>
              <a:defRPr sz="1000">
                <a:solidFill>
                  <a:srgbClr val="94A3B8"/>
                </a:solidFill>
              </a:defRPr>
            </a:pPr>
            <a:r>
              <a:t>•  Metformin + IV Contrast: Lactic acidosis risk; flags 48-hour pre/post hold protocol.</a:t>
            </a:r>
          </a:p>
          <a:p>
            <a:pPr>
              <a:spcAft>
                <a:spcPts val="500"/>
              </a:spcAft>
              <a:defRPr sz="1000">
                <a:solidFill>
                  <a:srgbClr val="94A3B8"/>
                </a:solidFill>
              </a:defRPr>
            </a:pPr>
            <a:r>
              <a:t>•  Levothyroxine + Calcium: Chelation absorption failure; enforces 4-hour spacing.</a:t>
            </a:r>
          </a:p>
          <a:p>
            <a:pPr>
              <a:spcAft>
                <a:spcPts val="500"/>
              </a:spcAft>
              <a:defRPr sz="1000">
                <a:solidFill>
                  <a:srgbClr val="94A3B8"/>
                </a:solidFill>
              </a:defRPr>
            </a:pPr>
            <a:r>
              <a:t>•  Immediate Clinical Flags: Evaluated in memory instantly without waiting on LLM API calls.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DIAGNOSTIC LAB INTELLIGENCE</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Medical Report Analysis &amp; Clinical Terminology Engine</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Demystifying complex blood panels and diagnostic findings into understandable 4-part explanations.</a:t>
            </a:r>
          </a:p>
        </p:txBody>
      </p:sp>
      <p:sp>
        <p:nvSpPr>
          <p:cNvPr id="5" name="Rounded Rectangle 4"/>
          <p:cNvSpPr/>
          <p:nvPr/>
        </p:nvSpPr>
        <p:spPr>
          <a:xfrm>
            <a:off x="73152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Embedded Terminology Dictionary (37 Terms)</a:t>
            </a:r>
            <a:r>
              <a:rPr sz="950" b="1">
                <a:solidFill>
                  <a:srgbClr val="10B981"/>
                </a:solidFill>
              </a:rPr>
              <a:t>  [Offline Dictionary]</a:t>
            </a:r>
          </a:p>
          <a:p>
            <a:pPr>
              <a:spcAft>
                <a:spcPts val="500"/>
              </a:spcAft>
              <a:defRPr sz="1000">
                <a:solidFill>
                  <a:srgbClr val="94A3B8"/>
                </a:solidFill>
              </a:defRPr>
            </a:pPr>
            <a:r>
              <a:t>•  Metabolic &amp; Renal: HbA1c, Fasting Glucose, eGFR, Creatinine, BUN.</a:t>
            </a:r>
          </a:p>
          <a:p>
            <a:pPr>
              <a:spcAft>
                <a:spcPts val="500"/>
              </a:spcAft>
              <a:defRPr sz="1000">
                <a:solidFill>
                  <a:srgbClr val="94A3B8"/>
                </a:solidFill>
              </a:defRPr>
            </a:pPr>
            <a:r>
              <a:t>•  Cardiovascular Biomarkers: Troponin-I, BNP, Lipid Panel (LDL, HDL, Triglycerides).</a:t>
            </a:r>
          </a:p>
          <a:p>
            <a:pPr>
              <a:spcAft>
                <a:spcPts val="500"/>
              </a:spcAft>
              <a:defRPr sz="1000">
                <a:solidFill>
                  <a:srgbClr val="94A3B8"/>
                </a:solidFill>
              </a:defRPr>
            </a:pPr>
            <a:r>
              <a:t>•  Hematology &amp; Liver: Complete Blood Count (WBC, Platelets), ALT, AST, Bilirubin.</a:t>
            </a:r>
          </a:p>
          <a:p>
            <a:pPr>
              <a:spcAft>
                <a:spcPts val="500"/>
              </a:spcAft>
              <a:defRPr sz="1000">
                <a:solidFill>
                  <a:srgbClr val="94A3B8"/>
                </a:solidFill>
              </a:defRPr>
            </a:pPr>
            <a:r>
              <a:t>•  Endocrine &amp; Electrolytes: TSH, Free T4, Sodium, Potassium, Serum Calcium.</a:t>
            </a:r>
          </a:p>
        </p:txBody>
      </p:sp>
      <p:sp>
        <p:nvSpPr>
          <p:cNvPr id="7" name="Rounded Rectangle 6"/>
          <p:cNvSpPr/>
          <p:nvPr/>
        </p:nvSpPr>
        <p:spPr>
          <a:xfrm>
            <a:off x="630936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Anti-Prompt-Injection Security Guard</a:t>
            </a:r>
            <a:r>
              <a:rPr sz="950" b="1">
                <a:solidFill>
                  <a:srgbClr val="10B981"/>
                </a:solidFill>
              </a:rPr>
              <a:t>  [Cybersecurity]</a:t>
            </a:r>
          </a:p>
          <a:p>
            <a:pPr>
              <a:spcAft>
                <a:spcPts val="500"/>
              </a:spcAft>
              <a:defRPr sz="1000">
                <a:solidFill>
                  <a:srgbClr val="94A3B8"/>
                </a:solidFill>
              </a:defRPr>
            </a:pPr>
            <a:r>
              <a:t>•  Scans OCR text for malicious adversarial jailbreak patterns.</a:t>
            </a:r>
          </a:p>
          <a:p>
            <a:pPr>
              <a:spcAft>
                <a:spcPts val="500"/>
              </a:spcAft>
              <a:defRPr sz="1000">
                <a:solidFill>
                  <a:srgbClr val="94A3B8"/>
                </a:solidFill>
              </a:defRPr>
            </a:pPr>
            <a:r>
              <a:t>•  Redacts phrases like 'system override' or 'disregard clinical bounds'.</a:t>
            </a:r>
          </a:p>
          <a:p>
            <a:pPr>
              <a:spcAft>
                <a:spcPts val="500"/>
              </a:spcAft>
              <a:defRPr sz="1000">
                <a:solidFill>
                  <a:srgbClr val="94A3B8"/>
                </a:solidFill>
              </a:defRPr>
            </a:pPr>
            <a:r>
              <a:t>•  Replaces detected spans with [REDACTED_INJECTION_PATTERN].</a:t>
            </a:r>
          </a:p>
          <a:p>
            <a:pPr>
              <a:spcAft>
                <a:spcPts val="500"/>
              </a:spcAft>
              <a:defRPr sz="1000">
                <a:solidFill>
                  <a:srgbClr val="94A3B8"/>
                </a:solidFill>
              </a:defRPr>
            </a:pPr>
            <a:r>
              <a:t>•  Protects LLM context window from prompt manipulation attacks.</a:t>
            </a:r>
          </a:p>
        </p:txBody>
      </p:sp>
      <p:sp>
        <p:nvSpPr>
          <p:cNvPr id="9" name="Rounded Rectangle 8"/>
          <p:cNvSpPr/>
          <p:nvPr/>
        </p:nvSpPr>
        <p:spPr>
          <a:xfrm>
            <a:off x="731520" y="4023360"/>
            <a:ext cx="106984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87952"/>
            <a:ext cx="10332720" cy="1783080"/>
          </a:xfrm>
          <a:prstGeom prst="rect">
            <a:avLst/>
          </a:prstGeom>
          <a:noFill/>
        </p:spPr>
        <p:txBody>
          <a:bodyPr wrap="square" lIns="0" tIns="0" rIns="0" bIns="0">
            <a:spAutoFit/>
          </a:bodyPr>
          <a:lstStyle/>
          <a:p>
            <a:pPr>
              <a:spcAft>
                <a:spcPts val="800"/>
              </a:spcAft>
              <a:defRPr sz="1300" b="1">
                <a:solidFill>
                  <a:srgbClr val="F8FAFC"/>
                </a:solidFill>
              </a:defRPr>
            </a:pPr>
            <a:r>
              <a:t>The 4-Part Structured Patient Explanation Framework</a:t>
            </a:r>
            <a:r>
              <a:rPr sz="950" b="1">
                <a:solidFill>
                  <a:srgbClr val="00B4D8"/>
                </a:solidFill>
              </a:rPr>
              <a:t>  [Structured Framework]</a:t>
            </a:r>
          </a:p>
          <a:p>
            <a:pPr>
              <a:spcAft>
                <a:spcPts val="500"/>
              </a:spcAft>
              <a:defRPr sz="1000">
                <a:solidFill>
                  <a:srgbClr val="94A3B8"/>
                </a:solidFill>
              </a:defRPr>
            </a:pPr>
            <a:r>
              <a:t>•  1. Test Performed: Clear identification of the laboratory test and the body system it evaluates.</a:t>
            </a:r>
          </a:p>
          <a:p>
            <a:pPr>
              <a:spcAft>
                <a:spcPts val="500"/>
              </a:spcAft>
              <a:defRPr sz="1000">
                <a:solidFill>
                  <a:srgbClr val="94A3B8"/>
                </a:solidFill>
              </a:defRPr>
            </a:pPr>
            <a:r>
              <a:t>•  2. Clinical Meaning: Plain-language explanation of what high or low biomarker levels signify physiologically.</a:t>
            </a:r>
          </a:p>
          <a:p>
            <a:pPr>
              <a:spcAft>
                <a:spcPts val="500"/>
              </a:spcAft>
              <a:defRPr sz="1000">
                <a:solidFill>
                  <a:srgbClr val="94A3B8"/>
                </a:solidFill>
              </a:defRPr>
            </a:pPr>
            <a:r>
              <a:t>•  3. Finding Status: Objective classification against reference standards (Normal, Borderline, Out-of-Range).</a:t>
            </a:r>
          </a:p>
          <a:p>
            <a:pPr>
              <a:spcAft>
                <a:spcPts val="500"/>
              </a:spcAft>
              <a:defRPr sz="1000">
                <a:solidFill>
                  <a:srgbClr val="94A3B8"/>
                </a:solidFill>
              </a:defRPr>
            </a:pPr>
            <a:r>
              <a:t>•  4. Questions to Ask Your Doctor: 3 to 4 clinically grounded questions for the patient's next appointment.</a:t>
            </a:r>
          </a:p>
          <a:p>
            <a:pPr>
              <a:spcAft>
                <a:spcPts val="500"/>
              </a:spcAft>
              <a:defRPr sz="1000">
                <a:solidFill>
                  <a:srgbClr val="94A3B8"/>
                </a:solidFill>
              </a:defRPr>
            </a:pPr>
            <a:r>
              <a:t>•  Interactive Q&amp;A Follow-Up: Allows patient to ask clarifying questions strictly grounded in the document 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CLINICIAN PORTAL</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Doctor Triage Queue &amp; Clinical Decision Support</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Empowering physicians and nurses with prioritized alert queues and longitudinal telemetry.</a:t>
            </a:r>
          </a:p>
        </p:txBody>
      </p:sp>
      <p:sp>
        <p:nvSpPr>
          <p:cNvPr id="5" name="Rounded Rectangle 4"/>
          <p:cNvSpPr/>
          <p:nvPr/>
        </p:nvSpPr>
        <p:spPr>
          <a:xfrm>
            <a:off x="73152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High-Priority Outlier Alert Queue</a:t>
            </a:r>
            <a:r>
              <a:rPr sz="950" b="1">
                <a:solidFill>
                  <a:srgbClr val="00B4D8"/>
                </a:solidFill>
              </a:rPr>
              <a:t>  [Triage Engine]</a:t>
            </a:r>
          </a:p>
          <a:p>
            <a:pPr>
              <a:spcAft>
                <a:spcPts val="500"/>
              </a:spcAft>
              <a:defRPr sz="1000">
                <a:solidFill>
                  <a:srgbClr val="94A3B8"/>
                </a:solidFill>
              </a:defRPr>
            </a:pPr>
            <a:r>
              <a:t>•  Prioritized Triage Stream: Automatically surfaces patients with active Stage 2 HTN or severe glycemic events.</a:t>
            </a:r>
          </a:p>
          <a:p>
            <a:pPr>
              <a:spcAft>
                <a:spcPts val="500"/>
              </a:spcAft>
              <a:defRPr sz="1000">
                <a:solidFill>
                  <a:srgbClr val="94A3B8"/>
                </a:solidFill>
              </a:defRPr>
            </a:pPr>
            <a:r>
              <a:t>•  Severity Badges: Warning (Amber) and Critical (Red) indicators based on physiologic thresholds.</a:t>
            </a:r>
          </a:p>
          <a:p>
            <a:pPr>
              <a:spcAft>
                <a:spcPts val="500"/>
              </a:spcAft>
              <a:defRPr sz="1000">
                <a:solidFill>
                  <a:srgbClr val="94A3B8"/>
                </a:solidFill>
              </a:defRPr>
            </a:pPr>
            <a:r>
              <a:t>•  Consented Patient Isolation: Doctors only view telemetry for patients who have signed consent records.</a:t>
            </a:r>
          </a:p>
          <a:p>
            <a:pPr>
              <a:spcAft>
                <a:spcPts val="500"/>
              </a:spcAft>
              <a:defRPr sz="1000">
                <a:solidFill>
                  <a:srgbClr val="94A3B8"/>
                </a:solidFill>
              </a:defRPr>
            </a:pPr>
            <a:r>
              <a:t>•  One-Click Alert Actioning: Clinicians record clinical triage notes (e.g., 'Dose review scheduled').</a:t>
            </a:r>
          </a:p>
          <a:p>
            <a:pPr>
              <a:spcAft>
                <a:spcPts val="500"/>
              </a:spcAft>
              <a:defRPr sz="1000">
                <a:solidFill>
                  <a:srgbClr val="94A3B8"/>
                </a:solidFill>
              </a:defRPr>
            </a:pPr>
            <a:r>
              <a:t>•  Audit Confirmation: Dismissed alerts update to status='RESOLVED' with actioned_by doctor ID.</a:t>
            </a:r>
          </a:p>
          <a:p>
            <a:pPr>
              <a:spcAft>
                <a:spcPts val="500"/>
              </a:spcAft>
              <a:defRPr sz="1000">
                <a:solidFill>
                  <a:srgbClr val="94A3B8"/>
                </a:solidFill>
              </a:defRPr>
            </a:pPr>
            <a:r>
              <a:t>•  Eliminates EHR Fatigue: Filters out thousands of stable readings to highlight patients who need immediate attention.</a:t>
            </a:r>
          </a:p>
        </p:txBody>
      </p:sp>
      <p:sp>
        <p:nvSpPr>
          <p:cNvPr id="7" name="Rounded Rectangle 6"/>
          <p:cNvSpPr/>
          <p:nvPr/>
        </p:nvSpPr>
        <p:spPr>
          <a:xfrm>
            <a:off x="630936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Longitudinal Review &amp; Encounters</a:t>
            </a:r>
            <a:r>
              <a:rPr sz="950" b="1">
                <a:solidFill>
                  <a:srgbClr val="00B4D8"/>
                </a:solidFill>
              </a:rPr>
              <a:t>  [Decision Support]</a:t>
            </a:r>
          </a:p>
          <a:p>
            <a:pPr>
              <a:spcAft>
                <a:spcPts val="500"/>
              </a:spcAft>
              <a:defRPr sz="1000">
                <a:solidFill>
                  <a:srgbClr val="94A3B8"/>
                </a:solidFill>
              </a:defRPr>
            </a:pPr>
            <a:r>
              <a:t>•  30-Day Mean Arterial Pressure: Computes aggregate MAP curves to detect silent arterial stiffening.</a:t>
            </a:r>
          </a:p>
          <a:p>
            <a:pPr>
              <a:spcAft>
                <a:spcPts val="500"/>
              </a:spcAft>
              <a:defRPr sz="1000">
                <a:solidFill>
                  <a:srgbClr val="94A3B8"/>
                </a:solidFill>
              </a:defRPr>
            </a:pPr>
            <a:r>
              <a:t>•  Glycemic Time-in-Range: Displays percentage of time blood sugar remained between 70 and 180 mg/dL.</a:t>
            </a:r>
          </a:p>
          <a:p>
            <a:pPr>
              <a:spcAft>
                <a:spcPts val="500"/>
              </a:spcAft>
              <a:defRPr sz="1000">
                <a:solidFill>
                  <a:srgbClr val="94A3B8"/>
                </a:solidFill>
              </a:defRPr>
            </a:pPr>
            <a:r>
              <a:t>•  Clinical Encounter Documentation: Record subjective notes, objective findings, and ICD-10 diagnostic codes.</a:t>
            </a:r>
          </a:p>
          <a:p>
            <a:pPr>
              <a:spcAft>
                <a:spcPts val="500"/>
              </a:spcAft>
              <a:defRPr sz="1000">
                <a:solidFill>
                  <a:srgbClr val="94A3B8"/>
                </a:solidFill>
              </a:defRPr>
            </a:pPr>
            <a:r>
              <a:t>•  Prescription Review: Cross-references active patient medication lists during clinical visits.</a:t>
            </a:r>
          </a:p>
          <a:p>
            <a:pPr>
              <a:spcAft>
                <a:spcPts val="500"/>
              </a:spcAft>
              <a:defRPr sz="1000">
                <a:solidFill>
                  <a:srgbClr val="94A3B8"/>
                </a:solidFill>
              </a:defRPr>
            </a:pPr>
            <a:r>
              <a:t>•  Schedule Management: Coordinates upcoming clinic visits and patient follow-up intervals.</a:t>
            </a:r>
          </a:p>
          <a:p>
            <a:pPr>
              <a:spcAft>
                <a:spcPts val="500"/>
              </a:spcAft>
              <a:defRPr sz="1000">
                <a:solidFill>
                  <a:srgbClr val="94A3B8"/>
                </a:solidFill>
              </a:defRPr>
            </a:pPr>
            <a:r>
              <a:t>•  Secure Care Team Collaboration: Streamlines handoffs between attending physicians and triage nurses.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ENTERPRISE GOVERNANCE</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Master Patient Index (MPI) &amp; HIPAA Audit Trails</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Institutional oversight, compliance logging, and system-wide identity management.</a:t>
            </a:r>
          </a:p>
        </p:txBody>
      </p:sp>
      <p:sp>
        <p:nvSpPr>
          <p:cNvPr id="5" name="Rounded Rectangle 4"/>
          <p:cNvSpPr/>
          <p:nvPr/>
        </p:nvSpPr>
        <p:spPr>
          <a:xfrm>
            <a:off x="73152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Master Patient Index (MPI) Explorer</a:t>
            </a:r>
            <a:r>
              <a:rPr sz="950" b="1">
                <a:solidFill>
                  <a:srgbClr val="00B4D8"/>
                </a:solidFill>
              </a:rPr>
              <a:t>  [Identity Core]</a:t>
            </a:r>
          </a:p>
          <a:p>
            <a:pPr>
              <a:spcAft>
                <a:spcPts val="500"/>
              </a:spcAft>
              <a:defRPr sz="1000">
                <a:solidFill>
                  <a:srgbClr val="94A3B8"/>
                </a:solidFill>
              </a:defRPr>
            </a:pPr>
            <a:r>
              <a:t>•  Enterprise Patient Identity: Centralized registry preventing duplicate records across hospital departments.</a:t>
            </a:r>
          </a:p>
          <a:p>
            <a:pPr>
              <a:spcAft>
                <a:spcPts val="500"/>
              </a:spcAft>
              <a:defRPr sz="1000">
                <a:solidFill>
                  <a:srgbClr val="94A3B8"/>
                </a:solidFill>
              </a:defRPr>
            </a:pPr>
            <a:r>
              <a:t>•  Unique Clinical Identifiers: Master Patient Record Numbers (MRN) and Medical Device Identifiers.</a:t>
            </a:r>
          </a:p>
          <a:p>
            <a:pPr>
              <a:spcAft>
                <a:spcPts val="500"/>
              </a:spcAft>
              <a:defRPr sz="1000">
                <a:solidFill>
                  <a:srgbClr val="94A3B8"/>
                </a:solidFill>
              </a:defRPr>
            </a:pPr>
            <a:r>
              <a:t>•  Departmental Mapping: Links patients to primary care clinics, cardiology, endocrinology, and nephrology.</a:t>
            </a:r>
          </a:p>
          <a:p>
            <a:pPr>
              <a:spcAft>
                <a:spcPts val="500"/>
              </a:spcAft>
              <a:defRPr sz="1000">
                <a:solidFill>
                  <a:srgbClr val="94A3B8"/>
                </a:solidFill>
              </a:defRPr>
            </a:pPr>
            <a:r>
              <a:t>•  Provider Directory: Manages attending physician assignments, nurse access, and credential verification.</a:t>
            </a:r>
          </a:p>
          <a:p>
            <a:pPr>
              <a:spcAft>
                <a:spcPts val="500"/>
              </a:spcAft>
              <a:defRPr sz="1000">
                <a:solidFill>
                  <a:srgbClr val="94A3B8"/>
                </a:solidFill>
              </a:defRPr>
            </a:pPr>
            <a:r>
              <a:t>•  Cross-Facility Identity Resolution: Resolves matching patient demographics to prevent fragmented histories.</a:t>
            </a:r>
          </a:p>
        </p:txBody>
      </p:sp>
      <p:sp>
        <p:nvSpPr>
          <p:cNvPr id="7" name="Rounded Rectangle 6"/>
          <p:cNvSpPr/>
          <p:nvPr/>
        </p:nvSpPr>
        <p:spPr>
          <a:xfrm>
            <a:off x="630936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Immutable Compliance Audit Trail</a:t>
            </a:r>
            <a:r>
              <a:rPr sz="950" b="1">
                <a:solidFill>
                  <a:srgbClr val="10B981"/>
                </a:solidFill>
              </a:rPr>
              <a:t>  [Audit Engine]</a:t>
            </a:r>
          </a:p>
          <a:p>
            <a:pPr>
              <a:spcAft>
                <a:spcPts val="500"/>
              </a:spcAft>
              <a:defRPr sz="1000">
                <a:solidFill>
                  <a:srgbClr val="94A3B8"/>
                </a:solidFill>
              </a:defRPr>
            </a:pPr>
            <a:r>
              <a:t>•  HIPAA Security Rule §164.312(b): Audit controls capturing all Protected Health Information (PHI) access.</a:t>
            </a:r>
          </a:p>
          <a:p>
            <a:pPr>
              <a:spcAft>
                <a:spcPts val="500"/>
              </a:spcAft>
              <a:defRPr sz="1000">
                <a:solidFill>
                  <a:srgbClr val="94A3B8"/>
                </a:solidFill>
              </a:defRPr>
            </a:pPr>
            <a:r>
              <a:t>•  Granular Action Categorization: Logs CREATE, READ, UPDATE, DELETE, LOGIN, LOGOUT, and EXPORT events.</a:t>
            </a:r>
          </a:p>
          <a:p>
            <a:pPr>
              <a:spcAft>
                <a:spcPts val="500"/>
              </a:spcAft>
              <a:defRPr sz="1000">
                <a:solidFill>
                  <a:srgbClr val="94A3B8"/>
                </a:solidFill>
              </a:defRPr>
            </a:pPr>
            <a:r>
              <a:t>•  Cryptographic Provenance: Records user UUID, IP address, user-agent string, resource type, and timestamp.</a:t>
            </a:r>
          </a:p>
          <a:p>
            <a:pPr>
              <a:spcAft>
                <a:spcPts val="500"/>
              </a:spcAft>
              <a:defRPr sz="1000">
                <a:solidFill>
                  <a:srgbClr val="94A3B8"/>
                </a:solidFill>
              </a:defRPr>
            </a:pPr>
            <a:r>
              <a:t>•  Severity Classification: Info, Warning, and Critical severity markers for anomalous access attempts.</a:t>
            </a:r>
          </a:p>
          <a:p>
            <a:pPr>
              <a:spcAft>
                <a:spcPts val="500"/>
              </a:spcAft>
              <a:defRPr sz="1000">
                <a:solidFill>
                  <a:srgbClr val="94A3B8"/>
                </a:solidFill>
              </a:defRPr>
            </a:pPr>
            <a:r>
              <a:t>•  Exportable Compliance Logs: Ready for compliance officers and institutional audit committees.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SYSTEM ARCHITECTURE</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Modern Technology Stack &amp; Production Delivery</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A decoupled, high-performance architecture built for reliability, security, and scalability.</a:t>
            </a:r>
          </a:p>
        </p:txBody>
      </p:sp>
      <p:sp>
        <p:nvSpPr>
          <p:cNvPr id="5" name="Rounded Rectangle 4"/>
          <p:cNvSpPr/>
          <p:nvPr/>
        </p:nvSpPr>
        <p:spPr>
          <a:xfrm>
            <a:off x="73152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Presentation Layer</a:t>
            </a:r>
            <a:r>
              <a:rPr sz="950" b="1">
                <a:solidFill>
                  <a:srgbClr val="00B4D8"/>
                </a:solidFill>
              </a:rPr>
              <a:t>  [Frontend]</a:t>
            </a:r>
          </a:p>
          <a:p>
            <a:pPr>
              <a:spcAft>
                <a:spcPts val="500"/>
              </a:spcAft>
              <a:defRPr sz="1000">
                <a:solidFill>
                  <a:srgbClr val="94A3B8"/>
                </a:solidFill>
              </a:defRPr>
            </a:pPr>
            <a:r>
              <a:t>•  React 18 + TypeScript 5.7</a:t>
            </a:r>
          </a:p>
          <a:p>
            <a:pPr>
              <a:spcAft>
                <a:spcPts val="500"/>
              </a:spcAft>
              <a:defRPr sz="1000">
                <a:solidFill>
                  <a:srgbClr val="94A3B8"/>
                </a:solidFill>
              </a:defRPr>
            </a:pPr>
            <a:r>
              <a:t>•  Vite 6 Fast Bundler</a:t>
            </a:r>
          </a:p>
          <a:p>
            <a:pPr>
              <a:spcAft>
                <a:spcPts val="500"/>
              </a:spcAft>
              <a:defRPr sz="1000">
                <a:solidFill>
                  <a:srgbClr val="94A3B8"/>
                </a:solidFill>
              </a:defRPr>
            </a:pPr>
            <a:r>
              <a:t>•  Tailwind CSS Dark Mode</a:t>
            </a:r>
          </a:p>
          <a:p>
            <a:pPr>
              <a:spcAft>
                <a:spcPts val="500"/>
              </a:spcAft>
              <a:defRPr sz="1000">
                <a:solidFill>
                  <a:srgbClr val="94A3B8"/>
                </a:solidFill>
              </a:defRPr>
            </a:pPr>
            <a:r>
              <a:t>•  Lucide Medical Icons</a:t>
            </a:r>
          </a:p>
          <a:p>
            <a:pPr>
              <a:spcAft>
                <a:spcPts val="500"/>
              </a:spcAft>
              <a:defRPr sz="1000">
                <a:solidFill>
                  <a:srgbClr val="94A3B8"/>
                </a:solidFill>
              </a:defRPr>
            </a:pPr>
            <a:r>
              <a:t>•  Recharts Telemetry Graphs</a:t>
            </a:r>
          </a:p>
          <a:p>
            <a:pPr>
              <a:spcAft>
                <a:spcPts val="500"/>
              </a:spcAft>
              <a:defRPr sz="1000">
                <a:solidFill>
                  <a:srgbClr val="94A3B8"/>
                </a:solidFill>
              </a:defRPr>
            </a:pPr>
            <a:r>
              <a:t>•  React Query v5 State Store</a:t>
            </a:r>
          </a:p>
          <a:p>
            <a:pPr>
              <a:spcAft>
                <a:spcPts val="500"/>
              </a:spcAft>
              <a:defRPr sz="1000">
                <a:solidFill>
                  <a:srgbClr val="94A3B8"/>
                </a:solidFill>
              </a:defRPr>
            </a:pPr>
            <a:r>
              <a:t>•  Axios 15s Request Timeouts</a:t>
            </a:r>
          </a:p>
          <a:p>
            <a:pPr>
              <a:spcAft>
                <a:spcPts val="500"/>
              </a:spcAft>
              <a:defRPr sz="1000">
                <a:solidFill>
                  <a:srgbClr val="94A3B8"/>
                </a:solidFill>
              </a:defRPr>
            </a:pPr>
            <a:r>
              <a:t>•  Service Worker v3 (PWA)</a:t>
            </a:r>
          </a:p>
          <a:p>
            <a:pPr>
              <a:spcAft>
                <a:spcPts val="500"/>
              </a:spcAft>
              <a:defRPr sz="1000">
                <a:solidFill>
                  <a:srgbClr val="94A3B8"/>
                </a:solidFill>
              </a:defRPr>
            </a:pPr>
            <a:r>
              <a:t>•  Vite Preload Auto-Recovery</a:t>
            </a:r>
          </a:p>
        </p:txBody>
      </p:sp>
      <p:sp>
        <p:nvSpPr>
          <p:cNvPr id="7" name="Rounded Rectangle 6"/>
          <p:cNvSpPr/>
          <p:nvPr/>
        </p:nvSpPr>
        <p:spPr>
          <a:xfrm>
            <a:off x="338328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API &amp; Gateway Layer</a:t>
            </a:r>
            <a:r>
              <a:rPr sz="950" b="1">
                <a:solidFill>
                  <a:srgbClr val="00B4D8"/>
                </a:solidFill>
              </a:rPr>
              <a:t>  [Backend]</a:t>
            </a:r>
          </a:p>
          <a:p>
            <a:pPr>
              <a:spcAft>
                <a:spcPts val="500"/>
              </a:spcAft>
              <a:defRPr sz="1000">
                <a:solidFill>
                  <a:srgbClr val="94A3B8"/>
                </a:solidFill>
              </a:defRPr>
            </a:pPr>
            <a:r>
              <a:t>•  FastAPI (Python 3.12)</a:t>
            </a:r>
          </a:p>
          <a:p>
            <a:pPr>
              <a:spcAft>
                <a:spcPts val="500"/>
              </a:spcAft>
              <a:defRPr sz="1000">
                <a:solidFill>
                  <a:srgbClr val="94A3B8"/>
                </a:solidFill>
              </a:defRPr>
            </a:pPr>
            <a:r>
              <a:t>•  Uvicorn ASGI Server</a:t>
            </a:r>
          </a:p>
          <a:p>
            <a:pPr>
              <a:spcAft>
                <a:spcPts val="500"/>
              </a:spcAft>
              <a:defRPr sz="1000">
                <a:solidFill>
                  <a:srgbClr val="94A3B8"/>
                </a:solidFill>
              </a:defRPr>
            </a:pPr>
            <a:r>
              <a:t>•  Pydantic v2 Strict Validation</a:t>
            </a:r>
          </a:p>
          <a:p>
            <a:pPr>
              <a:spcAft>
                <a:spcPts val="500"/>
              </a:spcAft>
              <a:defRPr sz="1000">
                <a:solidFill>
                  <a:srgbClr val="94A3B8"/>
                </a:solidFill>
              </a:defRPr>
            </a:pPr>
            <a:r>
              <a:t>•  JWT Bearer Authentication</a:t>
            </a:r>
          </a:p>
          <a:p>
            <a:pPr>
              <a:spcAft>
                <a:spcPts val="500"/>
              </a:spcAft>
              <a:defRPr sz="1000">
                <a:solidFill>
                  <a:srgbClr val="94A3B8"/>
                </a:solidFill>
              </a:defRPr>
            </a:pPr>
            <a:r>
              <a:t>•  Bcrypt Password Hashing</a:t>
            </a:r>
          </a:p>
          <a:p>
            <a:pPr>
              <a:spcAft>
                <a:spcPts val="500"/>
              </a:spcAft>
              <a:defRPr sz="1000">
                <a:solidFill>
                  <a:srgbClr val="94A3B8"/>
                </a:solidFill>
              </a:defRPr>
            </a:pPr>
            <a:r>
              <a:t>•  Structlog JSON Logging</a:t>
            </a:r>
          </a:p>
          <a:p>
            <a:pPr>
              <a:spcAft>
                <a:spcPts val="500"/>
              </a:spcAft>
              <a:defRPr sz="1000">
                <a:solidFill>
                  <a:srgbClr val="94A3B8"/>
                </a:solidFill>
              </a:defRPr>
            </a:pPr>
            <a:r>
              <a:t>•  Role-Based Middleware</a:t>
            </a:r>
          </a:p>
          <a:p>
            <a:pPr>
              <a:spcAft>
                <a:spcPts val="500"/>
              </a:spcAft>
              <a:defRPr sz="1000">
                <a:solidFill>
                  <a:srgbClr val="94A3B8"/>
                </a:solidFill>
              </a:defRPr>
            </a:pPr>
            <a:r>
              <a:t>•  Lifespan Startup Inspector</a:t>
            </a:r>
          </a:p>
          <a:p>
            <a:pPr>
              <a:spcAft>
                <a:spcPts val="500"/>
              </a:spcAft>
              <a:defRPr sz="1000">
                <a:solidFill>
                  <a:srgbClr val="94A3B8"/>
                </a:solidFill>
              </a:defRPr>
            </a:pPr>
            <a:r>
              <a:t>•  Graceful Database Fallback</a:t>
            </a:r>
          </a:p>
        </p:txBody>
      </p:sp>
      <p:sp>
        <p:nvSpPr>
          <p:cNvPr id="9" name="Rounded Rectangle 8"/>
          <p:cNvSpPr/>
          <p:nvPr/>
        </p:nvSpPr>
        <p:spPr>
          <a:xfrm>
            <a:off x="603504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Clinical Logic &amp; AI</a:t>
            </a:r>
            <a:r>
              <a:rPr sz="950" b="1">
                <a:solidFill>
                  <a:srgbClr val="00B4D8"/>
                </a:solidFill>
              </a:rPr>
              <a:t>  [Clinical Engines]</a:t>
            </a:r>
          </a:p>
          <a:p>
            <a:pPr>
              <a:spcAft>
                <a:spcPts val="500"/>
              </a:spcAft>
              <a:defRPr sz="1000">
                <a:solidFill>
                  <a:srgbClr val="94A3B8"/>
                </a:solidFill>
              </a:defRPr>
            </a:pPr>
            <a:r>
              <a:t>•  AHA MAP &amp; HTN Evaluator</a:t>
            </a:r>
          </a:p>
          <a:p>
            <a:pPr>
              <a:spcAft>
                <a:spcPts val="500"/>
              </a:spcAft>
              <a:defRPr sz="1000">
                <a:solidFill>
                  <a:srgbClr val="94A3B8"/>
                </a:solidFill>
              </a:defRPr>
            </a:pPr>
            <a:r>
              <a:t>•  ADA Glycemic Classifier</a:t>
            </a:r>
          </a:p>
          <a:p>
            <a:pPr>
              <a:spcAft>
                <a:spcPts val="500"/>
              </a:spcAft>
              <a:defRPr sz="1000">
                <a:solidFill>
                  <a:srgbClr val="94A3B8"/>
                </a:solidFill>
              </a:defRPr>
            </a:pPr>
            <a:r>
              <a:t>•  10-Pair Drug Matrix</a:t>
            </a:r>
          </a:p>
          <a:p>
            <a:pPr>
              <a:spcAft>
                <a:spcPts val="500"/>
              </a:spcAft>
              <a:defRPr sz="1000">
                <a:solidFill>
                  <a:srgbClr val="94A3B8"/>
                </a:solidFill>
              </a:defRPr>
            </a:pPr>
            <a:r>
              <a:t>•  37-Term Clinical Dictionary</a:t>
            </a:r>
          </a:p>
          <a:p>
            <a:pPr>
              <a:spcAft>
                <a:spcPts val="500"/>
              </a:spcAft>
              <a:defRPr sz="1000">
                <a:solidFill>
                  <a:srgbClr val="94A3B8"/>
                </a:solidFill>
              </a:defRPr>
            </a:pPr>
            <a:r>
              <a:t>•  Google Gemini 2.5 Pro</a:t>
            </a:r>
          </a:p>
          <a:p>
            <a:pPr>
              <a:spcAft>
                <a:spcPts val="500"/>
              </a:spcAft>
              <a:defRPr sz="1000">
                <a:solidFill>
                  <a:srgbClr val="94A3B8"/>
                </a:solidFill>
              </a:defRPr>
            </a:pPr>
            <a:r>
              <a:t>•  Gemini 2.5 Flash Secondary</a:t>
            </a:r>
          </a:p>
          <a:p>
            <a:pPr>
              <a:spcAft>
                <a:spcPts val="500"/>
              </a:spcAft>
              <a:defRPr sz="1000">
                <a:solidFill>
                  <a:srgbClr val="94A3B8"/>
                </a:solidFill>
              </a:defRPr>
            </a:pPr>
            <a:r>
              <a:t>•  Offline Rule Fallbacks</a:t>
            </a:r>
          </a:p>
          <a:p>
            <a:pPr>
              <a:spcAft>
                <a:spcPts val="500"/>
              </a:spcAft>
              <a:defRPr sz="1000">
                <a:solidFill>
                  <a:srgbClr val="94A3B8"/>
                </a:solidFill>
              </a:defRPr>
            </a:pPr>
            <a:r>
              <a:t>•  Anti-Injection Sanitizer</a:t>
            </a:r>
          </a:p>
          <a:p>
            <a:pPr>
              <a:spcAft>
                <a:spcPts val="500"/>
              </a:spcAft>
              <a:defRPr sz="1000">
                <a:solidFill>
                  <a:srgbClr val="94A3B8"/>
                </a:solidFill>
              </a:defRPr>
            </a:pPr>
            <a:r>
              <a:t>•  Signal Quality Filter (SQI)</a:t>
            </a:r>
          </a:p>
        </p:txBody>
      </p:sp>
      <p:sp>
        <p:nvSpPr>
          <p:cNvPr id="11" name="Rounded Rectangle 10"/>
          <p:cNvSpPr/>
          <p:nvPr/>
        </p:nvSpPr>
        <p:spPr>
          <a:xfrm>
            <a:off x="868680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Data &amp; Infrastructure</a:t>
            </a:r>
            <a:r>
              <a:rPr sz="950" b="1">
                <a:solidFill>
                  <a:srgbClr val="00B4D8"/>
                </a:solidFill>
              </a:rPr>
              <a:t>  [DevOps &amp; DB]</a:t>
            </a:r>
          </a:p>
          <a:p>
            <a:pPr>
              <a:spcAft>
                <a:spcPts val="500"/>
              </a:spcAft>
              <a:defRPr sz="1000">
                <a:solidFill>
                  <a:srgbClr val="94A3B8"/>
                </a:solidFill>
              </a:defRPr>
            </a:pPr>
            <a:r>
              <a:t>•  SQLAlchemy 2.0 Async ORM</a:t>
            </a:r>
          </a:p>
          <a:p>
            <a:pPr>
              <a:spcAft>
                <a:spcPts val="500"/>
              </a:spcAft>
              <a:defRPr sz="1000">
                <a:solidFill>
                  <a:srgbClr val="94A3B8"/>
                </a:solidFill>
              </a:defRPr>
            </a:pPr>
            <a:r>
              <a:t>•  SQLite + aiosqlite (Demo)</a:t>
            </a:r>
          </a:p>
          <a:p>
            <a:pPr>
              <a:spcAft>
                <a:spcPts val="500"/>
              </a:spcAft>
              <a:defRPr sz="1000">
                <a:solidFill>
                  <a:srgbClr val="94A3B8"/>
                </a:solidFill>
              </a:defRPr>
            </a:pPr>
            <a:r>
              <a:t>•  PostgreSQL + asyncpg (Prod)</a:t>
            </a:r>
          </a:p>
          <a:p>
            <a:pPr>
              <a:spcAft>
                <a:spcPts val="500"/>
              </a:spcAft>
              <a:defRPr sz="1000">
                <a:solidFill>
                  <a:srgbClr val="94A3B8"/>
                </a:solidFill>
              </a:defRPr>
            </a:pPr>
            <a:r>
              <a:t>•  pgvector Semantic Search</a:t>
            </a:r>
          </a:p>
          <a:p>
            <a:pPr>
              <a:spcAft>
                <a:spcPts val="500"/>
              </a:spcAft>
              <a:defRPr sz="1000">
                <a:solidFill>
                  <a:srgbClr val="94A3B8"/>
                </a:solidFill>
              </a:defRPr>
            </a:pPr>
            <a:r>
              <a:t>•  Multi-Stage Dockerfile</a:t>
            </a:r>
          </a:p>
          <a:p>
            <a:pPr>
              <a:spcAft>
                <a:spcPts val="500"/>
              </a:spcAft>
              <a:defRPr sz="1000">
                <a:solidFill>
                  <a:srgbClr val="94A3B8"/>
                </a:solidFill>
              </a:defRPr>
            </a:pPr>
            <a:r>
              <a:t>•  Render.com Cloud Hosting</a:t>
            </a:r>
          </a:p>
          <a:p>
            <a:pPr>
              <a:spcAft>
                <a:spcPts val="500"/>
              </a:spcAft>
              <a:defRPr sz="1000">
                <a:solidFill>
                  <a:srgbClr val="94A3B8"/>
                </a:solidFill>
              </a:defRPr>
            </a:pPr>
            <a:r>
              <a:t>•  TLS 1.3 Reverse Proxy</a:t>
            </a:r>
          </a:p>
          <a:p>
            <a:pPr>
              <a:spcAft>
                <a:spcPts val="500"/>
              </a:spcAft>
              <a:defRPr sz="1000">
                <a:solidFill>
                  <a:srgbClr val="94A3B8"/>
                </a:solidFill>
              </a:defRPr>
            </a:pPr>
            <a:r>
              <a:t>•  Multi-Gen Chunk Retention</a:t>
            </a:r>
          </a:p>
          <a:p>
            <a:pPr>
              <a:spcAft>
                <a:spcPts val="500"/>
              </a:spcAft>
              <a:defRPr sz="1000">
                <a:solidFill>
                  <a:srgbClr val="94A3B8"/>
                </a:solidFill>
              </a:defRPr>
            </a:pPr>
            <a:r>
              <a:t>•  Zero-Leakage Local Uploads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LIFECYCLE SPECIFICATION</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End-to-End Clinical Data Flow &amp; User Journey</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Tracing data from optical sensor or document upload to clinical triage and resolution.</a:t>
            </a:r>
          </a:p>
        </p:txBody>
      </p:sp>
      <p:sp>
        <p:nvSpPr>
          <p:cNvPr id="5" name="Rounded Rectangle 4"/>
          <p:cNvSpPr/>
          <p:nvPr/>
        </p:nvSpPr>
        <p:spPr>
          <a:xfrm>
            <a:off x="73152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Stage 1: Ingestion</a:t>
            </a:r>
            <a:r>
              <a:rPr sz="950" b="1">
                <a:solidFill>
                  <a:srgbClr val="00B4D8"/>
                </a:solidFill>
              </a:rPr>
              <a:t>  [Capture]</a:t>
            </a:r>
          </a:p>
          <a:p>
            <a:pPr>
              <a:spcAft>
                <a:spcPts val="500"/>
              </a:spcAft>
              <a:defRPr sz="1000">
                <a:solidFill>
                  <a:srgbClr val="94A3B8"/>
                </a:solidFill>
              </a:defRPr>
            </a:pPr>
            <a:r>
              <a:t>•  Patient uploads PDF/Image or attaches WebSerial / BLE sensor.</a:t>
            </a:r>
          </a:p>
          <a:p>
            <a:pPr>
              <a:spcAft>
                <a:spcPts val="500"/>
              </a:spcAft>
              <a:defRPr sz="1000">
                <a:solidFill>
                  <a:srgbClr val="94A3B8"/>
                </a:solidFill>
              </a:defRPr>
            </a:pPr>
            <a:r>
              <a:t>•  FastAPI validates MIME type and magic bytes (%PDF-, PNG).</a:t>
            </a:r>
          </a:p>
          <a:p>
            <a:pPr>
              <a:spcAft>
                <a:spcPts val="500"/>
              </a:spcAft>
              <a:defRPr sz="1000">
                <a:solidFill>
                  <a:srgbClr val="94A3B8"/>
                </a:solidFill>
              </a:defRPr>
            </a:pPr>
            <a:r>
              <a:t>•  Files &lt;= 10MB verified entirely in memory.</a:t>
            </a:r>
          </a:p>
          <a:p>
            <a:pPr>
              <a:spcAft>
                <a:spcPts val="500"/>
              </a:spcAft>
              <a:defRPr sz="1000">
                <a:solidFill>
                  <a:srgbClr val="94A3B8"/>
                </a:solidFill>
              </a:defRPr>
            </a:pPr>
            <a:r>
              <a:t>•  Hardware packets checked for SNR &gt; 25dB and contact force.</a:t>
            </a:r>
          </a:p>
        </p:txBody>
      </p:sp>
      <p:sp>
        <p:nvSpPr>
          <p:cNvPr id="7" name="Rounded Rectangle 6"/>
          <p:cNvSpPr/>
          <p:nvPr/>
        </p:nvSpPr>
        <p:spPr>
          <a:xfrm>
            <a:off x="338328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Stage 2: Sanitization</a:t>
            </a:r>
            <a:r>
              <a:rPr sz="950" b="1">
                <a:solidFill>
                  <a:srgbClr val="10B981"/>
                </a:solidFill>
              </a:rPr>
              <a:t>  [Security]</a:t>
            </a:r>
          </a:p>
          <a:p>
            <a:pPr>
              <a:spcAft>
                <a:spcPts val="500"/>
              </a:spcAft>
              <a:defRPr sz="1000">
                <a:solidFill>
                  <a:srgbClr val="94A3B8"/>
                </a:solidFill>
              </a:defRPr>
            </a:pPr>
            <a:r>
              <a:t>•  Anti-prompt-injection regex scanner inspects raw text.</a:t>
            </a:r>
          </a:p>
          <a:p>
            <a:pPr>
              <a:spcAft>
                <a:spcPts val="500"/>
              </a:spcAft>
              <a:defRPr sz="1000">
                <a:solidFill>
                  <a:srgbClr val="94A3B8"/>
                </a:solidFill>
              </a:defRPr>
            </a:pPr>
            <a:r>
              <a:t>•  Strips adversarial instructions and unprintable control characters.</a:t>
            </a:r>
          </a:p>
          <a:p>
            <a:pPr>
              <a:spcAft>
                <a:spcPts val="500"/>
              </a:spcAft>
              <a:defRPr sz="1000">
                <a:solidFill>
                  <a:srgbClr val="94A3B8"/>
                </a:solidFill>
              </a:defRPr>
            </a:pPr>
            <a:r>
              <a:t>•  Computes cryptographic SHA-256 tamper-proof packet hash.</a:t>
            </a:r>
          </a:p>
          <a:p>
            <a:pPr>
              <a:spcAft>
                <a:spcPts val="500"/>
              </a:spcAft>
              <a:defRPr sz="1000">
                <a:solidFill>
                  <a:srgbClr val="94A3B8"/>
                </a:solidFill>
              </a:defRPr>
            </a:pPr>
            <a:r>
              <a:t>•  Enforces strict patient tenant boundary isolation.</a:t>
            </a:r>
          </a:p>
        </p:txBody>
      </p:sp>
      <p:sp>
        <p:nvSpPr>
          <p:cNvPr id="9" name="Rounded Rectangle 8"/>
          <p:cNvSpPr/>
          <p:nvPr/>
        </p:nvSpPr>
        <p:spPr>
          <a:xfrm>
            <a:off x="603504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Stage 3: Evaluation</a:t>
            </a:r>
            <a:r>
              <a:rPr sz="950" b="1">
                <a:solidFill>
                  <a:srgbClr val="3B82F6"/>
                </a:solidFill>
              </a:rPr>
              <a:t>  [Intelligence]</a:t>
            </a:r>
          </a:p>
          <a:p>
            <a:pPr>
              <a:spcAft>
                <a:spcPts val="500"/>
              </a:spcAft>
              <a:defRPr sz="1000">
                <a:solidFill>
                  <a:srgbClr val="94A3B8"/>
                </a:solidFill>
              </a:defRPr>
            </a:pPr>
            <a:r>
              <a:t>•  Cross-references 10 high-risk drug interaction rules.</a:t>
            </a:r>
          </a:p>
          <a:p>
            <a:pPr>
              <a:spcAft>
                <a:spcPts val="500"/>
              </a:spcAft>
              <a:defRPr sz="1000">
                <a:solidFill>
                  <a:srgbClr val="94A3B8"/>
                </a:solidFill>
              </a:defRPr>
            </a:pPr>
            <a:r>
              <a:t>•  Matches 37 embedded clinical terminology dictionary items.</a:t>
            </a:r>
          </a:p>
          <a:p>
            <a:pPr>
              <a:spcAft>
                <a:spcPts val="500"/>
              </a:spcAft>
              <a:defRPr sz="1000">
                <a:solidFill>
                  <a:srgbClr val="94A3B8"/>
                </a:solidFill>
              </a:defRPr>
            </a:pPr>
            <a:r>
              <a:t>•  Computes MAP and evaluates AHA/ADA guideline categories.</a:t>
            </a:r>
          </a:p>
          <a:p>
            <a:pPr>
              <a:spcAft>
                <a:spcPts val="500"/>
              </a:spcAft>
              <a:defRPr sz="1000">
                <a:solidFill>
                  <a:srgbClr val="94A3B8"/>
                </a:solidFill>
              </a:defRPr>
            </a:pPr>
            <a:r>
              <a:t>•  Generates structured plain-language guidance via Gemini.</a:t>
            </a:r>
          </a:p>
        </p:txBody>
      </p:sp>
      <p:sp>
        <p:nvSpPr>
          <p:cNvPr id="11" name="Rounded Rectangle 10"/>
          <p:cNvSpPr/>
          <p:nvPr/>
        </p:nvSpPr>
        <p:spPr>
          <a:xfrm>
            <a:off x="8686800" y="1737360"/>
            <a:ext cx="246888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0" y="1901952"/>
            <a:ext cx="2103120" cy="4069080"/>
          </a:xfrm>
          <a:prstGeom prst="rect">
            <a:avLst/>
          </a:prstGeom>
          <a:noFill/>
        </p:spPr>
        <p:txBody>
          <a:bodyPr wrap="square" lIns="0" tIns="0" rIns="0" bIns="0">
            <a:spAutoFit/>
          </a:bodyPr>
          <a:lstStyle/>
          <a:p>
            <a:pPr>
              <a:spcAft>
                <a:spcPts val="800"/>
              </a:spcAft>
              <a:defRPr sz="1300" b="1">
                <a:solidFill>
                  <a:srgbClr val="F8FAFC"/>
                </a:solidFill>
              </a:defRPr>
            </a:pPr>
            <a:r>
              <a:t>Stage 4: Triage</a:t>
            </a:r>
            <a:r>
              <a:rPr sz="950" b="1">
                <a:solidFill>
                  <a:srgbClr val="F59E0B"/>
                </a:solidFill>
              </a:rPr>
              <a:t>  [Resolution]</a:t>
            </a:r>
          </a:p>
          <a:p>
            <a:pPr>
              <a:spcAft>
                <a:spcPts val="500"/>
              </a:spcAft>
              <a:defRPr sz="1000">
                <a:solidFill>
                  <a:srgbClr val="94A3B8"/>
                </a:solidFill>
              </a:defRPr>
            </a:pPr>
            <a:r>
              <a:t>•  Persists validated records into PostgreSQL / SQLite database.</a:t>
            </a:r>
          </a:p>
          <a:p>
            <a:pPr>
              <a:spcAft>
                <a:spcPts val="500"/>
              </a:spcAft>
              <a:defRPr sz="1000">
                <a:solidFill>
                  <a:srgbClr val="94A3B8"/>
                </a:solidFill>
              </a:defRPr>
            </a:pPr>
            <a:r>
              <a:t>•  High-severity outliers trigger active alert in Doctor Queue.</a:t>
            </a:r>
          </a:p>
          <a:p>
            <a:pPr>
              <a:spcAft>
                <a:spcPts val="500"/>
              </a:spcAft>
              <a:defRPr sz="1000">
                <a:solidFill>
                  <a:srgbClr val="94A3B8"/>
                </a:solidFill>
              </a:defRPr>
            </a:pPr>
            <a:r>
              <a:t>•  Patient receives interactive 4-part card &amp; follow-up Q&amp;A.</a:t>
            </a:r>
          </a:p>
          <a:p>
            <a:pPr>
              <a:spcAft>
                <a:spcPts val="500"/>
              </a:spcAft>
              <a:defRPr sz="1000">
                <a:solidFill>
                  <a:srgbClr val="94A3B8"/>
                </a:solidFill>
              </a:defRPr>
            </a:pPr>
            <a:r>
              <a:t>•  Doctor reviews trend, records triage note, and resolves alert.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COMPLIANCE &amp; ETHICS</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Cybersecurity, Medical Safety &amp; Regulatory Alignment</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Upholding patient safety, ethical AI principles, and strict healthcare compliance.</a:t>
            </a:r>
          </a:p>
        </p:txBody>
      </p:sp>
      <p:sp>
        <p:nvSpPr>
          <p:cNvPr id="5" name="Rounded Rectangle 4"/>
          <p:cNvSpPr/>
          <p:nvPr/>
        </p:nvSpPr>
        <p:spPr>
          <a:xfrm>
            <a:off x="73152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Technical HIPAA Security Alignment</a:t>
            </a:r>
            <a:r>
              <a:rPr sz="950" b="1">
                <a:solidFill>
                  <a:srgbClr val="10B981"/>
                </a:solidFill>
              </a:rPr>
              <a:t>  [HIPAA Technicals]</a:t>
            </a:r>
          </a:p>
          <a:p>
            <a:pPr>
              <a:spcAft>
                <a:spcPts val="500"/>
              </a:spcAft>
              <a:defRPr sz="1000">
                <a:solidFill>
                  <a:srgbClr val="94A3B8"/>
                </a:solidFill>
              </a:defRPr>
            </a:pPr>
            <a:r>
              <a:t>•  Access Control (§164.312(a)): Role-based access tokens with 30-minute expiration.</a:t>
            </a:r>
          </a:p>
          <a:p>
            <a:pPr>
              <a:spcAft>
                <a:spcPts val="500"/>
              </a:spcAft>
              <a:defRPr sz="1000">
                <a:solidFill>
                  <a:srgbClr val="94A3B8"/>
                </a:solidFill>
              </a:defRPr>
            </a:pPr>
            <a:r>
              <a:t>•  Audit Controls (§164.312(b)): Immutable audit log tracking all PHI interactions.</a:t>
            </a:r>
          </a:p>
          <a:p>
            <a:pPr>
              <a:spcAft>
                <a:spcPts val="500"/>
              </a:spcAft>
              <a:defRPr sz="1000">
                <a:solidFill>
                  <a:srgbClr val="94A3B8"/>
                </a:solidFill>
              </a:defRPr>
            </a:pPr>
            <a:r>
              <a:t>•  Data Integrity (§164.312(c)): SHA-256 hashes verifying telemetry hasn't been altered.</a:t>
            </a:r>
          </a:p>
          <a:p>
            <a:pPr>
              <a:spcAft>
                <a:spcPts val="500"/>
              </a:spcAft>
              <a:defRPr sz="1000">
                <a:solidFill>
                  <a:srgbClr val="94A3B8"/>
                </a:solidFill>
              </a:defRPr>
            </a:pPr>
            <a:r>
              <a:t>•  Transmission Security (§164.312(e)): Mandatory TLS 1.3 encryption on all endpoints.</a:t>
            </a:r>
          </a:p>
        </p:txBody>
      </p:sp>
      <p:sp>
        <p:nvSpPr>
          <p:cNvPr id="7" name="Rounded Rectangle 6"/>
          <p:cNvSpPr/>
          <p:nvPr/>
        </p:nvSpPr>
        <p:spPr>
          <a:xfrm>
            <a:off x="6309360" y="1737360"/>
            <a:ext cx="512064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1783080"/>
          </a:xfrm>
          <a:prstGeom prst="rect">
            <a:avLst/>
          </a:prstGeom>
          <a:noFill/>
        </p:spPr>
        <p:txBody>
          <a:bodyPr wrap="square" lIns="0" tIns="0" rIns="0" bIns="0">
            <a:spAutoFit/>
          </a:bodyPr>
          <a:lstStyle/>
          <a:p>
            <a:pPr>
              <a:spcAft>
                <a:spcPts val="800"/>
              </a:spcAft>
              <a:defRPr sz="1300" b="1">
                <a:solidFill>
                  <a:srgbClr val="F8FAFC"/>
                </a:solidFill>
              </a:defRPr>
            </a:pPr>
            <a:r>
              <a:t>Medical AI Ethics &amp; Safety Boundaries</a:t>
            </a:r>
            <a:r>
              <a:rPr sz="950" b="1">
                <a:solidFill>
                  <a:srgbClr val="10B981"/>
                </a:solidFill>
              </a:rPr>
              <a:t>  [AI Safety Core]</a:t>
            </a:r>
          </a:p>
          <a:p>
            <a:pPr>
              <a:spcAft>
                <a:spcPts val="500"/>
              </a:spcAft>
              <a:defRPr sz="1000">
                <a:solidFill>
                  <a:srgbClr val="94A3B8"/>
                </a:solidFill>
              </a:defRPr>
            </a:pPr>
            <a:r>
              <a:t>•  No Independent Diagnostic Claims: Software provides educational decision support only.</a:t>
            </a:r>
          </a:p>
          <a:p>
            <a:pPr>
              <a:spcAft>
                <a:spcPts val="500"/>
              </a:spcAft>
              <a:defRPr sz="1000">
                <a:solidFill>
                  <a:srgbClr val="94A3B8"/>
                </a:solidFill>
              </a:defRPr>
            </a:pPr>
            <a:r>
              <a:t>•  Mandatory Disclaimers: Prominent legal disclaimers on every AI response and summary.</a:t>
            </a:r>
          </a:p>
          <a:p>
            <a:pPr>
              <a:spcAft>
                <a:spcPts val="500"/>
              </a:spcAft>
              <a:defRPr sz="1000">
                <a:solidFill>
                  <a:srgbClr val="94A3B8"/>
                </a:solidFill>
              </a:defRPr>
            </a:pPr>
            <a:r>
              <a:t>•  Grounding over Hallucination: Explanations are strictly bound to document text.</a:t>
            </a:r>
          </a:p>
          <a:p>
            <a:pPr>
              <a:spcAft>
                <a:spcPts val="500"/>
              </a:spcAft>
              <a:defRPr sz="1000">
                <a:solidFill>
                  <a:srgbClr val="94A3B8"/>
                </a:solidFill>
              </a:defRPr>
            </a:pPr>
            <a:r>
              <a:t>•  Anti-Injection Guard: Prevents adversarial prompts from corrupting clinical advice.</a:t>
            </a:r>
          </a:p>
        </p:txBody>
      </p:sp>
      <p:sp>
        <p:nvSpPr>
          <p:cNvPr id="9" name="Rounded Rectangle 8"/>
          <p:cNvSpPr/>
          <p:nvPr/>
        </p:nvSpPr>
        <p:spPr>
          <a:xfrm>
            <a:off x="731520" y="4023360"/>
            <a:ext cx="106984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87952"/>
            <a:ext cx="10332720" cy="1783080"/>
          </a:xfrm>
          <a:prstGeom prst="rect">
            <a:avLst/>
          </a:prstGeom>
          <a:noFill/>
        </p:spPr>
        <p:txBody>
          <a:bodyPr wrap="square" lIns="0" tIns="0" rIns="0" bIns="0">
            <a:spAutoFit/>
          </a:bodyPr>
          <a:lstStyle/>
          <a:p>
            <a:pPr>
              <a:spcAft>
                <a:spcPts val="800"/>
              </a:spcAft>
              <a:defRPr sz="1300" b="1">
                <a:solidFill>
                  <a:srgbClr val="F8FAFC"/>
                </a:solidFill>
              </a:defRPr>
            </a:pPr>
            <a:r>
              <a:t>Prerequisites for Real-World Clinical Deployment (Honest Roadmap)</a:t>
            </a:r>
            <a:r>
              <a:rPr sz="950" b="1">
                <a:solidFill>
                  <a:srgbClr val="F59E0B"/>
                </a:solidFill>
              </a:rPr>
              <a:t>  [Regulatory Roadmap]</a:t>
            </a:r>
          </a:p>
          <a:p>
            <a:pPr>
              <a:spcAft>
                <a:spcPts val="500"/>
              </a:spcAft>
              <a:defRPr sz="1000">
                <a:solidFill>
                  <a:srgbClr val="94A3B8"/>
                </a:solidFill>
              </a:defRPr>
            </a:pPr>
            <a:r>
              <a:t>•  1. Clinical Validation Trials: Prospective institutional studies evaluating diagnostic accuracy against board-certified clinical panels.</a:t>
            </a:r>
          </a:p>
          <a:p>
            <a:pPr>
              <a:spcAft>
                <a:spcPts val="500"/>
              </a:spcAft>
              <a:defRPr sz="1000">
                <a:solidFill>
                  <a:srgbClr val="94A3B8"/>
                </a:solidFill>
              </a:defRPr>
            </a:pPr>
            <a:r>
              <a:t>•  2. Business Associate Agreements (BAA): Formal legal contracts with cloud providers (Render, Google Cloud) guaranteeing HIPAA compliance.</a:t>
            </a:r>
          </a:p>
          <a:p>
            <a:pPr>
              <a:spcAft>
                <a:spcPts val="500"/>
              </a:spcAft>
              <a:defRPr sz="1000">
                <a:solidFill>
                  <a:srgbClr val="94A3B8"/>
                </a:solidFill>
              </a:defRPr>
            </a:pPr>
            <a:r>
              <a:t>•  3. Regulatory Strategy: Investigation of FDA 510(k) clearance or Software as a Medical Device (SaMD) requirements prior to commercialization.</a:t>
            </a:r>
          </a:p>
          <a:p>
            <a:pPr>
              <a:spcAft>
                <a:spcPts val="500"/>
              </a:spcAft>
              <a:defRPr sz="1000">
                <a:solidFill>
                  <a:srgbClr val="94A3B8"/>
                </a:solidFill>
              </a:defRPr>
            </a:pPr>
            <a:r>
              <a:t>•  4. SOC 2 Type II Certification: Formal third-party penetration testing and operational cybersecurity auditing.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FUTURE EVOLUTION</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Strategic 6-Phase Enterprise Implementation Roadmap</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A pragmatic, risk-weighted pathway from current prototype to commercial enterprise maturity.</a:t>
            </a:r>
          </a:p>
        </p:txBody>
      </p:sp>
      <p:sp>
        <p:nvSpPr>
          <p:cNvPr id="5" name="Rounded Rectangle 4"/>
          <p:cNvSpPr/>
          <p:nvPr/>
        </p:nvSpPr>
        <p:spPr>
          <a:xfrm>
            <a:off x="731520" y="1737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Phase 1: Reliability &amp; Testing</a:t>
            </a:r>
            <a:r>
              <a:rPr sz="950" b="1">
                <a:solidFill>
                  <a:srgbClr val="10B981"/>
                </a:solidFill>
              </a:rPr>
              <a:t>  [Phase 1]</a:t>
            </a:r>
          </a:p>
          <a:p>
            <a:pPr>
              <a:spcAft>
                <a:spcPts val="500"/>
              </a:spcAft>
              <a:defRPr sz="1000">
                <a:solidFill>
                  <a:srgbClr val="94A3B8"/>
                </a:solidFill>
              </a:defRPr>
            </a:pPr>
            <a:r>
              <a:t>•  100% automated pytest coverage.</a:t>
            </a:r>
          </a:p>
          <a:p>
            <a:pPr>
              <a:spcAft>
                <a:spcPts val="500"/>
              </a:spcAft>
              <a:defRPr sz="1000">
                <a:solidFill>
                  <a:srgbClr val="94A3B8"/>
                </a:solidFill>
              </a:defRPr>
            </a:pPr>
            <a:r>
              <a:t>•  Frontend chunk retention &amp; recovery.</a:t>
            </a:r>
          </a:p>
          <a:p>
            <a:pPr>
              <a:spcAft>
                <a:spcPts val="500"/>
              </a:spcAft>
              <a:defRPr sz="1000">
                <a:solidFill>
                  <a:srgbClr val="94A3B8"/>
                </a:solidFill>
              </a:defRPr>
            </a:pPr>
            <a:r>
              <a:t>•  Deterministic fallback validation.</a:t>
            </a:r>
          </a:p>
          <a:p>
            <a:pPr>
              <a:spcAft>
                <a:spcPts val="500"/>
              </a:spcAft>
              <a:defRPr sz="1000">
                <a:solidFill>
                  <a:srgbClr val="94A3B8"/>
                </a:solidFill>
              </a:defRPr>
            </a:pPr>
            <a:r>
              <a:t>•  Status: COMPLETED &amp; VERIFIED.</a:t>
            </a:r>
          </a:p>
        </p:txBody>
      </p:sp>
      <p:sp>
        <p:nvSpPr>
          <p:cNvPr id="7" name="Rounded Rectangle 6"/>
          <p:cNvSpPr/>
          <p:nvPr/>
        </p:nvSpPr>
        <p:spPr>
          <a:xfrm>
            <a:off x="4389120" y="1737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01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Phase 2: Clinical Grounding</a:t>
            </a:r>
            <a:r>
              <a:rPr sz="950" b="1">
                <a:solidFill>
                  <a:srgbClr val="00B4D8"/>
                </a:solidFill>
              </a:rPr>
              <a:t>  [Phase 2]</a:t>
            </a:r>
          </a:p>
          <a:p>
            <a:pPr>
              <a:spcAft>
                <a:spcPts val="500"/>
              </a:spcAft>
              <a:defRPr sz="1000">
                <a:solidFill>
                  <a:srgbClr val="94A3B8"/>
                </a:solidFill>
              </a:defRPr>
            </a:pPr>
            <a:r>
              <a:t>•  Expanded 100+ clinical term dictionary.</a:t>
            </a:r>
          </a:p>
          <a:p>
            <a:pPr>
              <a:spcAft>
                <a:spcPts val="500"/>
              </a:spcAft>
              <a:defRPr sz="1000">
                <a:solidFill>
                  <a:srgbClr val="94A3B8"/>
                </a:solidFill>
              </a:defRPr>
            </a:pPr>
            <a:r>
              <a:t>•  Multi-medication interaction graph.</a:t>
            </a:r>
          </a:p>
          <a:p>
            <a:pPr>
              <a:spcAft>
                <a:spcPts val="500"/>
              </a:spcAft>
              <a:defRPr sz="1000">
                <a:solidFill>
                  <a:srgbClr val="94A3B8"/>
                </a:solidFill>
              </a:defRPr>
            </a:pPr>
            <a:r>
              <a:t>•  RAG vector indexing of patient history.</a:t>
            </a:r>
          </a:p>
          <a:p>
            <a:pPr>
              <a:spcAft>
                <a:spcPts val="500"/>
              </a:spcAft>
              <a:defRPr sz="1000">
                <a:solidFill>
                  <a:srgbClr val="94A3B8"/>
                </a:solidFill>
              </a:defRPr>
            </a:pPr>
            <a:r>
              <a:t>•  Status: ARCHITECTED / IN PROGRESS.</a:t>
            </a:r>
          </a:p>
        </p:txBody>
      </p:sp>
      <p:sp>
        <p:nvSpPr>
          <p:cNvPr id="9" name="Rounded Rectangle 8"/>
          <p:cNvSpPr/>
          <p:nvPr/>
        </p:nvSpPr>
        <p:spPr>
          <a:xfrm>
            <a:off x="8046720" y="1737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01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Phase 3: Security &amp; Identity</a:t>
            </a:r>
            <a:r>
              <a:rPr sz="950" b="1">
                <a:solidFill>
                  <a:srgbClr val="3B82F6"/>
                </a:solidFill>
              </a:rPr>
              <a:t>  [Phase 3]</a:t>
            </a:r>
          </a:p>
          <a:p>
            <a:pPr>
              <a:spcAft>
                <a:spcPts val="500"/>
              </a:spcAft>
              <a:defRPr sz="1000">
                <a:solidFill>
                  <a:srgbClr val="94A3B8"/>
                </a:solidFill>
              </a:defRPr>
            </a:pPr>
            <a:r>
              <a:t>•  Hospital SSO (SAML 2.0 / OIDC).</a:t>
            </a:r>
          </a:p>
          <a:p>
            <a:pPr>
              <a:spcAft>
                <a:spcPts val="500"/>
              </a:spcAft>
              <a:defRPr sz="1000">
                <a:solidFill>
                  <a:srgbClr val="94A3B8"/>
                </a:solidFill>
              </a:defRPr>
            </a:pPr>
            <a:r>
              <a:t>•  Fine-grained ABAC permissions.</a:t>
            </a:r>
          </a:p>
          <a:p>
            <a:pPr>
              <a:spcAft>
                <a:spcPts val="500"/>
              </a:spcAft>
              <a:defRPr sz="1000">
                <a:solidFill>
                  <a:srgbClr val="94A3B8"/>
                </a:solidFill>
              </a:defRPr>
            </a:pPr>
            <a:r>
              <a:t>•  Encrypted object storage for uploads.</a:t>
            </a:r>
          </a:p>
          <a:p>
            <a:pPr>
              <a:spcAft>
                <a:spcPts val="500"/>
              </a:spcAft>
              <a:defRPr sz="1000">
                <a:solidFill>
                  <a:srgbClr val="94A3B8"/>
                </a:solidFill>
              </a:defRPr>
            </a:pPr>
            <a:r>
              <a:t>•  Status: ROADMAP.</a:t>
            </a:r>
          </a:p>
        </p:txBody>
      </p:sp>
      <p:sp>
        <p:nvSpPr>
          <p:cNvPr id="11" name="Rounded Rectangle 10"/>
          <p:cNvSpPr/>
          <p:nvPr/>
        </p:nvSpPr>
        <p:spPr>
          <a:xfrm>
            <a:off x="731520" y="4023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87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Phase 4: EHR Interoperability</a:t>
            </a:r>
            <a:r>
              <a:rPr sz="950" b="1">
                <a:solidFill>
                  <a:srgbClr val="3B82F6"/>
                </a:solidFill>
              </a:rPr>
              <a:t>  [Phase 4]</a:t>
            </a:r>
          </a:p>
          <a:p>
            <a:pPr>
              <a:spcAft>
                <a:spcPts val="500"/>
              </a:spcAft>
              <a:defRPr sz="1000">
                <a:solidFill>
                  <a:srgbClr val="94A3B8"/>
                </a:solidFill>
              </a:defRPr>
            </a:pPr>
            <a:r>
              <a:t>•  HL7 FHIR v4.0.1 bidirectional sync.</a:t>
            </a:r>
          </a:p>
          <a:p>
            <a:pPr>
              <a:spcAft>
                <a:spcPts val="500"/>
              </a:spcAft>
              <a:defRPr sz="1000">
                <a:solidFill>
                  <a:srgbClr val="94A3B8"/>
                </a:solidFill>
              </a:defRPr>
            </a:pPr>
            <a:r>
              <a:t>•  Direct integration with Epic / Cerner.</a:t>
            </a:r>
          </a:p>
          <a:p>
            <a:pPr>
              <a:spcAft>
                <a:spcPts val="500"/>
              </a:spcAft>
              <a:defRPr sz="1000">
                <a:solidFill>
                  <a:srgbClr val="94A3B8"/>
                </a:solidFill>
              </a:defRPr>
            </a:pPr>
            <a:r>
              <a:t>•  SMART on FHIR clinical app launch.</a:t>
            </a:r>
          </a:p>
          <a:p>
            <a:pPr>
              <a:spcAft>
                <a:spcPts val="500"/>
              </a:spcAft>
              <a:defRPr sz="1000">
                <a:solidFill>
                  <a:srgbClr val="94A3B8"/>
                </a:solidFill>
              </a:defRPr>
            </a:pPr>
            <a:r>
              <a:t>•  Status: ROADMAP.</a:t>
            </a:r>
          </a:p>
        </p:txBody>
      </p:sp>
      <p:sp>
        <p:nvSpPr>
          <p:cNvPr id="13" name="Rounded Rectangle 12"/>
          <p:cNvSpPr/>
          <p:nvPr/>
        </p:nvSpPr>
        <p:spPr>
          <a:xfrm>
            <a:off x="4389120" y="4023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187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Phase 5: Pilot Evaluation</a:t>
            </a:r>
            <a:r>
              <a:rPr sz="950" b="1">
                <a:solidFill>
                  <a:srgbClr val="F59E0B"/>
                </a:solidFill>
              </a:rPr>
              <a:t>  [Phase 5]</a:t>
            </a:r>
          </a:p>
          <a:p>
            <a:pPr>
              <a:spcAft>
                <a:spcPts val="500"/>
              </a:spcAft>
              <a:defRPr sz="1000">
                <a:solidFill>
                  <a:srgbClr val="94A3B8"/>
                </a:solidFill>
              </a:defRPr>
            </a:pPr>
            <a:r>
              <a:t>•  Usability studies with 50+ patients.</a:t>
            </a:r>
          </a:p>
          <a:p>
            <a:pPr>
              <a:spcAft>
                <a:spcPts val="500"/>
              </a:spcAft>
              <a:defRPr sz="1000">
                <a:solidFill>
                  <a:srgbClr val="94A3B8"/>
                </a:solidFill>
              </a:defRPr>
            </a:pPr>
            <a:r>
              <a:t>•  Clinician intake time reduction metrics.</a:t>
            </a:r>
          </a:p>
          <a:p>
            <a:pPr>
              <a:spcAft>
                <a:spcPts val="500"/>
              </a:spcAft>
              <a:defRPr sz="1000">
                <a:solidFill>
                  <a:srgbClr val="94A3B8"/>
                </a:solidFill>
              </a:defRPr>
            </a:pPr>
            <a:r>
              <a:t>•  Patient health literacy assessment.</a:t>
            </a:r>
          </a:p>
          <a:p>
            <a:pPr>
              <a:spcAft>
                <a:spcPts val="500"/>
              </a:spcAft>
              <a:defRPr sz="1000">
                <a:solidFill>
                  <a:srgbClr val="94A3B8"/>
                </a:solidFill>
              </a:defRPr>
            </a:pPr>
            <a:r>
              <a:t>•  Status: ROADMAP.</a:t>
            </a:r>
          </a:p>
        </p:txBody>
      </p:sp>
      <p:sp>
        <p:nvSpPr>
          <p:cNvPr id="15" name="Rounded Rectangle 14"/>
          <p:cNvSpPr/>
          <p:nvPr/>
        </p:nvSpPr>
        <p:spPr>
          <a:xfrm>
            <a:off x="8046720" y="4023360"/>
            <a:ext cx="3383280" cy="2103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4187952"/>
            <a:ext cx="3017520" cy="1783080"/>
          </a:xfrm>
          <a:prstGeom prst="rect">
            <a:avLst/>
          </a:prstGeom>
          <a:noFill/>
        </p:spPr>
        <p:txBody>
          <a:bodyPr wrap="square" lIns="0" tIns="0" rIns="0" bIns="0">
            <a:spAutoFit/>
          </a:bodyPr>
          <a:lstStyle/>
          <a:p>
            <a:pPr>
              <a:spcAft>
                <a:spcPts val="800"/>
              </a:spcAft>
              <a:defRPr sz="1300" b="1">
                <a:solidFill>
                  <a:srgbClr val="F8FAFC"/>
                </a:solidFill>
              </a:defRPr>
            </a:pPr>
            <a:r>
              <a:t>Phase 6: Regulatory Clearance</a:t>
            </a:r>
            <a:r>
              <a:rPr sz="950" b="1">
                <a:solidFill>
                  <a:srgbClr val="F59E0B"/>
                </a:solidFill>
              </a:rPr>
              <a:t>  [Phase 6]</a:t>
            </a:r>
          </a:p>
          <a:p>
            <a:pPr>
              <a:spcAft>
                <a:spcPts val="500"/>
              </a:spcAft>
              <a:defRPr sz="1000">
                <a:solidFill>
                  <a:srgbClr val="94A3B8"/>
                </a:solidFill>
              </a:defRPr>
            </a:pPr>
            <a:r>
              <a:t>•  FDA 510(k) / SaMD pre-submission.</a:t>
            </a:r>
          </a:p>
          <a:p>
            <a:pPr>
              <a:spcAft>
                <a:spcPts val="500"/>
              </a:spcAft>
              <a:defRPr sz="1000">
                <a:solidFill>
                  <a:srgbClr val="94A3B8"/>
                </a:solidFill>
              </a:defRPr>
            </a:pPr>
            <a:r>
              <a:t>•  Prospective clinical validation trials.</a:t>
            </a:r>
          </a:p>
          <a:p>
            <a:pPr>
              <a:spcAft>
                <a:spcPts val="500"/>
              </a:spcAft>
              <a:defRPr sz="1000">
                <a:solidFill>
                  <a:srgbClr val="94A3B8"/>
                </a:solidFill>
              </a:defRPr>
            </a:pPr>
            <a:r>
              <a:t>•  Third-party SOC 2 Type II audit.</a:t>
            </a:r>
          </a:p>
          <a:p>
            <a:pPr>
              <a:spcAft>
                <a:spcPts val="500"/>
              </a:spcAft>
              <a:defRPr sz="1000">
                <a:solidFill>
                  <a:srgbClr val="94A3B8"/>
                </a:solidFill>
              </a:defRPr>
            </a:pPr>
            <a:r>
              <a:t>•  Status: ROADMAP.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0E17"/>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900" b="1">
                <a:solidFill>
                  <a:srgbClr val="00B4D8"/>
                </a:solidFill>
              </a:defRPr>
            </a:pPr>
            <a:r>
              <a:t>EVALUATION &amp; NEXT STEPS</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Conclusion: Ready for Live Demonstration &amp; Partnerships</a:t>
            </a:r>
          </a:p>
        </p:txBody>
      </p:sp>
      <p:sp>
        <p:nvSpPr>
          <p:cNvPr id="4" name="TextBox 3"/>
          <p:cNvSpPr txBox="1"/>
          <p:nvPr/>
        </p:nvSpPr>
        <p:spPr>
          <a:xfrm>
            <a:off x="731520" y="1234440"/>
            <a:ext cx="10698480" cy="365760"/>
          </a:xfrm>
          <a:prstGeom prst="rect">
            <a:avLst/>
          </a:prstGeom>
          <a:noFill/>
        </p:spPr>
        <p:txBody>
          <a:bodyPr wrap="square" lIns="0" tIns="0" rIns="0" bIns="0">
            <a:spAutoFit/>
          </a:bodyPr>
          <a:lstStyle/>
          <a:p>
            <a:pPr>
              <a:defRPr sz="1100">
                <a:solidFill>
                  <a:srgbClr val="94A3B8"/>
                </a:solidFill>
              </a:defRPr>
            </a:pPr>
            <a:r>
              <a:t>Summary of verified achievements, production accessibility, and open discussion.</a:t>
            </a:r>
          </a:p>
        </p:txBody>
      </p:sp>
      <p:sp>
        <p:nvSpPr>
          <p:cNvPr id="5" name="Rounded Rectangle 4"/>
          <p:cNvSpPr/>
          <p:nvPr/>
        </p:nvSpPr>
        <p:spPr>
          <a:xfrm>
            <a:off x="73152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Key Takeaways for Stakeholders</a:t>
            </a:r>
            <a:r>
              <a:rPr sz="950" b="1">
                <a:solidFill>
                  <a:srgbClr val="00B4D8"/>
                </a:solidFill>
              </a:rPr>
              <a:t>  [Summary Highlights]</a:t>
            </a:r>
          </a:p>
          <a:p>
            <a:pPr>
              <a:spcAft>
                <a:spcPts val="500"/>
              </a:spcAft>
              <a:defRPr sz="1000">
                <a:solidFill>
                  <a:srgbClr val="94A3B8"/>
                </a:solidFill>
              </a:defRPr>
            </a:pPr>
            <a:r>
              <a:t>•  Proven Architecture: Decoupled React 18 SPA + FastAPI Python backend running live on Render.</a:t>
            </a:r>
          </a:p>
          <a:p>
            <a:pPr>
              <a:spcAft>
                <a:spcPts val="500"/>
              </a:spcAft>
              <a:defRPr sz="1000">
                <a:solidFill>
                  <a:srgbClr val="94A3B8"/>
                </a:solidFill>
              </a:defRPr>
            </a:pPr>
            <a:r>
              <a:t>•  Deterministic Safety First: Clinical guidelines (AHA/ADA) and drug-drug interactions execute reliably with or without cloud AI.</a:t>
            </a:r>
          </a:p>
          <a:p>
            <a:pPr>
              <a:spcAft>
                <a:spcPts val="500"/>
              </a:spcAft>
              <a:defRPr sz="1000">
                <a:solidFill>
                  <a:srgbClr val="94A3B8"/>
                </a:solidFill>
              </a:defRPr>
            </a:pPr>
            <a:r>
              <a:t>•  Human-Centered Design: Empowers patients with clear 4-part explanations and an interactive 3D Body Map.</a:t>
            </a:r>
          </a:p>
          <a:p>
            <a:pPr>
              <a:spcAft>
                <a:spcPts val="500"/>
              </a:spcAft>
              <a:defRPr sz="1000">
                <a:solidFill>
                  <a:srgbClr val="94A3B8"/>
                </a:solidFill>
              </a:defRPr>
            </a:pPr>
            <a:r>
              <a:t>•  Clinician Decision Support: Prioritized triage queue and longitudinal Mean Arterial Pressure monitoring.</a:t>
            </a:r>
          </a:p>
          <a:p>
            <a:pPr>
              <a:spcAft>
                <a:spcPts val="500"/>
              </a:spcAft>
              <a:defRPr sz="1000">
                <a:solidFill>
                  <a:srgbClr val="94A3B8"/>
                </a:solidFill>
              </a:defRPr>
            </a:pPr>
            <a:r>
              <a:t>•  Audit-Ready Governance: Master Patient Index and immutable HIPAA-aligned access logging.</a:t>
            </a:r>
          </a:p>
          <a:p>
            <a:pPr>
              <a:spcAft>
                <a:spcPts val="500"/>
              </a:spcAft>
              <a:defRPr sz="1000">
                <a:solidFill>
                  <a:srgbClr val="94A3B8"/>
                </a:solidFill>
              </a:defRPr>
            </a:pPr>
            <a:r>
              <a:t>•  Immediate Evaluation: Live instance accessible right now with pre-seeded demo personas.</a:t>
            </a:r>
          </a:p>
        </p:txBody>
      </p:sp>
      <p:sp>
        <p:nvSpPr>
          <p:cNvPr id="7" name="Rounded Rectangle 6"/>
          <p:cNvSpPr/>
          <p:nvPr/>
        </p:nvSpPr>
        <p:spPr>
          <a:xfrm>
            <a:off x="6309360" y="1737360"/>
            <a:ext cx="5120640" cy="4389120"/>
          </a:xfrm>
          <a:prstGeom prst="roundRect">
            <a:avLst/>
          </a:prstGeom>
          <a:solidFill>
            <a:srgbClr val="131F33"/>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01952"/>
            <a:ext cx="4754880" cy="4069080"/>
          </a:xfrm>
          <a:prstGeom prst="rect">
            <a:avLst/>
          </a:prstGeom>
          <a:noFill/>
        </p:spPr>
        <p:txBody>
          <a:bodyPr wrap="square" lIns="0" tIns="0" rIns="0" bIns="0">
            <a:spAutoFit/>
          </a:bodyPr>
          <a:lstStyle/>
          <a:p>
            <a:pPr>
              <a:spcAft>
                <a:spcPts val="800"/>
              </a:spcAft>
              <a:defRPr sz="1300" b="1">
                <a:solidFill>
                  <a:srgbClr val="F8FAFC"/>
                </a:solidFill>
              </a:defRPr>
            </a:pPr>
            <a:r>
              <a:t>Recommended Live Walkthrough (3-5 Min)</a:t>
            </a:r>
            <a:r>
              <a:rPr sz="950" b="1">
                <a:solidFill>
                  <a:srgbClr val="10B981"/>
                </a:solidFill>
              </a:rPr>
              <a:t>  [Live Demo Plan]</a:t>
            </a:r>
          </a:p>
          <a:p>
            <a:pPr>
              <a:spcAft>
                <a:spcPts val="500"/>
              </a:spcAft>
              <a:defRPr sz="1000">
                <a:solidFill>
                  <a:srgbClr val="94A3B8"/>
                </a:solidFill>
              </a:defRPr>
            </a:pPr>
            <a:r>
              <a:t>•  1. Patient Login: Sign in as Alice Johnson (alice.johnson@medicare.ai) into the Patient Dashboard.</a:t>
            </a:r>
          </a:p>
          <a:p>
            <a:pPr>
              <a:spcAft>
                <a:spcPts val="500"/>
              </a:spcAft>
              <a:defRPr sz="1000">
                <a:solidFill>
                  <a:srgbClr val="94A3B8"/>
                </a:solidFill>
              </a:defRPr>
            </a:pPr>
            <a:r>
              <a:t>•  2. Digital Twin Exploration: Interact with Cardiovascular and Metabolic zones on the Anatomical Body Map.</a:t>
            </a:r>
          </a:p>
          <a:p>
            <a:pPr>
              <a:spcAft>
                <a:spcPts val="500"/>
              </a:spcAft>
              <a:defRPr sz="1000">
                <a:solidFill>
                  <a:srgbClr val="94A3B8"/>
                </a:solidFill>
              </a:defRPr>
            </a:pPr>
            <a:r>
              <a:t>•  3. VitalSense Telemetry: Log home blood pressure reading (145/92 mmHg) and observe instant MAP calculation (109.7 mmHg).</a:t>
            </a:r>
          </a:p>
          <a:p>
            <a:pPr>
              <a:spcAft>
                <a:spcPts val="500"/>
              </a:spcAft>
              <a:defRPr sz="1000">
                <a:solidFill>
                  <a:srgbClr val="94A3B8"/>
                </a:solidFill>
              </a:defRPr>
            </a:pPr>
            <a:r>
              <a:t>•  4. Doctor Triage Queue: Switch to Dr. Sarah Chen (dr.sarah.chen@medicare.ai) and observe Alice's active Stage 2 HTN alert.</a:t>
            </a:r>
          </a:p>
          <a:p>
            <a:pPr>
              <a:spcAft>
                <a:spcPts val="500"/>
              </a:spcAft>
              <a:defRPr sz="1000">
                <a:solidFill>
                  <a:srgbClr val="94A3B8"/>
                </a:solidFill>
              </a:defRPr>
            </a:pPr>
            <a:r>
              <a:t>•  5. Action &amp; Resolution: Record a clinical note, resolve the alert, and verify the timestamped audit log entry.</a:t>
            </a:r>
          </a:p>
          <a:p>
            <a:pPr>
              <a:spcAft>
                <a:spcPts val="500"/>
              </a:spcAft>
              <a:defRPr sz="1000">
                <a:solidFill>
                  <a:srgbClr val="94A3B8"/>
                </a:solidFill>
              </a:defRPr>
            </a:pPr>
            <a:r>
              <a:t>•  6. Open Discussion: Questions on architecture, clinical safety, and pilot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