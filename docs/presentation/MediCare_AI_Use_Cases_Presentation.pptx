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 are presenting a comprehensive, code-verified audit of the ten core use cases of the MediCare AI Healthcare Management Platform. Unlike conceptual pitch decks that present speculative wireframes, every single use case, component, and pipeline shown in this deck is grounded directly in our production codebase, currently deployed live on Render. We will walk through the real-world healthcare problems, intended user personas, step-by-step user journeys, technical services, clinical benefits, implementation status, and the validation required before full hospital deployment. Let's explore how MediCare AI bridges clinical conservatism with modern artificial intelligence.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establishes our complete system taxonomy. We organize the ten use cases into three logical operational domains: First, Patient Engagement: covering the Unified Health Dashboard, Prescription Document Analysis, Medical Report Explanation, Grounded AI Q&amp;A, and Appointment/Medication Organization. Second, Clinical Telemetry and Triage: encompassing VitalSense Measurement Trends, Doctor Alert Workflows, and Previous Analysis History. Third, Research and Governance: featuring our PPG Optical-Sensing Educational Lab and Role-Specific Patient, Doctor, and Admin Workflows. Notice our explicit status tagging: 8 use cases are fully verified and live in production, 3 feature deterministic offline fallbacks, and 1 is explicitly maintained as an educational research simulation. Let's examine each use case individually.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Case 1 addresses health data fragmentation. When patients log into MediCare AI, they land on the Unified Patient Health Dashboard in Dashboard.tsx. Rather than forcing patients to click through multiple tabs, the dashboard aggregates upcoming appointments, active medications, recent lab reports, and vital signs in parallel using Promise.allSettled. A central innovation is our interactive 5-zone anatomical body map, BodyMap.tsx, which provides intuitive visual feedback on cardiovascular, respiratory, and metabolic systems. In production, this is verified live. Prior to real-world hospital rollout, we must conduct formal usability testing with elderly patients and achieve WCAG 2.1 AA accessibility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Case 2 is Prescription Document Analysis. In real life, polypharmacy patients frequently confuse dosing or take conflicting drugs. In PrescriptionPipeline.py, we implement a secure multi-stage ingestion pipeline. First, we validate magic bytes to prevent malicious file uploads. Next, we sanitize extracted text to strip adversarial prompt injections. Our entity parser extracts drug name, strength, route, and frequency. Crucially, before any AI generation takes place, the system deterministically evaluates a verified 10-rule clinical interaction matrix in medical_knowledge_service.py. If Warfarin and Ibuprofen are co-detected, it flags a Critical Hemorrhage Risk immediately, regardless of whether cloud AI is online. Before hospital deployment, we will benchmark this against a 500-sample real-world cursive prescription dataset.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Case 3 tackles the confusion surrounding medical reports and lab results. When patients see a red 'HIGH' flag on their eGFR or ALT, panic ensues. In MedicalReportPipeline.py, our engine parses the report's reference intervals and maps complex terms against a verified 37-term medical dictionary. Instead of an unconstrained AI response, we enforce a strict 4-part translation framework: Part 1: An executive plain-language summary. Part 2: Key findings and what they mean. Part 3: Clinical boundaries—explicitly stating what the report does NOT establish, preventing premature self-diagnosis. Part 4: Specific questions to ask their doctor, plus red-flag symptoms requiring emergency evaluation. This operates in production with full offline resilience.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Case 4 is AI Health Q&amp;A Grounded in Available Patient Records. Most healthcare chatbots on the market are generic wrappers that know nothing about the patient. In MediCare AI, before a prompt reaches Google Gemini, our backend helper _resolve_patient_context in ai.py extracts the patient's verified Master Record Number, their active prescriptions from the prescriptions table, and recent clinical diagnoses from medical_records. If a patient asks, 'Can I take ibuprofen for my headache?', the model does not give a generic answer. It recognizes they are taking Lisinopril and explains the specific risk of NSAID-induced renal vasoconstriction. Furthermore, our red-flag detector intercepts acute symptoms like chest pain or numbness, immediately advising the patient to seek emergency care.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Case 5 covers VitalSense Measurement History and Trends. In-office blood pressure readings are notorious for white-coat effect. VitalSense enables patients to track home blood pressure and blood glucose with strict physiological validation. When a patient logs blood pressure, vitals.py verifies physiological plausibility, deterministically computes Mean Arterial Pressure using the clinical one-third formula, and classifies the reading according to AHA guidelines. A vital architectural safeguard in our database model is Data Provenance: simulated demo readings are flagged with is_sample=True. Our clear-demo-data endpoint purges test telemetry with an atomic SQL query, guaranteeing that simulated readings can never pollute a real patient's clinical history.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Case 6 addresses one of the biggest failures in digital health: clinical alarm fatigue. When raw vitals stream into a clinic, doctors drown in notifications. MediCare AI solves this through intelligent triage in alert_engine.py. Only true Stage 2 hypertension and glycemic emergencies generate high-priority VitalAlert records. In vitals.py at line 1517, the /doctor/alerts endpoint enforces explicit consent: a doctor can only see alerts for patients who have signed a VitalSharingConsent record. When the physician actions the alert in DoctorAlertQueue.tsx, they record their clinical reasoning in a modal. The alert permanently updates to RESOLVED, logging the doctor's ID and timestamp for medical-legal audit defense. This is closed-loop care.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Case 7 focuses on Appointment and Medication Organization. In chronic care, non-adherence and missed clinic visits are major drivers of hospital readmission. In Appointments.tsx and Medications.tsx, patients have complete control over their active regimen. They can view active prescriptions, verify remaining refills, and track dosing. When booking a visit via appointments.py, the patient selects the clinical department and doctor. The backend enforces role permissions: patients can book visits, but only authorized clinicians can create prescriptions. Appointments automatically synchronize across to the doctor's calendar at /doctor/schedule in real time.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Case 8 is Previous Analysis History. When a patient sees a specialist for a second opinion, having past lab results and drug reviews at their fingertips is invaluable. In PreviousAnalyses.tsx, our platform merges two disparate data streams—prescription analysis reports and medical lab reports—into a unified, searchable chronological timeline. A patient can search for 'Lipid Panel' or 'Metformin' and immediately retrieve the full analysis performed six months ago, complete with extracted findings, normal reference intervals, and the original AI translation. They can even re-engage the multi-turn conversational AI to ask follow-up questions about that specific report.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Case 9 represents our commitment to scientific honesty and biomedical physics: PPG Optical-Sensing Educational Research. The digital health market is saturated with misleading claims that smartphone cameras can non-invasively measure blood glucose or blood pressure. In PPGResearch.tsx, we provide an interactive educational sandbox that simulates a real photoplethysmogram on an HTML5 canvas. Users can adjust heart rate, arterial stiffness to see dicrotic notch reflections, and vasomotor tone. Accompanying educational panels explain the Lambert-Beer law and why optical glucose sensing is physically impossible without interstitial fluid access. Both the code and UI explicitly disclaim medical diagnostic utility. This is an educational and research tool, not an FDA-cleared diagnostic device.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Case 10 covers our Role-Specific Patient, Doctor, and Admin Workflows. Healthcare platforms require uncompromising role segregation. In router.tsx and ProtectedRoute.tsx, we enforce strict client-side path gating. A patient cannot access /doctor/alerts, and a doctor is spared patient administrative settings. On the backend, dependencies.py enforces require_roles across every endpoint. For hospital administrators, audit_logs.py maintains an immutable HIPAA §164.312(b) audit trail capturing user UUIDs, action types, IP addresses, and timestamps. Furthermore, our Master Patient Index endpoint resolves patient identities across clinical encounters, preventing duplicate records. This is enterprise-grade security.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highlights our defensive engineering safeguards. Healthcare software cannot fail or be easily compromised. We implement magic byte validation to reject corrupted or disguised uploads, and an anti-prompt-injection sanitizer to neutralize adversarial jailbreaks. To ensure high availability on cloud infrastructure like Render, our database startup lifecycle includes self-healing schema migrations. Furthermore, our build pipeline co-locates legacy Vite chunks alongside new bundles in backend/static/assets/, eliminating the 404 dynamic import failures common in rolling single-page app deployments. Finally, our immutable audit log and data provenance isolation ensure strict adherence to HIPAA technical safeguards.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presents our regulatory and clinical validation roadmap. We treat MediCare AI with the seriousness of an enterprise clinical platform. Phase 1 is complete: 91 automated tests, verified deterministic formulas, and secure file validation. Phase 2, targeted for Q3 2026, will execute multi-reader benchmarks on 500 handwriting samples and 1,000 multi-center lab panels with board-certified clinician review. Phase 3 addresses human factors and accessibility, ensuring elderly patients can easily navigate the dashboard. Phase 4 achieves SMART-on-FHIR interoperability, SOC 2 Type II compliance, and enterprise single sign-on. Finally, Phase 5 will launch an IRB-approved prospective clinical feasibility study measuring real clinical outcomes: blood pressure control, glycemic time in range, and patient anxiety reduction.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MediCare AI demonstrates how modern AI document intelligence and physiological telemetry can be combined with rigid clinical conservatism. By grounding every AI conversation in real patient records, providing deterministic offline fallbacks, maintaining strict provenance isolation, and offering closed-loop triage workflows for physicians, we build genuine trust with patients, doctors, and healthcare administrators. We invite you to log into our live deployment on Render using our pre-seeded accounts, test the prescription and lab report pipelines, and inspect the codebase on GitHub. Thank you, and we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90E17"/>
        </a:solidFill>
        <a:effectLst/>
      </p:bgPr>
    </p:bg>
    <p:spTree>
      <p:nvGrpSpPr>
        <p:cNvPr id="1" name=""/>
        <p:cNvGrpSpPr/>
        <p:nvPr/>
      </p:nvGrpSpPr>
      <p:grpSpPr/>
      <p:sp>
        <p:nvSpPr>
          <p:cNvPr id="2" name="TextBox 1"/>
          <p:cNvSpPr txBox="1"/>
          <p:nvPr/>
        </p:nvSpPr>
        <p:spPr>
          <a:xfrm>
            <a:off x="1097280" y="1371600"/>
            <a:ext cx="9966960" cy="2926080"/>
          </a:xfrm>
          <a:prstGeom prst="rect">
            <a:avLst/>
          </a:prstGeom>
          <a:noFill/>
        </p:spPr>
        <p:txBody>
          <a:bodyPr wrap="square">
            <a:spAutoFit/>
          </a:bodyPr>
          <a:lstStyle/>
          <a:p>
            <a:pPr>
              <a:spcAft>
                <a:spcPts val="1200"/>
              </a:spcAft>
              <a:defRPr sz="1100" b="1">
                <a:solidFill>
                  <a:srgbClr val="00B4D8"/>
                </a:solidFill>
              </a:defRPr>
            </a:pPr>
            <a:r>
              <a:t>HEALTHCARE TECHNOLOGY SPECIFICATION &amp; CODEBASE AUDIT</a:t>
            </a:r>
          </a:p>
          <a:p>
            <a:pPr>
              <a:spcAft>
                <a:spcPts val="800"/>
              </a:spcAft>
              <a:defRPr sz="3600" b="1">
                <a:solidFill>
                  <a:srgbClr val="F8FAFC"/>
                </a:solidFill>
              </a:defRPr>
            </a:pPr>
            <a:r>
              <a:t>MediCare AI — 10 Real-World Use Cases</a:t>
            </a:r>
          </a:p>
          <a:p>
            <a:pPr>
              <a:spcAft>
                <a:spcPts val="1600"/>
              </a:spcAft>
              <a:defRPr sz="1500">
                <a:solidFill>
                  <a:srgbClr val="2DD4BF"/>
                </a:solidFill>
              </a:defRPr>
            </a:pPr>
            <a:r>
              <a:t>In-Depth Clinical Problems, User Journeys, Architecture, and Codebase Verification Audit</a:t>
            </a:r>
          </a:p>
          <a:p>
            <a:pPr>
              <a:defRPr sz="1100">
                <a:solidFill>
                  <a:srgbClr val="94A3B8"/>
                </a:solidFill>
              </a:defRPr>
            </a:pPr>
            <a:r>
              <a:t>A complete presentation analyzing ten concrete use cases across patient engagement, document analysis, vital sign telemetry, doctor alert triage, and administrative governance — verified directly against the production codebase.</a:t>
            </a:r>
          </a:p>
        </p:txBody>
      </p:sp>
      <p:sp>
        <p:nvSpPr>
          <p:cNvPr id="3" name="Rounded Rectangle 2"/>
          <p:cNvSpPr/>
          <p:nvPr/>
        </p:nvSpPr>
        <p:spPr>
          <a:xfrm>
            <a:off x="1097280" y="4480560"/>
            <a:ext cx="9966960" cy="164592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4626864"/>
            <a:ext cx="9601200" cy="1353312"/>
          </a:xfrm>
          <a:prstGeom prst="rect">
            <a:avLst/>
          </a:prstGeom>
          <a:noFill/>
        </p:spPr>
        <p:txBody>
          <a:bodyPr wrap="square" lIns="0" tIns="0" rIns="0" bIns="0">
            <a:spAutoFit/>
          </a:bodyPr>
          <a:lstStyle/>
          <a:p>
            <a:pPr>
              <a:spcAft>
                <a:spcPts val="700"/>
              </a:spcAft>
              <a:defRPr sz="1000" b="1">
                <a:solidFill>
                  <a:srgbClr val="10B981"/>
                </a:solidFill>
              </a:defRPr>
            </a:pPr>
            <a:r>
              <a:t>PLATFORM VERIFICATION &amp; PRODUCTION DEPLOYMENT SUMMARY</a:t>
            </a:r>
          </a:p>
          <a:p>
            <a:pPr>
              <a:spcAft>
                <a:spcPts val="400"/>
              </a:spcAft>
            </a:pPr>
            <a:r>
              <a:rPr sz="900" b="1">
                <a:solidFill>
                  <a:srgbClr val="F8FAFC"/>
                </a:solidFill>
              </a:rPr>
              <a:t>Live Web Application: </a:t>
            </a:r>
            <a:r>
              <a:rPr sz="900">
                <a:solidFill>
                  <a:srgbClr val="94A3B8"/>
                </a:solidFill>
              </a:rPr>
              <a:t>https://medicare-ai-iv31.onrender.com (React 19 + FastAPI + Render)</a:t>
            </a:r>
          </a:p>
          <a:p>
            <a:pPr>
              <a:spcAft>
                <a:spcPts val="400"/>
              </a:spcAft>
            </a:pPr>
            <a:r>
              <a:rPr sz="900" b="1">
                <a:solidFill>
                  <a:srgbClr val="F8FAFC"/>
                </a:solidFill>
              </a:rPr>
              <a:t>Source Code Repository: </a:t>
            </a:r>
            <a:r>
              <a:rPr sz="900">
                <a:solidFill>
                  <a:srgbClr val="94A3B8"/>
                </a:solidFill>
              </a:rPr>
              <a:t>https://github.com/gopidsai687/medicare-ai (Branch: main)</a:t>
            </a:r>
          </a:p>
          <a:p>
            <a:pPr>
              <a:spcAft>
                <a:spcPts val="400"/>
              </a:spcAft>
            </a:pPr>
            <a:r>
              <a:rPr sz="900" b="1">
                <a:solidFill>
                  <a:srgbClr val="F8FAFC"/>
                </a:solidFill>
              </a:rPr>
              <a:t>Audit Rigor: </a:t>
            </a:r>
            <a:r>
              <a:rPr sz="900">
                <a:solidFill>
                  <a:srgbClr val="94A3B8"/>
                </a:solidFill>
              </a:rPr>
              <a:t>All 10 use cases confirmed against live endpoints, schemas, and test suites (91 passing tests)</a:t>
            </a:r>
          </a:p>
          <a:p>
            <a:pPr>
              <a:spcAft>
                <a:spcPts val="400"/>
              </a:spcAft>
            </a:pPr>
            <a:r>
              <a:rPr sz="900" b="1">
                <a:solidFill>
                  <a:srgbClr val="F8FAFC"/>
                </a:solidFill>
              </a:rPr>
              <a:t>Resilience Architecture: </a:t>
            </a:r>
            <a:r>
              <a:rPr sz="900">
                <a:solidFill>
                  <a:srgbClr val="94A3B8"/>
                </a:solidFill>
              </a:rPr>
              <a:t>Deterministic offline fallbacks, strict simulation data isolation, HIPAA audit logs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90E17"/>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lIns="0" tIns="0" rIns="0" bIns="0">
            <a:spAutoFit/>
          </a:bodyPr>
          <a:lstStyle/>
          <a:p>
            <a:pPr>
              <a:defRPr sz="900" b="1">
                <a:solidFill>
                  <a:srgbClr val="00B4D8"/>
                </a:solidFill>
              </a:defRPr>
            </a:pPr>
            <a:r>
              <a:t>SYSTEM TAXONOMY &amp; AUDIT SUMMARY</a:t>
            </a:r>
          </a:p>
        </p:txBody>
      </p:sp>
      <p:sp>
        <p:nvSpPr>
          <p:cNvPr id="3" name="TextBox 2"/>
          <p:cNvSpPr txBox="1"/>
          <p:nvPr/>
        </p:nvSpPr>
        <p:spPr>
          <a:xfrm>
            <a:off x="731520" y="658368"/>
            <a:ext cx="10698480" cy="594360"/>
          </a:xfrm>
          <a:prstGeom prst="rect">
            <a:avLst/>
          </a:prstGeom>
          <a:noFill/>
        </p:spPr>
        <p:txBody>
          <a:bodyPr wrap="square" lIns="0" tIns="0" rIns="0" bIns="0">
            <a:spAutoFit/>
          </a:bodyPr>
          <a:lstStyle/>
          <a:p>
            <a:pPr>
              <a:defRPr sz="2100" b="1">
                <a:solidFill>
                  <a:srgbClr val="F8FAFC"/>
                </a:solidFill>
              </a:defRPr>
            </a:pPr>
            <a:r>
              <a:t>MediCare AI — 10 Core Use Cases Across Three Portals</a:t>
            </a:r>
          </a:p>
        </p:txBody>
      </p:sp>
      <p:sp>
        <p:nvSpPr>
          <p:cNvPr id="4" name="TextBox 3"/>
          <p:cNvSpPr txBox="1"/>
          <p:nvPr/>
        </p:nvSpPr>
        <p:spPr>
          <a:xfrm>
            <a:off x="731520" y="1234440"/>
            <a:ext cx="10698480" cy="320040"/>
          </a:xfrm>
          <a:prstGeom prst="rect">
            <a:avLst/>
          </a:prstGeom>
          <a:noFill/>
        </p:spPr>
        <p:txBody>
          <a:bodyPr wrap="square" lIns="0" tIns="0" rIns="0" bIns="0">
            <a:spAutoFit/>
          </a:bodyPr>
          <a:lstStyle/>
          <a:p>
            <a:pPr>
              <a:defRPr sz="1050">
                <a:solidFill>
                  <a:srgbClr val="94A3B8"/>
                </a:solidFill>
              </a:defRPr>
            </a:pPr>
            <a:r>
              <a:t>Every use case is categorized by stakeholder portal, underlying architecture tier, and verified implementation status.</a:t>
            </a:r>
          </a:p>
        </p:txBody>
      </p:sp>
      <p:sp>
        <p:nvSpPr>
          <p:cNvPr id="5" name="Rounded Rectangle 4"/>
          <p:cNvSpPr/>
          <p:nvPr/>
        </p:nvSpPr>
        <p:spPr>
          <a:xfrm>
            <a:off x="731520" y="1645920"/>
            <a:ext cx="3383280" cy="466344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92224"/>
            <a:ext cx="3017520" cy="4370832"/>
          </a:xfrm>
          <a:prstGeom prst="rect">
            <a:avLst/>
          </a:prstGeom>
          <a:noFill/>
        </p:spPr>
        <p:txBody>
          <a:bodyPr wrap="square" lIns="0" tIns="0" rIns="0" bIns="0">
            <a:spAutoFit/>
          </a:bodyPr>
          <a:lstStyle/>
          <a:p>
            <a:pPr>
              <a:spcAft>
                <a:spcPts val="700"/>
              </a:spcAft>
              <a:defRPr sz="1000" b="1">
                <a:solidFill>
                  <a:srgbClr val="00B4D8"/>
                </a:solidFill>
              </a:defRPr>
            </a:pPr>
            <a:r>
              <a:t>PATIENT ENGAGEMENT (5 USE CASES)</a:t>
            </a:r>
          </a:p>
          <a:p>
            <a:pPr>
              <a:spcAft>
                <a:spcPts val="400"/>
              </a:spcAft>
            </a:pPr>
            <a:r>
              <a:rPr sz="900" b="1">
                <a:solidFill>
                  <a:srgbClr val="F8FAFC"/>
                </a:solidFill>
              </a:rPr>
              <a:t>UC-1: Unified Health Dashboard: </a:t>
            </a:r>
            <a:r>
              <a:rPr sz="900">
                <a:solidFill>
                  <a:srgbClr val="94A3B8"/>
                </a:solidFill>
              </a:rPr>
              <a:t>VERIFIED LIVE
Single-pane health HUD &amp; 5-zone anatomical twin</a:t>
            </a:r>
          </a:p>
          <a:p>
            <a:pPr>
              <a:spcAft>
                <a:spcPts val="400"/>
              </a:spcAft>
            </a:pPr>
            <a:r>
              <a:rPr sz="900" b="1">
                <a:solidFill>
                  <a:srgbClr val="F8FAFC"/>
                </a:solidFill>
              </a:rPr>
              <a:t>UC-2: Prescription Analysis: </a:t>
            </a:r>
            <a:r>
              <a:rPr sz="900">
                <a:solidFill>
                  <a:srgbClr val="94A3B8"/>
                </a:solidFill>
              </a:rPr>
              <a:t>VERIFIED LIVE / FALLBACK
OCR extraction, 10-rule DDI screening, dosage cards</a:t>
            </a:r>
          </a:p>
          <a:p>
            <a:pPr>
              <a:spcAft>
                <a:spcPts val="400"/>
              </a:spcAft>
            </a:pPr>
            <a:r>
              <a:rPr sz="900" b="1">
                <a:solidFill>
                  <a:srgbClr val="F8FAFC"/>
                </a:solidFill>
              </a:rPr>
              <a:t>UC-3: Medical Report Explanation: </a:t>
            </a:r>
            <a:r>
              <a:rPr sz="900">
                <a:solidFill>
                  <a:srgbClr val="94A3B8"/>
                </a:solidFill>
              </a:rPr>
              <a:t>VERIFIED LIVE / FALLBACK
37-term dictionary, 4-part translation, panic flags</a:t>
            </a:r>
          </a:p>
          <a:p>
            <a:pPr>
              <a:spcAft>
                <a:spcPts val="400"/>
              </a:spcAft>
            </a:pPr>
            <a:r>
              <a:rPr sz="900" b="1">
                <a:solidFill>
                  <a:srgbClr val="F8FAFC"/>
                </a:solidFill>
              </a:rPr>
              <a:t>UC-4: Grounded AI Q&amp;A Assistant: </a:t>
            </a:r>
            <a:r>
              <a:rPr sz="900">
                <a:solidFill>
                  <a:srgbClr val="94A3B8"/>
                </a:solidFill>
              </a:rPr>
              <a:t>VERIFIED LIVE / FALLBACK
Context-grounded on active medications &amp; diagnoses</a:t>
            </a:r>
          </a:p>
          <a:p>
            <a:pPr>
              <a:spcAft>
                <a:spcPts val="400"/>
              </a:spcAft>
            </a:pPr>
            <a:r>
              <a:rPr sz="900" b="1">
                <a:solidFill>
                  <a:srgbClr val="F8FAFC"/>
                </a:solidFill>
              </a:rPr>
              <a:t>UC-7: Schedule &amp; Regimen Hub: </a:t>
            </a:r>
            <a:r>
              <a:rPr sz="900">
                <a:solidFill>
                  <a:srgbClr val="94A3B8"/>
                </a:solidFill>
              </a:rPr>
              <a:t>VERIFIED LIVE
Medication adherence, refill tracking, appointment booking</a:t>
            </a:r>
          </a:p>
        </p:txBody>
      </p:sp>
      <p:sp>
        <p:nvSpPr>
          <p:cNvPr id="7" name="Rounded Rectangle 6"/>
          <p:cNvSpPr/>
          <p:nvPr/>
        </p:nvSpPr>
        <p:spPr>
          <a:xfrm>
            <a:off x="4389120" y="1645920"/>
            <a:ext cx="3383280" cy="466344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792224"/>
            <a:ext cx="3017520" cy="4370832"/>
          </a:xfrm>
          <a:prstGeom prst="rect">
            <a:avLst/>
          </a:prstGeom>
          <a:noFill/>
        </p:spPr>
        <p:txBody>
          <a:bodyPr wrap="square" lIns="0" tIns="0" rIns="0" bIns="0">
            <a:spAutoFit/>
          </a:bodyPr>
          <a:lstStyle/>
          <a:p>
            <a:pPr>
              <a:spcAft>
                <a:spcPts val="700"/>
              </a:spcAft>
              <a:defRPr sz="1000" b="1">
                <a:solidFill>
                  <a:srgbClr val="3B82F6"/>
                </a:solidFill>
              </a:defRPr>
            </a:pPr>
            <a:r>
              <a:t>CLINICAL TELEMETRY &amp; TRIAGE (3 USE CASES)</a:t>
            </a:r>
          </a:p>
          <a:p>
            <a:pPr>
              <a:spcAft>
                <a:spcPts val="400"/>
              </a:spcAft>
            </a:pPr>
            <a:r>
              <a:rPr sz="900" b="1">
                <a:solidFill>
                  <a:srgbClr val="F8FAFC"/>
                </a:solidFill>
              </a:rPr>
              <a:t>UC-5: VitalSense History &amp; Trends: </a:t>
            </a:r>
            <a:r>
              <a:rPr sz="900">
                <a:solidFill>
                  <a:srgbClr val="94A3B8"/>
                </a:solidFill>
              </a:rPr>
              <a:t>VERIFIED LIVE
Physiological bounds, MAP formula, AHA/ADA staging</a:t>
            </a:r>
          </a:p>
          <a:p>
            <a:pPr>
              <a:spcAft>
                <a:spcPts val="400"/>
              </a:spcAft>
            </a:pPr>
            <a:r>
              <a:rPr sz="900" b="1">
                <a:solidFill>
                  <a:srgbClr val="F8FAFC"/>
                </a:solidFill>
              </a:rPr>
              <a:t>UC-6: Doctor Alert Workflows: </a:t>
            </a:r>
            <a:r>
              <a:rPr sz="900">
                <a:solidFill>
                  <a:srgbClr val="94A3B8"/>
                </a:solidFill>
              </a:rPr>
              <a:t>VERIFIED LIVE
Consent-verified doctor queue, one-click action audit</a:t>
            </a:r>
          </a:p>
          <a:p>
            <a:pPr>
              <a:spcAft>
                <a:spcPts val="400"/>
              </a:spcAft>
            </a:pPr>
            <a:r>
              <a:rPr sz="900" b="1">
                <a:solidFill>
                  <a:srgbClr val="F8FAFC"/>
                </a:solidFill>
              </a:rPr>
              <a:t>UC-8: Previous Analysis History: </a:t>
            </a:r>
            <a:r>
              <a:rPr sz="900">
                <a:solidFill>
                  <a:srgbClr val="94A3B8"/>
                </a:solidFill>
              </a:rPr>
              <a:t>VERIFIED LIVE
Unified chronological archive for prescriptions &amp; lab panels</a:t>
            </a:r>
          </a:p>
          <a:p>
            <a:pPr>
              <a:spcAft>
                <a:spcPts val="400"/>
              </a:spcAft>
            </a:pPr>
            <a:r>
              <a:rPr sz="900" b="1">
                <a:solidFill>
                  <a:srgbClr val="F8FAFC"/>
                </a:solidFill>
              </a:rPr>
              <a:t>Simulation Boundary: </a:t>
            </a:r>
            <a:r>
              <a:rPr sz="900">
                <a:solidFill>
                  <a:srgbClr val="94A3B8"/>
                </a:solidFill>
              </a:rPr>
              <a:t>Demo data isolated via is_sample=True; atomic purge endpoint preserves patient history</a:t>
            </a:r>
          </a:p>
        </p:txBody>
      </p:sp>
      <p:sp>
        <p:nvSpPr>
          <p:cNvPr id="9" name="Rounded Rectangle 8"/>
          <p:cNvSpPr/>
          <p:nvPr/>
        </p:nvSpPr>
        <p:spPr>
          <a:xfrm>
            <a:off x="8046720" y="1645920"/>
            <a:ext cx="3383280" cy="466344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792224"/>
            <a:ext cx="3017520" cy="4370832"/>
          </a:xfrm>
          <a:prstGeom prst="rect">
            <a:avLst/>
          </a:prstGeom>
          <a:noFill/>
        </p:spPr>
        <p:txBody>
          <a:bodyPr wrap="square" lIns="0" tIns="0" rIns="0" bIns="0">
            <a:spAutoFit/>
          </a:bodyPr>
          <a:lstStyle/>
          <a:p>
            <a:pPr>
              <a:spcAft>
                <a:spcPts val="700"/>
              </a:spcAft>
              <a:defRPr sz="1000" b="1">
                <a:solidFill>
                  <a:srgbClr val="A855F7"/>
                </a:solidFill>
              </a:defRPr>
            </a:pPr>
            <a:r>
              <a:t>RESEARCH &amp; GOVERNANCE (2 USE CASES)</a:t>
            </a:r>
          </a:p>
          <a:p>
            <a:pPr>
              <a:spcAft>
                <a:spcPts val="400"/>
              </a:spcAft>
            </a:pPr>
            <a:r>
              <a:rPr sz="900" b="1">
                <a:solidFill>
                  <a:srgbClr val="F8FAFC"/>
                </a:solidFill>
              </a:rPr>
              <a:t>UC-9: PPG Optical Research Lab: </a:t>
            </a:r>
            <a:r>
              <a:rPr sz="900">
                <a:solidFill>
                  <a:srgbClr val="94A3B8"/>
                </a:solidFill>
              </a:rPr>
              <a:t>SIMULATION ONLY / RESEARCH
Waveform simulation, dicrotic notch, non-medical disclaimer</a:t>
            </a:r>
          </a:p>
          <a:p>
            <a:pPr>
              <a:spcAft>
                <a:spcPts val="400"/>
              </a:spcAft>
            </a:pPr>
            <a:r>
              <a:rPr sz="900" b="1">
                <a:solidFill>
                  <a:srgbClr val="F8FAFC"/>
                </a:solidFill>
              </a:rPr>
              <a:t>UC-10: Role-Specific RBAC Portals: </a:t>
            </a:r>
            <a:r>
              <a:rPr sz="900">
                <a:solidFill>
                  <a:srgbClr val="94A3B8"/>
                </a:solidFill>
              </a:rPr>
              <a:t>VERIFIED LIVE
Strict separation for Patient, Doctor, Nurse, &amp; Admin</a:t>
            </a:r>
          </a:p>
          <a:p>
            <a:pPr>
              <a:spcAft>
                <a:spcPts val="400"/>
              </a:spcAft>
            </a:pPr>
            <a:r>
              <a:rPr sz="900" b="1">
                <a:solidFill>
                  <a:srgbClr val="F8FAFC"/>
                </a:solidFill>
              </a:rPr>
              <a:t>HIPAA §164.312(b) Audit Logs: </a:t>
            </a:r>
            <a:r>
              <a:rPr sz="900">
                <a:solidFill>
                  <a:srgbClr val="94A3B8"/>
                </a:solidFill>
              </a:rPr>
              <a:t>Immutable trail recording user UUID, action, IP, timestamp</a:t>
            </a:r>
          </a:p>
          <a:p>
            <a:pPr>
              <a:spcAft>
                <a:spcPts val="400"/>
              </a:spcAft>
            </a:pPr>
            <a:r>
              <a:rPr sz="900" b="1">
                <a:solidFill>
                  <a:srgbClr val="F8FAFC"/>
                </a:solidFill>
              </a:rPr>
              <a:t>Master Patient Index (MPI): </a:t>
            </a:r>
            <a:r>
              <a:rPr sz="900">
                <a:solidFill>
                  <a:srgbClr val="94A3B8"/>
                </a:solidFill>
              </a:rPr>
              <a:t>Admin identity resolution to prevent duplicate patient charts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90E17"/>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lIns="0" tIns="0" rIns="0" bIns="0">
            <a:spAutoFit/>
          </a:bodyPr>
          <a:lstStyle/>
          <a:p>
            <a:pPr>
              <a:defRPr sz="900" b="1">
                <a:solidFill>
                  <a:srgbClr val="00B4D8"/>
                </a:solidFill>
              </a:defRPr>
            </a:pPr>
            <a:r>
              <a:t>USE CASE 1: PATIENT ENGAGEMENT</a:t>
            </a:r>
          </a:p>
        </p:txBody>
      </p:sp>
      <p:sp>
        <p:nvSpPr>
          <p:cNvPr id="3" name="TextBox 2"/>
          <p:cNvSpPr txBox="1"/>
          <p:nvPr/>
        </p:nvSpPr>
        <p:spPr>
          <a:xfrm>
            <a:off x="8412480" y="365760"/>
            <a:ext cx="3017520" cy="320040"/>
          </a:xfrm>
          <a:prstGeom prst="rect">
            <a:avLst/>
          </a:prstGeom>
          <a:noFill/>
        </p:spPr>
        <p:txBody>
          <a:bodyPr wrap="square" lIns="0" tIns="0" rIns="0" bIns="0">
            <a:spAutoFit/>
          </a:bodyPr>
          <a:lstStyle/>
          <a:p>
            <a:pPr algn="r">
              <a:defRPr sz="950" b="1">
                <a:solidFill>
                  <a:srgbClr val="10B981"/>
                </a:solidFill>
              </a:defRPr>
            </a:pPr>
            <a:r>
              <a:t>● VERIFIED LIVE</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100" b="1">
                <a:solidFill>
                  <a:srgbClr val="F8FAFC"/>
                </a:solidFill>
              </a:defRPr>
            </a:pPr>
            <a:r>
              <a:t>Unified Patient Health Dashboard</a:t>
            </a:r>
          </a:p>
        </p:txBody>
      </p:sp>
      <p:sp>
        <p:nvSpPr>
          <p:cNvPr id="5" name="TextBox 4"/>
          <p:cNvSpPr txBox="1"/>
          <p:nvPr/>
        </p:nvSpPr>
        <p:spPr>
          <a:xfrm>
            <a:off x="731520" y="1234440"/>
            <a:ext cx="10698480" cy="320040"/>
          </a:xfrm>
          <a:prstGeom prst="rect">
            <a:avLst/>
          </a:prstGeom>
          <a:noFill/>
        </p:spPr>
        <p:txBody>
          <a:bodyPr wrap="square" lIns="0" tIns="0" rIns="0" bIns="0">
            <a:spAutoFit/>
          </a:bodyPr>
          <a:lstStyle/>
          <a:p>
            <a:pPr>
              <a:defRPr sz="1050">
                <a:solidFill>
                  <a:srgbClr val="94A3B8"/>
                </a:solidFill>
              </a:defRPr>
            </a:pPr>
            <a:r>
              <a:t>Centralized single-pane-of-glass health state overview with interactive anatomical digital twin HUD.</a:t>
            </a:r>
          </a:p>
        </p:txBody>
      </p:sp>
      <p:sp>
        <p:nvSpPr>
          <p:cNvPr id="6" name="Rounded Rectangle 5"/>
          <p:cNvSpPr/>
          <p:nvPr/>
        </p:nvSpPr>
        <p:spPr>
          <a:xfrm>
            <a:off x="731520" y="1645920"/>
            <a:ext cx="5120640" cy="219456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92224"/>
            <a:ext cx="4754880" cy="1901952"/>
          </a:xfrm>
          <a:prstGeom prst="rect">
            <a:avLst/>
          </a:prstGeom>
          <a:noFill/>
        </p:spPr>
        <p:txBody>
          <a:bodyPr wrap="square" lIns="0" tIns="0" rIns="0" bIns="0">
            <a:spAutoFit/>
          </a:bodyPr>
          <a:lstStyle/>
          <a:p>
            <a:pPr>
              <a:spcAft>
                <a:spcPts val="700"/>
              </a:spcAft>
              <a:defRPr sz="1000" b="1">
                <a:solidFill>
                  <a:srgbClr val="00B4D8"/>
                </a:solidFill>
              </a:defRPr>
            </a:pPr>
            <a:r>
              <a:t>REAL-WORLD PROBLEM &amp; INTENDED USER</a:t>
            </a:r>
          </a:p>
          <a:p>
            <a:pPr>
              <a:spcAft>
                <a:spcPts val="400"/>
              </a:spcAft>
            </a:pPr>
            <a:r>
              <a:rPr sz="900" b="1">
                <a:solidFill>
                  <a:srgbClr val="F8FAFC"/>
                </a:solidFill>
              </a:rPr>
              <a:t>The Problem: </a:t>
            </a:r>
            <a:r>
              <a:rPr sz="900">
                <a:solidFill>
                  <a:srgbClr val="94A3B8"/>
                </a:solidFill>
              </a:rPr>
              <a:t>Patients manage care across fragmented portals, paper logbooks, and retail pharmacy apps, causing missed warning signs and high cognitive burden.</a:t>
            </a:r>
          </a:p>
          <a:p>
            <a:pPr>
              <a:spcAft>
                <a:spcPts val="400"/>
              </a:spcAft>
            </a:pPr>
            <a:r>
              <a:rPr sz="900" b="1">
                <a:solidFill>
                  <a:srgbClr val="F8FAFC"/>
                </a:solidFill>
              </a:rPr>
              <a:t>Intended Users: </a:t>
            </a:r>
            <a:r>
              <a:rPr sz="900">
                <a:solidFill>
                  <a:srgbClr val="94A3B8"/>
                </a:solidFill>
              </a:rPr>
              <a:t>Outpatients with chronic conditions (hypertension, diabetes), post-discharge patients, and non-clinical family caregivers.</a:t>
            </a:r>
          </a:p>
          <a:p>
            <a:pPr>
              <a:spcAft>
                <a:spcPts val="400"/>
              </a:spcAft>
            </a:pPr>
            <a:r>
              <a:rPr sz="900" b="1">
                <a:solidFill>
                  <a:srgbClr val="F8FAFC"/>
                </a:solidFill>
              </a:rPr>
              <a:t>Impact: </a:t>
            </a:r>
            <a:r>
              <a:rPr sz="900">
                <a:solidFill>
                  <a:srgbClr val="94A3B8"/>
                </a:solidFill>
              </a:rPr>
              <a:t>Delays in spotting deterioration lead to emergency admissions.</a:t>
            </a:r>
          </a:p>
        </p:txBody>
      </p:sp>
      <p:sp>
        <p:nvSpPr>
          <p:cNvPr id="8" name="Rounded Rectangle 7"/>
          <p:cNvSpPr/>
          <p:nvPr/>
        </p:nvSpPr>
        <p:spPr>
          <a:xfrm>
            <a:off x="6217920" y="1645920"/>
            <a:ext cx="5212080" cy="219456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792224"/>
            <a:ext cx="4846320" cy="1901952"/>
          </a:xfrm>
          <a:prstGeom prst="rect">
            <a:avLst/>
          </a:prstGeom>
          <a:noFill/>
        </p:spPr>
        <p:txBody>
          <a:bodyPr wrap="square" lIns="0" tIns="0" rIns="0" bIns="0">
            <a:spAutoFit/>
          </a:bodyPr>
          <a:lstStyle/>
          <a:p>
            <a:pPr>
              <a:spcAft>
                <a:spcPts val="700"/>
              </a:spcAft>
              <a:defRPr sz="1000" b="1">
                <a:solidFill>
                  <a:srgbClr val="2DD4BF"/>
                </a:solidFill>
              </a:defRPr>
            </a:pPr>
            <a:r>
              <a:t>USER JOURNEY &amp; INTERACTION FLOW</a:t>
            </a:r>
          </a:p>
          <a:p>
            <a:pPr>
              <a:spcAft>
                <a:spcPts val="400"/>
              </a:spcAft>
            </a:pPr>
            <a:r>
              <a:rPr sz="900" b="1">
                <a:solidFill>
                  <a:srgbClr val="F8FAFC"/>
                </a:solidFill>
              </a:rPr>
              <a:t>Step 1: Auth &amp; Overview: </a:t>
            </a:r>
            <a:r>
              <a:rPr sz="900">
                <a:solidFill>
                  <a:srgbClr val="94A3B8"/>
                </a:solidFill>
              </a:rPr>
              <a:t>Patient logs in and lands on /patient; views 4 high-level stat cards (Visits, Rx, Labs, Documents).</a:t>
            </a:r>
          </a:p>
          <a:p>
            <a:pPr>
              <a:spcAft>
                <a:spcPts val="400"/>
              </a:spcAft>
            </a:pPr>
            <a:r>
              <a:rPr sz="900" b="1">
                <a:solidFill>
                  <a:srgbClr val="F8FAFC"/>
                </a:solidFill>
              </a:rPr>
              <a:t>Step 2: Anatomical Twin HUD: </a:t>
            </a:r>
            <a:r>
              <a:rPr sz="900">
                <a:solidFill>
                  <a:srgbClr val="94A3B8"/>
                </a:solidFill>
              </a:rPr>
              <a:t>Interacts with 5-zone anatomical avatar (BodyMap.tsx) highlighting head, cardiac, abdominal, and extremity status.</a:t>
            </a:r>
          </a:p>
          <a:p>
            <a:pPr>
              <a:spcAft>
                <a:spcPts val="400"/>
              </a:spcAft>
            </a:pPr>
            <a:r>
              <a:rPr sz="900" b="1">
                <a:solidFill>
                  <a:srgbClr val="F8FAFC"/>
                </a:solidFill>
              </a:rPr>
              <a:t>Step 3: Real-Time Telemetry: </a:t>
            </a:r>
            <a:r>
              <a:rPr sz="900">
                <a:solidFill>
                  <a:srgbClr val="94A3B8"/>
                </a:solidFill>
              </a:rPr>
              <a:t>Inspects live vitals strip (BP, HR, Glucose, BMI) with color-coded guideline badges.</a:t>
            </a:r>
          </a:p>
          <a:p>
            <a:pPr>
              <a:spcAft>
                <a:spcPts val="400"/>
              </a:spcAft>
            </a:pPr>
            <a:r>
              <a:rPr sz="900" b="1">
                <a:solidFill>
                  <a:srgbClr val="F8FAFC"/>
                </a:solidFill>
              </a:rPr>
              <a:t>Step 4: Emergency Discovery: </a:t>
            </a:r>
            <a:r>
              <a:rPr sz="900">
                <a:solidFill>
                  <a:srgbClr val="94A3B8"/>
                </a:solidFill>
              </a:rPr>
              <a:t>One-click access to Emergency modal with instant 911 dialing and hospital discovery.</a:t>
            </a:r>
          </a:p>
        </p:txBody>
      </p:sp>
      <p:sp>
        <p:nvSpPr>
          <p:cNvPr id="10" name="Rounded Rectangle 9"/>
          <p:cNvSpPr/>
          <p:nvPr/>
        </p:nvSpPr>
        <p:spPr>
          <a:xfrm>
            <a:off x="731520" y="4023360"/>
            <a:ext cx="5120640" cy="228600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169664"/>
            <a:ext cx="4754880" cy="1993392"/>
          </a:xfrm>
          <a:prstGeom prst="rect">
            <a:avLst/>
          </a:prstGeom>
          <a:noFill/>
        </p:spPr>
        <p:txBody>
          <a:bodyPr wrap="square" lIns="0" tIns="0" rIns="0" bIns="0">
            <a:spAutoFit/>
          </a:bodyPr>
          <a:lstStyle/>
          <a:p>
            <a:pPr>
              <a:spcAft>
                <a:spcPts val="700"/>
              </a:spcAft>
              <a:defRPr sz="1000" b="1">
                <a:solidFill>
                  <a:srgbClr val="3B82F6"/>
                </a:solidFill>
              </a:defRPr>
            </a:pPr>
            <a:r>
              <a:t>COMPONENTS, ENDPOINTS &amp; SERVICES</a:t>
            </a:r>
          </a:p>
          <a:p>
            <a:pPr>
              <a:spcAft>
                <a:spcPts val="400"/>
              </a:spcAft>
            </a:pPr>
            <a:r>
              <a:rPr sz="900" b="1">
                <a:solidFill>
                  <a:srgbClr val="F8FAFC"/>
                </a:solidFill>
              </a:rPr>
              <a:t>Frontend Page: </a:t>
            </a:r>
            <a:r>
              <a:rPr sz="900">
                <a:solidFill>
                  <a:srgbClr val="94A3B8"/>
                </a:solidFill>
              </a:rPr>
              <a:t>frontend/src/pages/patient/Dashboard.tsx (Parallel fetch via Promise.allSettled)</a:t>
            </a:r>
          </a:p>
          <a:p>
            <a:pPr>
              <a:spcAft>
                <a:spcPts val="400"/>
              </a:spcAft>
            </a:pPr>
            <a:r>
              <a:rPr sz="900" b="1">
                <a:solidFill>
                  <a:srgbClr val="F8FAFC"/>
                </a:solidFill>
              </a:rPr>
              <a:t>Interactive HUD: </a:t>
            </a:r>
            <a:r>
              <a:rPr sz="900">
                <a:solidFill>
                  <a:srgbClr val="94A3B8"/>
                </a:solidFill>
              </a:rPr>
              <a:t>frontend/src/components/vitals/BodyMap.tsx (5-zone SVG avatar)</a:t>
            </a:r>
          </a:p>
          <a:p>
            <a:pPr>
              <a:spcAft>
                <a:spcPts val="400"/>
              </a:spcAft>
            </a:pPr>
            <a:r>
              <a:rPr sz="900" b="1">
                <a:solidFill>
                  <a:srgbClr val="F8FAFC"/>
                </a:solidFill>
              </a:rPr>
              <a:t>API Endpoints: </a:t>
            </a:r>
            <a:r>
              <a:rPr sz="900">
                <a:solidFill>
                  <a:srgbClr val="94A3B8"/>
                </a:solidFill>
              </a:rPr>
              <a:t>GET /api/v1/appointments, GET /api/v1/prescriptions, GET /api/v1/labs, GET /api/v1/vitals/summary</a:t>
            </a:r>
          </a:p>
          <a:p>
            <a:pPr>
              <a:spcAft>
                <a:spcPts val="400"/>
              </a:spcAft>
            </a:pPr>
            <a:r>
              <a:rPr sz="900" b="1">
                <a:solidFill>
                  <a:srgbClr val="F8FAFC"/>
                </a:solidFill>
              </a:rPr>
              <a:t>Database Models: </a:t>
            </a:r>
            <a:r>
              <a:rPr sz="900">
                <a:solidFill>
                  <a:srgbClr val="94A3B8"/>
                </a:solidFill>
              </a:rPr>
              <a:t>User, Patient, Appointment, Prescription, VitalSign, LabResult</a:t>
            </a:r>
          </a:p>
        </p:txBody>
      </p:sp>
      <p:sp>
        <p:nvSpPr>
          <p:cNvPr id="12" name="Rounded Rectangle 11"/>
          <p:cNvSpPr/>
          <p:nvPr/>
        </p:nvSpPr>
        <p:spPr>
          <a:xfrm>
            <a:off x="6217920" y="4023360"/>
            <a:ext cx="5212080" cy="228600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4169664"/>
            <a:ext cx="4846320" cy="1993392"/>
          </a:xfrm>
          <a:prstGeom prst="rect">
            <a:avLst/>
          </a:prstGeom>
          <a:noFill/>
        </p:spPr>
        <p:txBody>
          <a:bodyPr wrap="square" lIns="0" tIns="0" rIns="0" bIns="0">
            <a:spAutoFit/>
          </a:bodyPr>
          <a:lstStyle/>
          <a:p>
            <a:pPr>
              <a:spcAft>
                <a:spcPts val="700"/>
              </a:spcAft>
              <a:defRPr sz="1000" b="1">
                <a:solidFill>
                  <a:srgbClr val="10B981"/>
                </a:solidFill>
              </a:defRPr>
            </a:pPr>
            <a:r>
              <a:t>EXPECTED BENEFIT &amp; PRE-CLINICAL VALIDATION</a:t>
            </a:r>
          </a:p>
          <a:p>
            <a:pPr>
              <a:spcAft>
                <a:spcPts val="400"/>
              </a:spcAft>
            </a:pPr>
            <a:r>
              <a:rPr sz="900" b="1">
                <a:solidFill>
                  <a:srgbClr val="F8FAFC"/>
                </a:solidFill>
              </a:rPr>
              <a:t>Expected Benefit: </a:t>
            </a:r>
            <a:r>
              <a:rPr sz="900">
                <a:solidFill>
                  <a:srgbClr val="94A3B8"/>
                </a:solidFill>
              </a:rPr>
              <a:t>Eliminates health data fragmentation, improves chronic disease engagement, and speeds emergency orientation.</a:t>
            </a:r>
          </a:p>
          <a:p>
            <a:pPr>
              <a:spcAft>
                <a:spcPts val="400"/>
              </a:spcAft>
            </a:pPr>
            <a:r>
              <a:rPr sz="900" b="1">
                <a:solidFill>
                  <a:srgbClr val="F8FAFC"/>
                </a:solidFill>
              </a:rPr>
              <a:t>Current Status: </a:t>
            </a:r>
            <a:r>
              <a:rPr sz="900">
                <a:solidFill>
                  <a:srgbClr val="94A3B8"/>
                </a:solidFill>
              </a:rPr>
              <a:t>VERIFIED LIVE on Render; resilient UI fallbacks prevent blank states if one endpoint delays.</a:t>
            </a:r>
          </a:p>
          <a:p>
            <a:pPr>
              <a:spcAft>
                <a:spcPts val="400"/>
              </a:spcAft>
            </a:pPr>
            <a:r>
              <a:rPr sz="900" b="1">
                <a:solidFill>
                  <a:srgbClr val="F8FAFC"/>
                </a:solidFill>
              </a:rPr>
              <a:t>Validation Required: </a:t>
            </a:r>
            <a:r>
              <a:rPr sz="900">
                <a:solidFill>
                  <a:srgbClr val="94A3B8"/>
                </a:solidFill>
              </a:rPr>
              <a:t>Geriatric cohort usability testing (ages 65+), WCAG 2.1 AA accessibility compliance audit, and HL7 FHIR Patient/Observation live sync.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90E17"/>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lIns="0" tIns="0" rIns="0" bIns="0">
            <a:spAutoFit/>
          </a:bodyPr>
          <a:lstStyle/>
          <a:p>
            <a:pPr>
              <a:defRPr sz="900" b="1">
                <a:solidFill>
                  <a:srgbClr val="00B4D8"/>
                </a:solidFill>
              </a:defRPr>
            </a:pPr>
            <a:r>
              <a:t>USE CASE 2: DOCUMENT INTELLIGENCE</a:t>
            </a:r>
          </a:p>
        </p:txBody>
      </p:sp>
      <p:sp>
        <p:nvSpPr>
          <p:cNvPr id="3" name="TextBox 2"/>
          <p:cNvSpPr txBox="1"/>
          <p:nvPr/>
        </p:nvSpPr>
        <p:spPr>
          <a:xfrm>
            <a:off x="8412480" y="365760"/>
            <a:ext cx="3017520" cy="320040"/>
          </a:xfrm>
          <a:prstGeom prst="rect">
            <a:avLst/>
          </a:prstGeom>
          <a:noFill/>
        </p:spPr>
        <p:txBody>
          <a:bodyPr wrap="square" lIns="0" tIns="0" rIns="0" bIns="0">
            <a:spAutoFit/>
          </a:bodyPr>
          <a:lstStyle/>
          <a:p>
            <a:pPr algn="r">
              <a:defRPr sz="950" b="1">
                <a:solidFill>
                  <a:srgbClr val="F59E0B"/>
                </a:solidFill>
              </a:defRPr>
            </a:pPr>
            <a:r>
              <a:t>● VERIFIED LIVE / FALLBACK ACTIVE</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100" b="1">
                <a:solidFill>
                  <a:srgbClr val="F8FAFC"/>
                </a:solidFill>
              </a:defRPr>
            </a:pPr>
            <a:r>
              <a:t>Prescription Document Analysis</a:t>
            </a:r>
          </a:p>
        </p:txBody>
      </p:sp>
      <p:sp>
        <p:nvSpPr>
          <p:cNvPr id="5" name="TextBox 4"/>
          <p:cNvSpPr txBox="1"/>
          <p:nvPr/>
        </p:nvSpPr>
        <p:spPr>
          <a:xfrm>
            <a:off x="731520" y="1234440"/>
            <a:ext cx="10698480" cy="320040"/>
          </a:xfrm>
          <a:prstGeom prst="rect">
            <a:avLst/>
          </a:prstGeom>
          <a:noFill/>
        </p:spPr>
        <p:txBody>
          <a:bodyPr wrap="square" lIns="0" tIns="0" rIns="0" bIns="0">
            <a:spAutoFit/>
          </a:bodyPr>
          <a:lstStyle/>
          <a:p>
            <a:pPr>
              <a:defRPr sz="1050">
                <a:solidFill>
                  <a:srgbClr val="94A3B8"/>
                </a:solidFill>
              </a:defRPr>
            </a:pPr>
            <a:r>
              <a:t>Multi-page optical text extraction, deterministic drug-drug interaction matrix, and plain-language dosage cards.</a:t>
            </a:r>
          </a:p>
        </p:txBody>
      </p:sp>
      <p:sp>
        <p:nvSpPr>
          <p:cNvPr id="6" name="Rounded Rectangle 5"/>
          <p:cNvSpPr/>
          <p:nvPr/>
        </p:nvSpPr>
        <p:spPr>
          <a:xfrm>
            <a:off x="731520" y="1645920"/>
            <a:ext cx="5120640" cy="219456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92224"/>
            <a:ext cx="4754880" cy="1901952"/>
          </a:xfrm>
          <a:prstGeom prst="rect">
            <a:avLst/>
          </a:prstGeom>
          <a:noFill/>
        </p:spPr>
        <p:txBody>
          <a:bodyPr wrap="square" lIns="0" tIns="0" rIns="0" bIns="0">
            <a:spAutoFit/>
          </a:bodyPr>
          <a:lstStyle/>
          <a:p>
            <a:pPr>
              <a:spcAft>
                <a:spcPts val="700"/>
              </a:spcAft>
              <a:defRPr sz="1000" b="1">
                <a:solidFill>
                  <a:srgbClr val="00B4D8"/>
                </a:solidFill>
              </a:defRPr>
            </a:pPr>
            <a:r>
              <a:t>REAL-WORLD PROBLEM &amp; INTENDED USER</a:t>
            </a:r>
          </a:p>
          <a:p>
            <a:pPr>
              <a:spcAft>
                <a:spcPts val="400"/>
              </a:spcAft>
            </a:pPr>
            <a:r>
              <a:rPr sz="900" b="1">
                <a:solidFill>
                  <a:srgbClr val="F8FAFC"/>
                </a:solidFill>
              </a:rPr>
              <a:t>The Problem: </a:t>
            </a:r>
            <a:r>
              <a:rPr sz="900">
                <a:solidFill>
                  <a:srgbClr val="94A3B8"/>
                </a:solidFill>
              </a:rPr>
              <a:t>Prescriptions are filled with clinical abbreviations and illegible handwriting; &gt;50% of patients fail to adhere, risking severe drug interactions.</a:t>
            </a:r>
          </a:p>
          <a:p>
            <a:pPr>
              <a:spcAft>
                <a:spcPts val="400"/>
              </a:spcAft>
            </a:pPr>
            <a:r>
              <a:rPr sz="900" b="1">
                <a:solidFill>
                  <a:srgbClr val="F8FAFC"/>
                </a:solidFill>
              </a:rPr>
              <a:t>Intended Users: </a:t>
            </a:r>
            <a:r>
              <a:rPr sz="900">
                <a:solidFill>
                  <a:srgbClr val="94A3B8"/>
                </a:solidFill>
              </a:rPr>
              <a:t>Discharged hospital patients, family caregivers managing polypharmacy, and community pharmacists.</a:t>
            </a:r>
          </a:p>
          <a:p>
            <a:pPr>
              <a:spcAft>
                <a:spcPts val="400"/>
              </a:spcAft>
            </a:pPr>
            <a:r>
              <a:rPr sz="900" b="1">
                <a:solidFill>
                  <a:srgbClr val="F8FAFC"/>
                </a:solidFill>
              </a:rPr>
              <a:t>Clinical Danger: </a:t>
            </a:r>
            <a:r>
              <a:rPr sz="900">
                <a:solidFill>
                  <a:srgbClr val="94A3B8"/>
                </a:solidFill>
              </a:rPr>
              <a:t>Drug-drug interactions cause tens of thousands of avoidable hospitalizations annually.</a:t>
            </a:r>
          </a:p>
        </p:txBody>
      </p:sp>
      <p:sp>
        <p:nvSpPr>
          <p:cNvPr id="8" name="Rounded Rectangle 7"/>
          <p:cNvSpPr/>
          <p:nvPr/>
        </p:nvSpPr>
        <p:spPr>
          <a:xfrm>
            <a:off x="6217920" y="1645920"/>
            <a:ext cx="5212080" cy="219456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792224"/>
            <a:ext cx="4846320" cy="1901952"/>
          </a:xfrm>
          <a:prstGeom prst="rect">
            <a:avLst/>
          </a:prstGeom>
          <a:noFill/>
        </p:spPr>
        <p:txBody>
          <a:bodyPr wrap="square" lIns="0" tIns="0" rIns="0" bIns="0">
            <a:spAutoFit/>
          </a:bodyPr>
          <a:lstStyle/>
          <a:p>
            <a:pPr>
              <a:spcAft>
                <a:spcPts val="700"/>
              </a:spcAft>
              <a:defRPr sz="1000" b="1">
                <a:solidFill>
                  <a:srgbClr val="2DD4BF"/>
                </a:solidFill>
              </a:defRPr>
            </a:pPr>
            <a:r>
              <a:t>USER JOURNEY &amp; PROCESSING PIPELINE</a:t>
            </a:r>
          </a:p>
          <a:p>
            <a:pPr>
              <a:spcAft>
                <a:spcPts val="400"/>
              </a:spcAft>
            </a:pPr>
            <a:r>
              <a:rPr sz="900" b="1">
                <a:solidFill>
                  <a:srgbClr val="F8FAFC"/>
                </a:solidFill>
              </a:rPr>
              <a:t>Step 1: Secure Ingestion: </a:t>
            </a:r>
            <a:r>
              <a:rPr sz="900">
                <a:solidFill>
                  <a:srgbClr val="94A3B8"/>
                </a:solidFill>
              </a:rPr>
              <a:t>Patient uploads prescription PDF/image; backend validates magic bytes (%PDF-, JPEG, PNG; max 10MB).</a:t>
            </a:r>
          </a:p>
          <a:p>
            <a:pPr>
              <a:spcAft>
                <a:spcPts val="400"/>
              </a:spcAft>
            </a:pPr>
            <a:r>
              <a:rPr sz="900" b="1">
                <a:solidFill>
                  <a:srgbClr val="F8FAFC"/>
                </a:solidFill>
              </a:rPr>
              <a:t>Step 2: Sanitization &amp; OCR: </a:t>
            </a:r>
            <a:r>
              <a:rPr sz="900">
                <a:solidFill>
                  <a:srgbClr val="94A3B8"/>
                </a:solidFill>
              </a:rPr>
              <a:t>Regex strips prompt-injections (sanitize_ocr_text); text extracted via pypdf / Gemini Vision.</a:t>
            </a:r>
          </a:p>
          <a:p>
            <a:pPr>
              <a:spcAft>
                <a:spcPts val="400"/>
              </a:spcAft>
            </a:pPr>
            <a:r>
              <a:rPr sz="900" b="1">
                <a:solidFill>
                  <a:srgbClr val="F8FAFC"/>
                </a:solidFill>
              </a:rPr>
              <a:t>Step 3: Entity Extraction: </a:t>
            </a:r>
            <a:r>
              <a:rPr sz="900">
                <a:solidFill>
                  <a:srgbClr val="94A3B8"/>
                </a:solidFill>
              </a:rPr>
              <a:t>Regex parses drug, strength (mg/mcg), route (PO), frequency (BID/QAM), and duration.</a:t>
            </a:r>
          </a:p>
          <a:p>
            <a:pPr>
              <a:spcAft>
                <a:spcPts val="400"/>
              </a:spcAft>
            </a:pPr>
            <a:r>
              <a:rPr sz="900" b="1">
                <a:solidFill>
                  <a:srgbClr val="F8FAFC"/>
                </a:solidFill>
              </a:rPr>
              <a:t>Step 4: DDI Screening: </a:t>
            </a:r>
            <a:r>
              <a:rPr sz="900">
                <a:solidFill>
                  <a:srgbClr val="94A3B8"/>
                </a:solidFill>
              </a:rPr>
              <a:t>Deterministically checked against 10-rule clinical drug-drug interaction matrix.</a:t>
            </a:r>
          </a:p>
          <a:p>
            <a:pPr>
              <a:spcAft>
                <a:spcPts val="400"/>
              </a:spcAft>
            </a:pPr>
            <a:r>
              <a:rPr sz="900" b="1">
                <a:solidFill>
                  <a:srgbClr val="F8FAFC"/>
                </a:solidFill>
              </a:rPr>
              <a:t>Step 5: Patient Guidance: </a:t>
            </a:r>
            <a:r>
              <a:rPr sz="900">
                <a:solidFill>
                  <a:srgbClr val="94A3B8"/>
                </a:solidFill>
              </a:rPr>
              <a:t>Gemini 2.5 Pro (or offline database) generates plain-language dosage cards and side effect warnings.</a:t>
            </a:r>
          </a:p>
        </p:txBody>
      </p:sp>
      <p:sp>
        <p:nvSpPr>
          <p:cNvPr id="10" name="Rounded Rectangle 9"/>
          <p:cNvSpPr/>
          <p:nvPr/>
        </p:nvSpPr>
        <p:spPr>
          <a:xfrm>
            <a:off x="731520" y="4023360"/>
            <a:ext cx="5120640" cy="228600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169664"/>
            <a:ext cx="4754880" cy="1993392"/>
          </a:xfrm>
          <a:prstGeom prst="rect">
            <a:avLst/>
          </a:prstGeom>
          <a:noFill/>
        </p:spPr>
        <p:txBody>
          <a:bodyPr wrap="square" lIns="0" tIns="0" rIns="0" bIns="0">
            <a:spAutoFit/>
          </a:bodyPr>
          <a:lstStyle/>
          <a:p>
            <a:pPr>
              <a:spcAft>
                <a:spcPts val="700"/>
              </a:spcAft>
              <a:defRPr sz="1000" b="1">
                <a:solidFill>
                  <a:srgbClr val="3B82F6"/>
                </a:solidFill>
              </a:defRPr>
            </a:pPr>
            <a:r>
              <a:t>COMPONENTS, ENDPOINTS &amp; SERVICES</a:t>
            </a:r>
          </a:p>
          <a:p>
            <a:pPr>
              <a:spcAft>
                <a:spcPts val="400"/>
              </a:spcAft>
            </a:pPr>
            <a:r>
              <a:rPr sz="900" b="1">
                <a:solidFill>
                  <a:srgbClr val="F8FAFC"/>
                </a:solidFill>
              </a:rPr>
              <a:t>Frontend Page: </a:t>
            </a:r>
            <a:r>
              <a:rPr sz="900">
                <a:solidFill>
                  <a:srgbClr val="94A3B8"/>
                </a:solidFill>
              </a:rPr>
              <a:t>frontend/src/pages/patient/PrescriptionAnalysis.tsx</a:t>
            </a:r>
          </a:p>
          <a:p>
            <a:pPr>
              <a:spcAft>
                <a:spcPts val="400"/>
              </a:spcAft>
            </a:pPr>
            <a:r>
              <a:rPr sz="900" b="1">
                <a:solidFill>
                  <a:srgbClr val="F8FAFC"/>
                </a:solidFill>
              </a:rPr>
              <a:t>API Endpoints: </a:t>
            </a:r>
            <a:r>
              <a:rPr sz="900">
                <a:solidFill>
                  <a:srgbClr val="94A3B8"/>
                </a:solidFill>
              </a:rPr>
              <a:t>POST /api/v1/prescription-analysis/upload, POST /api/v1/prescription-analysis/analyze</a:t>
            </a:r>
          </a:p>
          <a:p>
            <a:pPr>
              <a:spcAft>
                <a:spcPts val="400"/>
              </a:spcAft>
            </a:pPr>
            <a:r>
              <a:rPr sz="900" b="1">
                <a:solidFill>
                  <a:srgbClr val="F8FAFC"/>
                </a:solidFill>
              </a:rPr>
              <a:t>Core Pipelines: </a:t>
            </a:r>
            <a:r>
              <a:rPr sz="900">
                <a:solidFill>
                  <a:srgbClr val="94A3B8"/>
                </a:solidFill>
              </a:rPr>
              <a:t>PrescriptionPipeline (prescription_pipeline.py), CLINICAL_INTERACTION_RULES (medical_knowledge_service.py)</a:t>
            </a:r>
          </a:p>
          <a:p>
            <a:pPr>
              <a:spcAft>
                <a:spcPts val="400"/>
              </a:spcAft>
            </a:pPr>
            <a:r>
              <a:rPr sz="900" b="1">
                <a:solidFill>
                  <a:srgbClr val="F8FAFC"/>
                </a:solidFill>
              </a:rPr>
              <a:t>Verified Rules: </a:t>
            </a:r>
            <a:r>
              <a:rPr sz="900">
                <a:solidFill>
                  <a:srgbClr val="94A3B8"/>
                </a:solidFill>
              </a:rPr>
              <a:t>10 interaction pairs (Warfarin+NSAIDs, Lisinopril+Spironolactone, Metformin+Contrast, etc.)</a:t>
            </a:r>
          </a:p>
        </p:txBody>
      </p:sp>
      <p:sp>
        <p:nvSpPr>
          <p:cNvPr id="12" name="Rounded Rectangle 11"/>
          <p:cNvSpPr/>
          <p:nvPr/>
        </p:nvSpPr>
        <p:spPr>
          <a:xfrm>
            <a:off x="6217920" y="4023360"/>
            <a:ext cx="5212080" cy="228600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4169664"/>
            <a:ext cx="4846320" cy="1993392"/>
          </a:xfrm>
          <a:prstGeom prst="rect">
            <a:avLst/>
          </a:prstGeom>
          <a:noFill/>
        </p:spPr>
        <p:txBody>
          <a:bodyPr wrap="square" lIns="0" tIns="0" rIns="0" bIns="0">
            <a:spAutoFit/>
          </a:bodyPr>
          <a:lstStyle/>
          <a:p>
            <a:pPr>
              <a:spcAft>
                <a:spcPts val="700"/>
              </a:spcAft>
              <a:defRPr sz="1000" b="1">
                <a:solidFill>
                  <a:srgbClr val="F59E0B"/>
                </a:solidFill>
              </a:defRPr>
            </a:pPr>
            <a:r>
              <a:t>EXPECTED BENEFIT &amp; PRE-CLINICAL VALIDATION</a:t>
            </a:r>
          </a:p>
          <a:p>
            <a:pPr>
              <a:spcAft>
                <a:spcPts val="400"/>
              </a:spcAft>
            </a:pPr>
            <a:r>
              <a:rPr sz="900" b="1">
                <a:solidFill>
                  <a:srgbClr val="F8FAFC"/>
                </a:solidFill>
              </a:rPr>
              <a:t>Expected Benefit: </a:t>
            </a:r>
            <a:r>
              <a:rPr sz="900">
                <a:solidFill>
                  <a:srgbClr val="94A3B8"/>
                </a:solidFill>
              </a:rPr>
              <a:t>Translates clinical jargon into grade-school language, flags fatal contraindications, and increases medication compliance.</a:t>
            </a:r>
          </a:p>
          <a:p>
            <a:pPr>
              <a:spcAft>
                <a:spcPts val="400"/>
              </a:spcAft>
            </a:pPr>
            <a:r>
              <a:rPr sz="900" b="1">
                <a:solidFill>
                  <a:srgbClr val="F8FAFC"/>
                </a:solidFill>
              </a:rPr>
              <a:t>Current Status: </a:t>
            </a:r>
            <a:r>
              <a:rPr sz="900">
                <a:solidFill>
                  <a:srgbClr val="94A3B8"/>
                </a:solidFill>
              </a:rPr>
              <a:t>VERIFIED LIVE / FALLBACK ACTIVE (Passes 10 interaction test cases offline).</a:t>
            </a:r>
          </a:p>
          <a:p>
            <a:pPr>
              <a:spcAft>
                <a:spcPts val="400"/>
              </a:spcAft>
            </a:pPr>
            <a:r>
              <a:rPr sz="900" b="1">
                <a:solidFill>
                  <a:srgbClr val="F8FAFC"/>
                </a:solidFill>
              </a:rPr>
              <a:t>Validation Required: </a:t>
            </a:r>
            <a:r>
              <a:rPr sz="900">
                <a:solidFill>
                  <a:srgbClr val="94A3B8"/>
                </a:solidFill>
              </a:rPr>
              <a:t>Multi-center handwritten Rx recognition benchmark, FDA SaMD Class II regulatory review, and dynamic NIH RxNorm database sync.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90E17"/>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lIns="0" tIns="0" rIns="0" bIns="0">
            <a:spAutoFit/>
          </a:bodyPr>
          <a:lstStyle/>
          <a:p>
            <a:pPr>
              <a:defRPr sz="900" b="1">
                <a:solidFill>
                  <a:srgbClr val="00B4D8"/>
                </a:solidFill>
              </a:defRPr>
            </a:pPr>
            <a:r>
              <a:t>USE CASE 3: CLINICAL TRANSLATION</a:t>
            </a:r>
          </a:p>
        </p:txBody>
      </p:sp>
      <p:sp>
        <p:nvSpPr>
          <p:cNvPr id="3" name="TextBox 2"/>
          <p:cNvSpPr txBox="1"/>
          <p:nvPr/>
        </p:nvSpPr>
        <p:spPr>
          <a:xfrm>
            <a:off x="8412480" y="365760"/>
            <a:ext cx="3017520" cy="320040"/>
          </a:xfrm>
          <a:prstGeom prst="rect">
            <a:avLst/>
          </a:prstGeom>
          <a:noFill/>
        </p:spPr>
        <p:txBody>
          <a:bodyPr wrap="square" lIns="0" tIns="0" rIns="0" bIns="0">
            <a:spAutoFit/>
          </a:bodyPr>
          <a:lstStyle/>
          <a:p>
            <a:pPr algn="r">
              <a:defRPr sz="950" b="1">
                <a:solidFill>
                  <a:srgbClr val="F59E0B"/>
                </a:solidFill>
              </a:defRPr>
            </a:pPr>
            <a:r>
              <a:t>● VERIFIED LIVE / FALLBACK ACTIVE</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100" b="1">
                <a:solidFill>
                  <a:srgbClr val="F8FAFC"/>
                </a:solidFill>
              </a:defRPr>
            </a:pPr>
            <a:r>
              <a:t>Medical Report &amp; Lab-Result Explanation</a:t>
            </a:r>
          </a:p>
        </p:txBody>
      </p:sp>
      <p:sp>
        <p:nvSpPr>
          <p:cNvPr id="5" name="TextBox 4"/>
          <p:cNvSpPr txBox="1"/>
          <p:nvPr/>
        </p:nvSpPr>
        <p:spPr>
          <a:xfrm>
            <a:off x="731520" y="1234440"/>
            <a:ext cx="10698480" cy="320040"/>
          </a:xfrm>
          <a:prstGeom prst="rect">
            <a:avLst/>
          </a:prstGeom>
          <a:noFill/>
        </p:spPr>
        <p:txBody>
          <a:bodyPr wrap="square" lIns="0" tIns="0" rIns="0" bIns="0">
            <a:spAutoFit/>
          </a:bodyPr>
          <a:lstStyle/>
          <a:p>
            <a:pPr>
              <a:defRPr sz="1050">
                <a:solidFill>
                  <a:srgbClr val="94A3B8"/>
                </a:solidFill>
              </a:defRPr>
            </a:pPr>
            <a:r>
              <a:t>37-term plain-language clinical dictionary, abnormal flag context, and structured 4-part translation framework.</a:t>
            </a:r>
          </a:p>
        </p:txBody>
      </p:sp>
      <p:sp>
        <p:nvSpPr>
          <p:cNvPr id="6" name="Rounded Rectangle 5"/>
          <p:cNvSpPr/>
          <p:nvPr/>
        </p:nvSpPr>
        <p:spPr>
          <a:xfrm>
            <a:off x="731520" y="1645920"/>
            <a:ext cx="5120640" cy="219456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92224"/>
            <a:ext cx="4754880" cy="1901952"/>
          </a:xfrm>
          <a:prstGeom prst="rect">
            <a:avLst/>
          </a:prstGeom>
          <a:noFill/>
        </p:spPr>
        <p:txBody>
          <a:bodyPr wrap="square" lIns="0" tIns="0" rIns="0" bIns="0">
            <a:spAutoFit/>
          </a:bodyPr>
          <a:lstStyle/>
          <a:p>
            <a:pPr>
              <a:spcAft>
                <a:spcPts val="700"/>
              </a:spcAft>
              <a:defRPr sz="1000" b="1">
                <a:solidFill>
                  <a:srgbClr val="00B4D8"/>
                </a:solidFill>
              </a:defRPr>
            </a:pPr>
            <a:r>
              <a:t>REAL-WORLD PROBLEM &amp; INTENDED USER</a:t>
            </a:r>
          </a:p>
          <a:p>
            <a:pPr>
              <a:spcAft>
                <a:spcPts val="400"/>
              </a:spcAft>
            </a:pPr>
            <a:r>
              <a:rPr sz="900" b="1">
                <a:solidFill>
                  <a:srgbClr val="F8FAFC"/>
                </a:solidFill>
              </a:rPr>
              <a:t>The Problem: </a:t>
            </a:r>
            <a:r>
              <a:rPr sz="900">
                <a:solidFill>
                  <a:srgbClr val="94A3B8"/>
                </a:solidFill>
              </a:rPr>
              <a:t>Patients receive lab reports filled with cryptic abbreviations (eGFR, MCV, AST, TSH) and panic over benign out-of-range flags or consult uncurated search engines.</a:t>
            </a:r>
          </a:p>
          <a:p>
            <a:pPr>
              <a:spcAft>
                <a:spcPts val="400"/>
              </a:spcAft>
            </a:pPr>
            <a:r>
              <a:rPr sz="900" b="1">
                <a:solidFill>
                  <a:srgbClr val="F8FAFC"/>
                </a:solidFill>
              </a:rPr>
              <a:t>Intended Users: </a:t>
            </a:r>
            <a:r>
              <a:rPr sz="900">
                <a:solidFill>
                  <a:srgbClr val="94A3B8"/>
                </a:solidFill>
              </a:rPr>
              <a:t>Outpatients receiving CBC/CMP/Lipid panels, post-operative patients, and chronic disease cohorts.</a:t>
            </a:r>
          </a:p>
          <a:p>
            <a:pPr>
              <a:spcAft>
                <a:spcPts val="400"/>
              </a:spcAft>
            </a:pPr>
            <a:r>
              <a:rPr sz="900" b="1">
                <a:solidFill>
                  <a:srgbClr val="F8FAFC"/>
                </a:solidFill>
              </a:rPr>
              <a:t>Psychological Impact: </a:t>
            </a:r>
            <a:r>
              <a:rPr sz="900">
                <a:solidFill>
                  <a:srgbClr val="94A3B8"/>
                </a:solidFill>
              </a:rPr>
              <a:t>Unexplained lab values trigger severe, unnecessary patient anxiety.</a:t>
            </a:r>
          </a:p>
        </p:txBody>
      </p:sp>
      <p:sp>
        <p:nvSpPr>
          <p:cNvPr id="8" name="Rounded Rectangle 7"/>
          <p:cNvSpPr/>
          <p:nvPr/>
        </p:nvSpPr>
        <p:spPr>
          <a:xfrm>
            <a:off x="6217920" y="1645920"/>
            <a:ext cx="5212080" cy="219456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792224"/>
            <a:ext cx="4846320" cy="1901952"/>
          </a:xfrm>
          <a:prstGeom prst="rect">
            <a:avLst/>
          </a:prstGeom>
          <a:noFill/>
        </p:spPr>
        <p:txBody>
          <a:bodyPr wrap="square" lIns="0" tIns="0" rIns="0" bIns="0">
            <a:spAutoFit/>
          </a:bodyPr>
          <a:lstStyle/>
          <a:p>
            <a:pPr>
              <a:spcAft>
                <a:spcPts val="700"/>
              </a:spcAft>
              <a:defRPr sz="1000" b="1">
                <a:solidFill>
                  <a:srgbClr val="2DD4BF"/>
                </a:solidFill>
              </a:defRPr>
            </a:pPr>
            <a:r>
              <a:t>USER JOURNEY &amp; 4-PART TRANSLATION FRAMEWORK</a:t>
            </a:r>
          </a:p>
          <a:p>
            <a:pPr>
              <a:spcAft>
                <a:spcPts val="400"/>
              </a:spcAft>
            </a:pPr>
            <a:r>
              <a:rPr sz="900" b="1">
                <a:solidFill>
                  <a:srgbClr val="F8FAFC"/>
                </a:solidFill>
              </a:rPr>
              <a:t>Step 1: Document Upload: </a:t>
            </a:r>
            <a:r>
              <a:rPr sz="900">
                <a:solidFill>
                  <a:srgbClr val="94A3B8"/>
                </a:solidFill>
              </a:rPr>
              <a:t>Patient uploads diagnostic lab report (PDF/Image) at /patient/medical-reports/analyze.</a:t>
            </a:r>
          </a:p>
          <a:p>
            <a:pPr>
              <a:spcAft>
                <a:spcPts val="400"/>
              </a:spcAft>
            </a:pPr>
            <a:r>
              <a:rPr sz="900" b="1">
                <a:solidFill>
                  <a:srgbClr val="F8FAFC"/>
                </a:solidFill>
              </a:rPr>
              <a:t>Step 2: Analyte Extraction: </a:t>
            </a:r>
            <a:r>
              <a:rPr sz="900">
                <a:solidFill>
                  <a:srgbClr val="94A3B8"/>
                </a:solidFill>
              </a:rPr>
              <a:t>Pipeline scans 25+ analytes (WBC, HbA1c, Creatinine, eGFR, Platelets, Electrolytes).</a:t>
            </a:r>
          </a:p>
          <a:p>
            <a:pPr>
              <a:spcAft>
                <a:spcPts val="400"/>
              </a:spcAft>
            </a:pPr>
            <a:r>
              <a:rPr sz="900" b="1">
                <a:solidFill>
                  <a:srgbClr val="F8FAFC"/>
                </a:solidFill>
              </a:rPr>
              <a:t>Step 3: Dictionary Lookup: </a:t>
            </a:r>
            <a:r>
              <a:rPr sz="900">
                <a:solidFill>
                  <a:srgbClr val="94A3B8"/>
                </a:solidFill>
              </a:rPr>
              <a:t>Maps medical jargon against 37-term plain-language lexicon (MEDICAL_TERMINOLOGY_DICT).</a:t>
            </a:r>
          </a:p>
          <a:p>
            <a:pPr>
              <a:spcAft>
                <a:spcPts val="400"/>
              </a:spcAft>
            </a:pPr>
            <a:r>
              <a:rPr sz="900" b="1">
                <a:solidFill>
                  <a:srgbClr val="F8FAFC"/>
                </a:solidFill>
              </a:rPr>
              <a:t>Step 4: 4-Part Translation: </a:t>
            </a:r>
            <a:r>
              <a:rPr sz="900">
                <a:solidFill>
                  <a:srgbClr val="94A3B8"/>
                </a:solidFill>
              </a:rPr>
              <a:t>Generates: (1) Executive Summary, (2) Key Findings &amp; Meanings, (3) Boundaries (What it does NOT prove), (4) Questions for Doctor &amp; Red Flags.</a:t>
            </a:r>
          </a:p>
        </p:txBody>
      </p:sp>
      <p:sp>
        <p:nvSpPr>
          <p:cNvPr id="10" name="Rounded Rectangle 9"/>
          <p:cNvSpPr/>
          <p:nvPr/>
        </p:nvSpPr>
        <p:spPr>
          <a:xfrm>
            <a:off x="731520" y="4023360"/>
            <a:ext cx="5120640" cy="228600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169664"/>
            <a:ext cx="4754880" cy="1993392"/>
          </a:xfrm>
          <a:prstGeom prst="rect">
            <a:avLst/>
          </a:prstGeom>
          <a:noFill/>
        </p:spPr>
        <p:txBody>
          <a:bodyPr wrap="square" lIns="0" tIns="0" rIns="0" bIns="0">
            <a:spAutoFit/>
          </a:bodyPr>
          <a:lstStyle/>
          <a:p>
            <a:pPr>
              <a:spcAft>
                <a:spcPts val="700"/>
              </a:spcAft>
              <a:defRPr sz="1000" b="1">
                <a:solidFill>
                  <a:srgbClr val="3B82F6"/>
                </a:solidFill>
              </a:defRPr>
            </a:pPr>
            <a:r>
              <a:t>COMPONENTS, ENDPOINTS &amp; SERVICES</a:t>
            </a:r>
          </a:p>
          <a:p>
            <a:pPr>
              <a:spcAft>
                <a:spcPts val="400"/>
              </a:spcAft>
            </a:pPr>
            <a:r>
              <a:rPr sz="900" b="1">
                <a:solidFill>
                  <a:srgbClr val="F8FAFC"/>
                </a:solidFill>
              </a:rPr>
              <a:t>Frontend Page: </a:t>
            </a:r>
            <a:r>
              <a:rPr sz="900">
                <a:solidFill>
                  <a:srgbClr val="94A3B8"/>
                </a:solidFill>
              </a:rPr>
              <a:t>frontend/src/pages/patient/MedicalReportAnalysis.tsx (Severity color-coding &amp; term tabs)</a:t>
            </a:r>
          </a:p>
          <a:p>
            <a:pPr>
              <a:spcAft>
                <a:spcPts val="400"/>
              </a:spcAft>
            </a:pPr>
            <a:r>
              <a:rPr sz="900" b="1">
                <a:solidFill>
                  <a:srgbClr val="F8FAFC"/>
                </a:solidFill>
              </a:rPr>
              <a:t>API Endpoints: </a:t>
            </a:r>
            <a:r>
              <a:rPr sz="900">
                <a:solidFill>
                  <a:srgbClr val="94A3B8"/>
                </a:solidFill>
              </a:rPr>
              <a:t>POST /api/v1/medical-report-analysis/upload, POST /api/v1/medical-report-analysis/analyze</a:t>
            </a:r>
          </a:p>
          <a:p>
            <a:pPr>
              <a:spcAft>
                <a:spcPts val="400"/>
              </a:spcAft>
            </a:pPr>
            <a:r>
              <a:rPr sz="900" b="1">
                <a:solidFill>
                  <a:srgbClr val="F8FAFC"/>
                </a:solidFill>
              </a:rPr>
              <a:t>Core Pipelines: </a:t>
            </a:r>
            <a:r>
              <a:rPr sz="900">
                <a:solidFill>
                  <a:srgbClr val="94A3B8"/>
                </a:solidFill>
              </a:rPr>
              <a:t>MedicalReportPipeline (medical_report_pipeline.py)</a:t>
            </a:r>
          </a:p>
          <a:p>
            <a:pPr>
              <a:spcAft>
                <a:spcPts val="400"/>
              </a:spcAft>
            </a:pPr>
            <a:r>
              <a:rPr sz="900" b="1">
                <a:solidFill>
                  <a:srgbClr val="F8FAFC"/>
                </a:solidFill>
              </a:rPr>
              <a:t>Clinical Lexicon: </a:t>
            </a:r>
            <a:r>
              <a:rPr sz="900">
                <a:solidFill>
                  <a:srgbClr val="94A3B8"/>
                </a:solidFill>
              </a:rPr>
              <a:t>37 embedded terms (eGFR, HbA1c, Troponin, Leukocytosis, Thrombocytopenia, ALT/AST, etc.)</a:t>
            </a:r>
          </a:p>
        </p:txBody>
      </p:sp>
      <p:sp>
        <p:nvSpPr>
          <p:cNvPr id="12" name="Rounded Rectangle 11"/>
          <p:cNvSpPr/>
          <p:nvPr/>
        </p:nvSpPr>
        <p:spPr>
          <a:xfrm>
            <a:off x="6217920" y="4023360"/>
            <a:ext cx="5212080" cy="228600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4169664"/>
            <a:ext cx="4846320" cy="1993392"/>
          </a:xfrm>
          <a:prstGeom prst="rect">
            <a:avLst/>
          </a:prstGeom>
          <a:noFill/>
        </p:spPr>
        <p:txBody>
          <a:bodyPr wrap="square" lIns="0" tIns="0" rIns="0" bIns="0">
            <a:spAutoFit/>
          </a:bodyPr>
          <a:lstStyle/>
          <a:p>
            <a:pPr>
              <a:spcAft>
                <a:spcPts val="700"/>
              </a:spcAft>
              <a:defRPr sz="1000" b="1">
                <a:solidFill>
                  <a:srgbClr val="F59E0B"/>
                </a:solidFill>
              </a:defRPr>
            </a:pPr>
            <a:r>
              <a:t>EXPECTED BENEFIT &amp; PRE-CLINICAL VALIDATION</a:t>
            </a:r>
          </a:p>
          <a:p>
            <a:pPr>
              <a:spcAft>
                <a:spcPts val="400"/>
              </a:spcAft>
            </a:pPr>
            <a:r>
              <a:rPr sz="900" b="1">
                <a:solidFill>
                  <a:srgbClr val="F8FAFC"/>
                </a:solidFill>
              </a:rPr>
              <a:t>Expected Benefit: </a:t>
            </a:r>
            <a:r>
              <a:rPr sz="900">
                <a:solidFill>
                  <a:srgbClr val="94A3B8"/>
                </a:solidFill>
              </a:rPr>
              <a:t>Demystifies lab results, replaces panic-inducing web searches with curated facts, and improves doctor-patient dialogue.</a:t>
            </a:r>
          </a:p>
          <a:p>
            <a:pPr>
              <a:spcAft>
                <a:spcPts val="400"/>
              </a:spcAft>
            </a:pPr>
            <a:r>
              <a:rPr sz="900" b="1">
                <a:solidFill>
                  <a:srgbClr val="F8FAFC"/>
                </a:solidFill>
              </a:rPr>
              <a:t>Current Status: </a:t>
            </a:r>
            <a:r>
              <a:rPr sz="900">
                <a:solidFill>
                  <a:srgbClr val="94A3B8"/>
                </a:solidFill>
              </a:rPr>
              <a:t>VERIFIED LIVE / FALLBACK ACTIVE (Embedded 37-term dictionary operates 100% offline).</a:t>
            </a:r>
          </a:p>
          <a:p>
            <a:pPr>
              <a:spcAft>
                <a:spcPts val="400"/>
              </a:spcAft>
            </a:pPr>
            <a:r>
              <a:rPr sz="900" b="1">
                <a:solidFill>
                  <a:srgbClr val="F8FAFC"/>
                </a:solidFill>
              </a:rPr>
              <a:t>Validation Required: </a:t>
            </a:r>
            <a:r>
              <a:rPr sz="900">
                <a:solidFill>
                  <a:srgbClr val="94A3B8"/>
                </a:solidFill>
              </a:rPr>
              <a:t>Multi-specialty physician panel review across rare disease panels, hallucination guardrails, and automated critical panic value alerting.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90E17"/>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lIns="0" tIns="0" rIns="0" bIns="0">
            <a:spAutoFit/>
          </a:bodyPr>
          <a:lstStyle/>
          <a:p>
            <a:pPr>
              <a:defRPr sz="900" b="1">
                <a:solidFill>
                  <a:srgbClr val="00B4D8"/>
                </a:solidFill>
              </a:defRPr>
            </a:pPr>
            <a:r>
              <a:t>USE CASE 4: CONTEXTUAL AI</a:t>
            </a:r>
          </a:p>
        </p:txBody>
      </p:sp>
      <p:sp>
        <p:nvSpPr>
          <p:cNvPr id="3" name="TextBox 2"/>
          <p:cNvSpPr txBox="1"/>
          <p:nvPr/>
        </p:nvSpPr>
        <p:spPr>
          <a:xfrm>
            <a:off x="8412480" y="365760"/>
            <a:ext cx="3017520" cy="320040"/>
          </a:xfrm>
          <a:prstGeom prst="rect">
            <a:avLst/>
          </a:prstGeom>
          <a:noFill/>
        </p:spPr>
        <p:txBody>
          <a:bodyPr wrap="square" lIns="0" tIns="0" rIns="0" bIns="0">
            <a:spAutoFit/>
          </a:bodyPr>
          <a:lstStyle/>
          <a:p>
            <a:pPr algn="r">
              <a:defRPr sz="950" b="1">
                <a:solidFill>
                  <a:srgbClr val="F59E0B"/>
                </a:solidFill>
              </a:defRPr>
            </a:pPr>
            <a:r>
              <a:t>● VERIFIED LIVE / FALLBACK ACTIVE</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100" b="1">
                <a:solidFill>
                  <a:srgbClr val="F8FAFC"/>
                </a:solidFill>
              </a:defRPr>
            </a:pPr>
            <a:r>
              <a:t>AI Health Q&amp;A Grounded in Patient Records</a:t>
            </a:r>
          </a:p>
        </p:txBody>
      </p:sp>
      <p:sp>
        <p:nvSpPr>
          <p:cNvPr id="5" name="TextBox 4"/>
          <p:cNvSpPr txBox="1"/>
          <p:nvPr/>
        </p:nvSpPr>
        <p:spPr>
          <a:xfrm>
            <a:off x="731520" y="1234440"/>
            <a:ext cx="10698480" cy="320040"/>
          </a:xfrm>
          <a:prstGeom prst="rect">
            <a:avLst/>
          </a:prstGeom>
          <a:noFill/>
        </p:spPr>
        <p:txBody>
          <a:bodyPr wrap="square" lIns="0" tIns="0" rIns="0" bIns="0">
            <a:spAutoFit/>
          </a:bodyPr>
          <a:lstStyle/>
          <a:p>
            <a:pPr>
              <a:defRPr sz="1050">
                <a:solidFill>
                  <a:srgbClr val="94A3B8"/>
                </a:solidFill>
              </a:defRPr>
            </a:pPr>
            <a:r>
              <a:t>Multi-turn clinical Q&amp;A grounded in live diagnoses, active prescriptions, and semantic vector RAG.</a:t>
            </a:r>
          </a:p>
        </p:txBody>
      </p:sp>
      <p:sp>
        <p:nvSpPr>
          <p:cNvPr id="6" name="Rounded Rectangle 5"/>
          <p:cNvSpPr/>
          <p:nvPr/>
        </p:nvSpPr>
        <p:spPr>
          <a:xfrm>
            <a:off x="731520" y="1645920"/>
            <a:ext cx="5120640" cy="219456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92224"/>
            <a:ext cx="4754880" cy="1901952"/>
          </a:xfrm>
          <a:prstGeom prst="rect">
            <a:avLst/>
          </a:prstGeom>
          <a:noFill/>
        </p:spPr>
        <p:txBody>
          <a:bodyPr wrap="square" lIns="0" tIns="0" rIns="0" bIns="0">
            <a:spAutoFit/>
          </a:bodyPr>
          <a:lstStyle/>
          <a:p>
            <a:pPr>
              <a:spcAft>
                <a:spcPts val="700"/>
              </a:spcAft>
              <a:defRPr sz="1000" b="1">
                <a:solidFill>
                  <a:srgbClr val="00B4D8"/>
                </a:solidFill>
              </a:defRPr>
            </a:pPr>
            <a:r>
              <a:t>REAL-WORLD PROBLEM &amp; INTENDED USER</a:t>
            </a:r>
          </a:p>
          <a:p>
            <a:pPr>
              <a:spcAft>
                <a:spcPts val="400"/>
              </a:spcAft>
            </a:pPr>
            <a:r>
              <a:rPr sz="900" b="1">
                <a:solidFill>
                  <a:srgbClr val="F8FAFC"/>
                </a:solidFill>
              </a:rPr>
              <a:t>The Problem: </a:t>
            </a:r>
            <a:r>
              <a:rPr sz="900">
                <a:solidFill>
                  <a:srgbClr val="94A3B8"/>
                </a:solidFill>
              </a:rPr>
              <a:t>Generic AI chatbots lack patient context, hallucinate medical facts, and offer dangerous advice that overlooks existing kidney disease, allergies, or drug regimens.</a:t>
            </a:r>
          </a:p>
          <a:p>
            <a:pPr>
              <a:spcAft>
                <a:spcPts val="400"/>
              </a:spcAft>
            </a:pPr>
            <a:r>
              <a:rPr sz="900" b="1">
                <a:solidFill>
                  <a:srgbClr val="F8FAFC"/>
                </a:solidFill>
              </a:rPr>
              <a:t>Intended Users: </a:t>
            </a:r>
            <a:r>
              <a:rPr sz="900">
                <a:solidFill>
                  <a:srgbClr val="94A3B8"/>
                </a:solidFill>
              </a:rPr>
              <a:t>Patients seeking personalized clarification on symptoms, medications, or diet between clinic visits.</a:t>
            </a:r>
          </a:p>
          <a:p>
            <a:pPr>
              <a:spcAft>
                <a:spcPts val="400"/>
              </a:spcAft>
            </a:pPr>
            <a:r>
              <a:rPr sz="900" b="1">
                <a:solidFill>
                  <a:srgbClr val="F8FAFC"/>
                </a:solidFill>
              </a:rPr>
              <a:t>Risk: </a:t>
            </a:r>
            <a:r>
              <a:rPr sz="900">
                <a:solidFill>
                  <a:srgbClr val="94A3B8"/>
                </a:solidFill>
              </a:rPr>
              <a:t>Generic LLM advice frequently conflicts with active treatment plans.</a:t>
            </a:r>
          </a:p>
        </p:txBody>
      </p:sp>
      <p:sp>
        <p:nvSpPr>
          <p:cNvPr id="8" name="Rounded Rectangle 7"/>
          <p:cNvSpPr/>
          <p:nvPr/>
        </p:nvSpPr>
        <p:spPr>
          <a:xfrm>
            <a:off x="6217920" y="1645920"/>
            <a:ext cx="5212080" cy="219456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792224"/>
            <a:ext cx="4846320" cy="1901952"/>
          </a:xfrm>
          <a:prstGeom prst="rect">
            <a:avLst/>
          </a:prstGeom>
          <a:noFill/>
        </p:spPr>
        <p:txBody>
          <a:bodyPr wrap="square" lIns="0" tIns="0" rIns="0" bIns="0">
            <a:spAutoFit/>
          </a:bodyPr>
          <a:lstStyle/>
          <a:p>
            <a:pPr>
              <a:spcAft>
                <a:spcPts val="700"/>
              </a:spcAft>
              <a:defRPr sz="1000" b="1">
                <a:solidFill>
                  <a:srgbClr val="2DD4BF"/>
                </a:solidFill>
              </a:defRPr>
            </a:pPr>
            <a:r>
              <a:t>USER JOURNEY &amp; GROUNDING PIPELINE</a:t>
            </a:r>
          </a:p>
          <a:p>
            <a:pPr>
              <a:spcAft>
                <a:spcPts val="400"/>
              </a:spcAft>
            </a:pPr>
            <a:r>
              <a:rPr sz="900" b="1">
                <a:solidFill>
                  <a:srgbClr val="F8FAFC"/>
                </a:solidFill>
              </a:rPr>
              <a:t>Step 1: Open Assistant: </a:t>
            </a:r>
            <a:r>
              <a:rPr sz="900">
                <a:solidFill>
                  <a:srgbClr val="94A3B8"/>
                </a:solidFill>
              </a:rPr>
              <a:t>Patient opens /patient/ai; greeted with explicit non-diagnostic medical disclaimer banner.</a:t>
            </a:r>
          </a:p>
          <a:p>
            <a:pPr>
              <a:spcAft>
                <a:spcPts val="400"/>
              </a:spcAft>
            </a:pPr>
            <a:r>
              <a:rPr sz="900" b="1">
                <a:solidFill>
                  <a:srgbClr val="F8FAFC"/>
                </a:solidFill>
              </a:rPr>
              <a:t>Step 2: Context Resolution: </a:t>
            </a:r>
            <a:r>
              <a:rPr sz="900">
                <a:solidFill>
                  <a:srgbClr val="94A3B8"/>
                </a:solidFill>
              </a:rPr>
              <a:t>_resolve_patient_context silently pulls patient MRN, top 5 active prescriptions, and recent diagnoses.</a:t>
            </a:r>
          </a:p>
          <a:p>
            <a:pPr>
              <a:spcAft>
                <a:spcPts val="400"/>
              </a:spcAft>
            </a:pPr>
            <a:r>
              <a:rPr sz="900" b="1">
                <a:solidFill>
                  <a:srgbClr val="F8FAFC"/>
                </a:solidFill>
              </a:rPr>
              <a:t>Step 3: Semantic RAG Retrieval: </a:t>
            </a:r>
            <a:r>
              <a:rPr sz="900">
                <a:solidFill>
                  <a:srgbClr val="94A3B8"/>
                </a:solidFill>
              </a:rPr>
              <a:t>_retrieve_rag_chunks performs vector cosine similarity on medical_records (with graceful fallback).</a:t>
            </a:r>
          </a:p>
          <a:p>
            <a:pPr>
              <a:spcAft>
                <a:spcPts val="400"/>
              </a:spcAft>
            </a:pPr>
            <a:r>
              <a:rPr sz="900" b="1">
                <a:solidFill>
                  <a:srgbClr val="F8FAFC"/>
                </a:solidFill>
              </a:rPr>
              <a:t>Step 4: Red-Flag Screening: </a:t>
            </a:r>
            <a:r>
              <a:rPr sz="900">
                <a:solidFill>
                  <a:srgbClr val="94A3B8"/>
                </a:solidFill>
              </a:rPr>
              <a:t>System scans prompt for red-flag emergency symptoms (chest pain, stroke signs) to trigger 911 advisory.</a:t>
            </a:r>
          </a:p>
          <a:p>
            <a:pPr>
              <a:spcAft>
                <a:spcPts val="400"/>
              </a:spcAft>
            </a:pPr>
            <a:r>
              <a:rPr sz="900" b="1">
                <a:solidFill>
                  <a:srgbClr val="F8FAFC"/>
                </a:solidFill>
              </a:rPr>
              <a:t>Step 5: Grounded Response: </a:t>
            </a:r>
            <a:r>
              <a:rPr sz="900">
                <a:solidFill>
                  <a:srgbClr val="94A3B8"/>
                </a:solidFill>
              </a:rPr>
              <a:t>Gemini 2.5 Pro synthesizes empathetic response citing the patient's specific medications.</a:t>
            </a:r>
          </a:p>
        </p:txBody>
      </p:sp>
      <p:sp>
        <p:nvSpPr>
          <p:cNvPr id="10" name="Rounded Rectangle 9"/>
          <p:cNvSpPr/>
          <p:nvPr/>
        </p:nvSpPr>
        <p:spPr>
          <a:xfrm>
            <a:off x="731520" y="4023360"/>
            <a:ext cx="5120640" cy="228600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169664"/>
            <a:ext cx="4754880" cy="1993392"/>
          </a:xfrm>
          <a:prstGeom prst="rect">
            <a:avLst/>
          </a:prstGeom>
          <a:noFill/>
        </p:spPr>
        <p:txBody>
          <a:bodyPr wrap="square" lIns="0" tIns="0" rIns="0" bIns="0">
            <a:spAutoFit/>
          </a:bodyPr>
          <a:lstStyle/>
          <a:p>
            <a:pPr>
              <a:spcAft>
                <a:spcPts val="700"/>
              </a:spcAft>
              <a:defRPr sz="1000" b="1">
                <a:solidFill>
                  <a:srgbClr val="3B82F6"/>
                </a:solidFill>
              </a:defRPr>
            </a:pPr>
            <a:r>
              <a:t>COMPONENTS, ENDPOINTS &amp; SERVICES</a:t>
            </a:r>
          </a:p>
          <a:p>
            <a:pPr>
              <a:spcAft>
                <a:spcPts val="400"/>
              </a:spcAft>
            </a:pPr>
            <a:r>
              <a:rPr sz="900" b="1">
                <a:solidFill>
                  <a:srgbClr val="F8FAFC"/>
                </a:solidFill>
              </a:rPr>
              <a:t>Frontend Page: </a:t>
            </a:r>
            <a:r>
              <a:rPr sz="900">
                <a:solidFill>
                  <a:srgbClr val="94A3B8"/>
                </a:solidFill>
              </a:rPr>
              <a:t>frontend/src/pages/patient/AIAssistant.tsx (Streaming message renderer &amp; disclaimer banner)</a:t>
            </a:r>
          </a:p>
          <a:p>
            <a:pPr>
              <a:spcAft>
                <a:spcPts val="400"/>
              </a:spcAft>
            </a:pPr>
            <a:r>
              <a:rPr sz="900" b="1">
                <a:solidFill>
                  <a:srgbClr val="F8FAFC"/>
                </a:solidFill>
              </a:rPr>
              <a:t>API Endpoints: </a:t>
            </a:r>
            <a:r>
              <a:rPr sz="900">
                <a:solidFill>
                  <a:srgbClr val="94A3B8"/>
                </a:solidFill>
              </a:rPr>
              <a:t>POST /api/v1/ai/chat (ai.py:L128-140)</a:t>
            </a:r>
          </a:p>
          <a:p>
            <a:pPr>
              <a:spcAft>
                <a:spcPts val="400"/>
              </a:spcAft>
            </a:pPr>
            <a:r>
              <a:rPr sz="900" b="1">
                <a:solidFill>
                  <a:srgbClr val="F8FAFC"/>
                </a:solidFill>
              </a:rPr>
              <a:t>Grounding Engine: </a:t>
            </a:r>
            <a:r>
              <a:rPr sz="900">
                <a:solidFill>
                  <a:srgbClr val="94A3B8"/>
                </a:solidFill>
              </a:rPr>
              <a:t>_resolve_patient_context (ai.py:L35-82), _retrieve_rag_chunks (ai.py:L85-124)</a:t>
            </a:r>
          </a:p>
          <a:p>
            <a:pPr>
              <a:spcAft>
                <a:spcPts val="400"/>
              </a:spcAft>
            </a:pPr>
            <a:r>
              <a:rPr sz="900" b="1">
                <a:solidFill>
                  <a:srgbClr val="F8FAFC"/>
                </a:solidFill>
              </a:rPr>
              <a:t>Database Models: </a:t>
            </a:r>
            <a:r>
              <a:rPr sz="900">
                <a:solidFill>
                  <a:srgbClr val="94A3B8"/>
                </a:solidFill>
              </a:rPr>
              <a:t>User, Patient, MedicalRecord, Prescription (Structured joins)</a:t>
            </a:r>
          </a:p>
        </p:txBody>
      </p:sp>
      <p:sp>
        <p:nvSpPr>
          <p:cNvPr id="12" name="Rounded Rectangle 11"/>
          <p:cNvSpPr/>
          <p:nvPr/>
        </p:nvSpPr>
        <p:spPr>
          <a:xfrm>
            <a:off x="6217920" y="4023360"/>
            <a:ext cx="5212080" cy="228600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4169664"/>
            <a:ext cx="4846320" cy="1993392"/>
          </a:xfrm>
          <a:prstGeom prst="rect">
            <a:avLst/>
          </a:prstGeom>
          <a:noFill/>
        </p:spPr>
        <p:txBody>
          <a:bodyPr wrap="square" lIns="0" tIns="0" rIns="0" bIns="0">
            <a:spAutoFit/>
          </a:bodyPr>
          <a:lstStyle/>
          <a:p>
            <a:pPr>
              <a:spcAft>
                <a:spcPts val="700"/>
              </a:spcAft>
              <a:defRPr sz="1000" b="1">
                <a:solidFill>
                  <a:srgbClr val="F59E0B"/>
                </a:solidFill>
              </a:defRPr>
            </a:pPr>
            <a:r>
              <a:t>EXPECTED BENEFIT &amp; PRE-CLINICAL VALIDATION</a:t>
            </a:r>
          </a:p>
          <a:p>
            <a:pPr>
              <a:spcAft>
                <a:spcPts val="400"/>
              </a:spcAft>
            </a:pPr>
            <a:r>
              <a:rPr sz="900" b="1">
                <a:solidFill>
                  <a:srgbClr val="F8FAFC"/>
                </a:solidFill>
              </a:rPr>
              <a:t>Expected Benefit: </a:t>
            </a:r>
            <a:r>
              <a:rPr sz="900">
                <a:solidFill>
                  <a:srgbClr val="94A3B8"/>
                </a:solidFill>
              </a:rPr>
              <a:t>Provides safe, 24/7 personalized health literacy, prevents harmful drug-condition contraindications, and reduces clinic triage call volumes.</a:t>
            </a:r>
          </a:p>
          <a:p>
            <a:pPr>
              <a:spcAft>
                <a:spcPts val="400"/>
              </a:spcAft>
            </a:pPr>
            <a:r>
              <a:rPr sz="900" b="1">
                <a:solidFill>
                  <a:srgbClr val="F8FAFC"/>
                </a:solidFill>
              </a:rPr>
              <a:t>Current Status: </a:t>
            </a:r>
            <a:r>
              <a:rPr sz="900">
                <a:solidFill>
                  <a:srgbClr val="94A3B8"/>
                </a:solidFill>
              </a:rPr>
              <a:t>VERIFIED LIVE / FALLBACK ACTIVE (Context joins verified; deterministic triage fallback if Gemini offline).</a:t>
            </a:r>
          </a:p>
          <a:p>
            <a:pPr>
              <a:spcAft>
                <a:spcPts val="400"/>
              </a:spcAft>
            </a:pPr>
            <a:r>
              <a:rPr sz="900" b="1">
                <a:solidFill>
                  <a:srgbClr val="F8FAFC"/>
                </a:solidFill>
              </a:rPr>
              <a:t>Validation Required: </a:t>
            </a:r>
            <a:r>
              <a:rPr sz="900">
                <a:solidFill>
                  <a:srgbClr val="94A3B8"/>
                </a:solidFill>
              </a:rPr>
              <a:t>Clinical Turing and safety scoring by board-certified physicians, adversarial prompt red-teaming, and institutional HIPAA BAA.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90E17"/>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lIns="0" tIns="0" rIns="0" bIns="0">
            <a:spAutoFit/>
          </a:bodyPr>
          <a:lstStyle/>
          <a:p>
            <a:pPr>
              <a:defRPr sz="900" b="1">
                <a:solidFill>
                  <a:srgbClr val="00B4D8"/>
                </a:solidFill>
              </a:defRPr>
            </a:pPr>
            <a:r>
              <a:t>USE CASE 5: PHYSIOLOGICAL TELEMETRY</a:t>
            </a:r>
          </a:p>
        </p:txBody>
      </p:sp>
      <p:sp>
        <p:nvSpPr>
          <p:cNvPr id="3" name="TextBox 2"/>
          <p:cNvSpPr txBox="1"/>
          <p:nvPr/>
        </p:nvSpPr>
        <p:spPr>
          <a:xfrm>
            <a:off x="8412480" y="365760"/>
            <a:ext cx="3017520" cy="320040"/>
          </a:xfrm>
          <a:prstGeom prst="rect">
            <a:avLst/>
          </a:prstGeom>
          <a:noFill/>
        </p:spPr>
        <p:txBody>
          <a:bodyPr wrap="square" lIns="0" tIns="0" rIns="0" bIns="0">
            <a:spAutoFit/>
          </a:bodyPr>
          <a:lstStyle/>
          <a:p>
            <a:pPr algn="r">
              <a:defRPr sz="950" b="1">
                <a:solidFill>
                  <a:srgbClr val="10B981"/>
                </a:solidFill>
              </a:defRPr>
            </a:pPr>
            <a:r>
              <a:t>● VERIFIED LIVE</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100" b="1">
                <a:solidFill>
                  <a:srgbClr val="F8FAFC"/>
                </a:solidFill>
              </a:defRPr>
            </a:pPr>
            <a:r>
              <a:t>VitalSense Measurement History and Trends</a:t>
            </a:r>
          </a:p>
        </p:txBody>
      </p:sp>
      <p:sp>
        <p:nvSpPr>
          <p:cNvPr id="5" name="TextBox 4"/>
          <p:cNvSpPr txBox="1"/>
          <p:nvPr/>
        </p:nvSpPr>
        <p:spPr>
          <a:xfrm>
            <a:off x="731520" y="1234440"/>
            <a:ext cx="10698480" cy="320040"/>
          </a:xfrm>
          <a:prstGeom prst="rect">
            <a:avLst/>
          </a:prstGeom>
          <a:noFill/>
        </p:spPr>
        <p:txBody>
          <a:bodyPr wrap="square" lIns="0" tIns="0" rIns="0" bIns="0">
            <a:spAutoFit/>
          </a:bodyPr>
          <a:lstStyle/>
          <a:p>
            <a:pPr>
              <a:defRPr sz="1050">
                <a:solidFill>
                  <a:srgbClr val="94A3B8"/>
                </a:solidFill>
              </a:defRPr>
            </a:pPr>
            <a:r>
              <a:t>Longitudinal vital tracking, deterministic MAP calculation, AHA/ADA staging, and demo data isolation.</a:t>
            </a:r>
          </a:p>
        </p:txBody>
      </p:sp>
      <p:sp>
        <p:nvSpPr>
          <p:cNvPr id="6" name="Rounded Rectangle 5"/>
          <p:cNvSpPr/>
          <p:nvPr/>
        </p:nvSpPr>
        <p:spPr>
          <a:xfrm>
            <a:off x="731520" y="1645920"/>
            <a:ext cx="5120640" cy="219456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92224"/>
            <a:ext cx="4754880" cy="1901952"/>
          </a:xfrm>
          <a:prstGeom prst="rect">
            <a:avLst/>
          </a:prstGeom>
          <a:noFill/>
        </p:spPr>
        <p:txBody>
          <a:bodyPr wrap="square" lIns="0" tIns="0" rIns="0" bIns="0">
            <a:spAutoFit/>
          </a:bodyPr>
          <a:lstStyle/>
          <a:p>
            <a:pPr>
              <a:spcAft>
                <a:spcPts val="700"/>
              </a:spcAft>
              <a:defRPr sz="1000" b="1">
                <a:solidFill>
                  <a:srgbClr val="00B4D8"/>
                </a:solidFill>
              </a:defRPr>
            </a:pPr>
            <a:r>
              <a:t>REAL-WORLD PROBLEM &amp; INTENDED USER</a:t>
            </a:r>
          </a:p>
          <a:p>
            <a:pPr>
              <a:spcAft>
                <a:spcPts val="400"/>
              </a:spcAft>
            </a:pPr>
            <a:r>
              <a:rPr sz="900" b="1">
                <a:solidFill>
                  <a:srgbClr val="F8FAFC"/>
                </a:solidFill>
              </a:rPr>
              <a:t>The Problem: </a:t>
            </a:r>
            <a:r>
              <a:rPr sz="900">
                <a:solidFill>
                  <a:srgbClr val="94A3B8"/>
                </a:solidFill>
              </a:rPr>
              <a:t>Sparse in-clinic spot checks suffer from 'white coat hypertension' and miss nocturnal dips and glycemic excursions essential for titration.</a:t>
            </a:r>
          </a:p>
          <a:p>
            <a:pPr>
              <a:spcAft>
                <a:spcPts val="400"/>
              </a:spcAft>
            </a:pPr>
            <a:r>
              <a:rPr sz="900" b="1">
                <a:solidFill>
                  <a:srgbClr val="F8FAFC"/>
                </a:solidFill>
              </a:rPr>
              <a:t>Intended Users: </a:t>
            </a:r>
            <a:r>
              <a:rPr sz="900">
                <a:solidFill>
                  <a:srgbClr val="94A3B8"/>
                </a:solidFill>
              </a:rPr>
              <a:t>Hypertensive outpatients, Type 1 &amp; 2 diabetics, chronic kidney disease patients, and remote monitoring nurses.</a:t>
            </a:r>
          </a:p>
          <a:p>
            <a:pPr>
              <a:spcAft>
                <a:spcPts val="400"/>
              </a:spcAft>
            </a:pPr>
            <a:r>
              <a:rPr sz="900" b="1">
                <a:solidFill>
                  <a:srgbClr val="F8FAFC"/>
                </a:solidFill>
              </a:rPr>
              <a:t>Clinical Need: </a:t>
            </a:r>
            <a:r>
              <a:rPr sz="900">
                <a:solidFill>
                  <a:srgbClr val="94A3B8"/>
                </a:solidFill>
              </a:rPr>
              <a:t>Longitudinal daily telemetry provides true baseline hemodynamic visibility.</a:t>
            </a:r>
          </a:p>
        </p:txBody>
      </p:sp>
      <p:sp>
        <p:nvSpPr>
          <p:cNvPr id="8" name="Rounded Rectangle 7"/>
          <p:cNvSpPr/>
          <p:nvPr/>
        </p:nvSpPr>
        <p:spPr>
          <a:xfrm>
            <a:off x="6217920" y="1645920"/>
            <a:ext cx="5212080" cy="219456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792224"/>
            <a:ext cx="4846320" cy="1901952"/>
          </a:xfrm>
          <a:prstGeom prst="rect">
            <a:avLst/>
          </a:prstGeom>
          <a:noFill/>
        </p:spPr>
        <p:txBody>
          <a:bodyPr wrap="square" lIns="0" tIns="0" rIns="0" bIns="0">
            <a:spAutoFit/>
          </a:bodyPr>
          <a:lstStyle/>
          <a:p>
            <a:pPr>
              <a:spcAft>
                <a:spcPts val="700"/>
              </a:spcAft>
              <a:defRPr sz="1000" b="1">
                <a:solidFill>
                  <a:srgbClr val="2DD4BF"/>
                </a:solidFill>
              </a:defRPr>
            </a:pPr>
            <a:r>
              <a:t>USER JOURNEY &amp; HEMODYNAMIC PIPELINE</a:t>
            </a:r>
          </a:p>
          <a:p>
            <a:pPr>
              <a:spcAft>
                <a:spcPts val="400"/>
              </a:spcAft>
            </a:pPr>
            <a:r>
              <a:rPr sz="900" b="1">
                <a:solidFill>
                  <a:srgbClr val="F8FAFC"/>
                </a:solidFill>
              </a:rPr>
              <a:t>Step 1: Vital Logging: </a:t>
            </a:r>
            <a:r>
              <a:rPr sz="900">
                <a:solidFill>
                  <a:srgbClr val="94A3B8"/>
                </a:solidFill>
              </a:rPr>
              <a:t>Patient logs blood pressure or glucose at /patient/vitalsense, or streams via Bluetooth cuff.</a:t>
            </a:r>
          </a:p>
          <a:p>
            <a:pPr>
              <a:spcAft>
                <a:spcPts val="400"/>
              </a:spcAft>
            </a:pPr>
            <a:r>
              <a:rPr sz="900" b="1">
                <a:solidFill>
                  <a:srgbClr val="F8FAFC"/>
                </a:solidFill>
              </a:rPr>
              <a:t>Step 2: Bounds Verification: </a:t>
            </a:r>
            <a:r>
              <a:rPr sz="900">
                <a:solidFill>
                  <a:srgbClr val="94A3B8"/>
                </a:solidFill>
              </a:rPr>
              <a:t>Enforces physiological bounds (SBP 60-260, DBP 40-160, BG 20-600); rejects invalid entries.</a:t>
            </a:r>
          </a:p>
          <a:p>
            <a:pPr>
              <a:spcAft>
                <a:spcPts val="400"/>
              </a:spcAft>
            </a:pPr>
            <a:r>
              <a:rPr sz="900" b="1">
                <a:solidFill>
                  <a:srgbClr val="F8FAFC"/>
                </a:solidFill>
              </a:rPr>
              <a:t>Step 3: Deterministic Staging: </a:t>
            </a:r>
            <a:r>
              <a:rPr sz="900">
                <a:solidFill>
                  <a:srgbClr val="94A3B8"/>
                </a:solidFill>
              </a:rPr>
              <a:t>Calculates Mean Arterial Pressure (MAP = DBP + (SBP-DBP)/3); classifies AHA BP stage and ADA glycemic range.</a:t>
            </a:r>
          </a:p>
          <a:p>
            <a:pPr>
              <a:spcAft>
                <a:spcPts val="400"/>
              </a:spcAft>
            </a:pPr>
            <a:r>
              <a:rPr sz="900" b="1">
                <a:solidFill>
                  <a:srgbClr val="F8FAFC"/>
                </a:solidFill>
              </a:rPr>
              <a:t>Step 4: Longitudinal Trends: </a:t>
            </a:r>
            <a:r>
              <a:rPr sz="900">
                <a:solidFill>
                  <a:srgbClr val="94A3B8"/>
                </a:solidFill>
              </a:rPr>
              <a:t>Interactive charts render 7/30/90-day moving averages, target corridors, and Time in Range (TIR).</a:t>
            </a:r>
          </a:p>
          <a:p>
            <a:pPr>
              <a:spcAft>
                <a:spcPts val="400"/>
              </a:spcAft>
            </a:pPr>
            <a:r>
              <a:rPr sz="900" b="1">
                <a:solidFill>
                  <a:srgbClr val="F8FAFC"/>
                </a:solidFill>
              </a:rPr>
              <a:t>Step 5: Provenance Isolation: </a:t>
            </a:r>
            <a:r>
              <a:rPr sz="900">
                <a:solidFill>
                  <a:srgbClr val="94A3B8"/>
                </a:solidFill>
              </a:rPr>
              <a:t>Simulation records tagged is_sample=True; atomic purge endpoint deletes demo data while preserving real history.</a:t>
            </a:r>
          </a:p>
        </p:txBody>
      </p:sp>
      <p:sp>
        <p:nvSpPr>
          <p:cNvPr id="10" name="Rounded Rectangle 9"/>
          <p:cNvSpPr/>
          <p:nvPr/>
        </p:nvSpPr>
        <p:spPr>
          <a:xfrm>
            <a:off x="731520" y="4023360"/>
            <a:ext cx="5120640" cy="228600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169664"/>
            <a:ext cx="4754880" cy="1993392"/>
          </a:xfrm>
          <a:prstGeom prst="rect">
            <a:avLst/>
          </a:prstGeom>
          <a:noFill/>
        </p:spPr>
        <p:txBody>
          <a:bodyPr wrap="square" lIns="0" tIns="0" rIns="0" bIns="0">
            <a:spAutoFit/>
          </a:bodyPr>
          <a:lstStyle/>
          <a:p>
            <a:pPr>
              <a:spcAft>
                <a:spcPts val="700"/>
              </a:spcAft>
              <a:defRPr sz="1000" b="1">
                <a:solidFill>
                  <a:srgbClr val="3B82F6"/>
                </a:solidFill>
              </a:defRPr>
            </a:pPr>
            <a:r>
              <a:t>COMPONENTS, ENDPOINTS &amp; SERVICES</a:t>
            </a:r>
          </a:p>
          <a:p>
            <a:pPr>
              <a:spcAft>
                <a:spcPts val="400"/>
              </a:spcAft>
            </a:pPr>
            <a:r>
              <a:rPr sz="900" b="1">
                <a:solidFill>
                  <a:srgbClr val="F8FAFC"/>
                </a:solidFill>
              </a:rPr>
              <a:t>Frontend Pages: </a:t>
            </a:r>
            <a:r>
              <a:rPr sz="900">
                <a:solidFill>
                  <a:srgbClr val="94A3B8"/>
                </a:solidFill>
              </a:rPr>
              <a:t>frontend/src/pages/patient/VitalSense.tsx, BloodPressureTracking.tsx, BloodGlucoseTracking.tsx</a:t>
            </a:r>
          </a:p>
          <a:p>
            <a:pPr>
              <a:spcAft>
                <a:spcPts val="400"/>
              </a:spcAft>
            </a:pPr>
            <a:r>
              <a:rPr sz="900" b="1">
                <a:solidFill>
                  <a:srgbClr val="F8FAFC"/>
                </a:solidFill>
              </a:rPr>
              <a:t>API Endpoints: </a:t>
            </a:r>
            <a:r>
              <a:rPr sz="900">
                <a:solidFill>
                  <a:srgbClr val="94A3B8"/>
                </a:solidFill>
              </a:rPr>
              <a:t>GET /api/v1/vitals/history, POST /api/v1/vitals/blood-pressure, POST /api/v1/vitals/blood-glucose, POST /api/v1/vitals/clear-demo-data</a:t>
            </a:r>
          </a:p>
          <a:p>
            <a:pPr>
              <a:spcAft>
                <a:spcPts val="400"/>
              </a:spcAft>
            </a:pPr>
            <a:r>
              <a:rPr sz="900" b="1">
                <a:solidFill>
                  <a:srgbClr val="F8FAFC"/>
                </a:solidFill>
              </a:rPr>
              <a:t>Clinical Algorithms: </a:t>
            </a:r>
            <a:r>
              <a:rPr sz="900">
                <a:solidFill>
                  <a:srgbClr val="94A3B8"/>
                </a:solidFill>
              </a:rPr>
              <a:t>classify_blood_pressure, classify_blood_glucose, _enrich_vital_sign (vitals.py:L81-100)</a:t>
            </a:r>
          </a:p>
          <a:p>
            <a:pPr>
              <a:spcAft>
                <a:spcPts val="400"/>
              </a:spcAft>
            </a:pPr>
            <a:r>
              <a:rPr sz="900" b="1">
                <a:solidFill>
                  <a:srgbClr val="F8FAFC"/>
                </a:solidFill>
              </a:rPr>
              <a:t>Database Models: </a:t>
            </a:r>
            <a:r>
              <a:rPr sz="900">
                <a:solidFill>
                  <a:srgbClr val="94A3B8"/>
                </a:solidFill>
              </a:rPr>
              <a:t>VitalSign (systolic_bp, diastolic_bp, mean_arterial_pressure, is_sample)</a:t>
            </a:r>
          </a:p>
        </p:txBody>
      </p:sp>
      <p:sp>
        <p:nvSpPr>
          <p:cNvPr id="12" name="Rounded Rectangle 11"/>
          <p:cNvSpPr/>
          <p:nvPr/>
        </p:nvSpPr>
        <p:spPr>
          <a:xfrm>
            <a:off x="6217920" y="4023360"/>
            <a:ext cx="5212080" cy="228600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4169664"/>
            <a:ext cx="4846320" cy="1993392"/>
          </a:xfrm>
          <a:prstGeom prst="rect">
            <a:avLst/>
          </a:prstGeom>
          <a:noFill/>
        </p:spPr>
        <p:txBody>
          <a:bodyPr wrap="square" lIns="0" tIns="0" rIns="0" bIns="0">
            <a:spAutoFit/>
          </a:bodyPr>
          <a:lstStyle/>
          <a:p>
            <a:pPr>
              <a:spcAft>
                <a:spcPts val="700"/>
              </a:spcAft>
              <a:defRPr sz="1000" b="1">
                <a:solidFill>
                  <a:srgbClr val="10B981"/>
                </a:solidFill>
              </a:defRPr>
            </a:pPr>
            <a:r>
              <a:t>EXPECTED BENEFIT &amp; PRE-CLINICAL VALIDATION</a:t>
            </a:r>
          </a:p>
          <a:p>
            <a:pPr>
              <a:spcAft>
                <a:spcPts val="400"/>
              </a:spcAft>
            </a:pPr>
            <a:r>
              <a:rPr sz="900" b="1">
                <a:solidFill>
                  <a:srgbClr val="F8FAFC"/>
                </a:solidFill>
              </a:rPr>
              <a:t>Expected Benefit: </a:t>
            </a:r>
            <a:r>
              <a:rPr sz="900">
                <a:solidFill>
                  <a:srgbClr val="94A3B8"/>
                </a:solidFill>
              </a:rPr>
              <a:t>Provides clinicians with authentic home telemetry, prevents over-medication from white coat hypertension, and motivates patient self-care.</a:t>
            </a:r>
          </a:p>
          <a:p>
            <a:pPr>
              <a:spcAft>
                <a:spcPts val="400"/>
              </a:spcAft>
            </a:pPr>
            <a:r>
              <a:rPr sz="900" b="1">
                <a:solidFill>
                  <a:srgbClr val="F8FAFC"/>
                </a:solidFill>
              </a:rPr>
              <a:t>Current Status: </a:t>
            </a:r>
            <a:r>
              <a:rPr sz="900">
                <a:solidFill>
                  <a:srgbClr val="94A3B8"/>
                </a:solidFill>
              </a:rPr>
              <a:t>VERIFIED LIVE on Render; unit tested in test_vitals_telemetry.py.</a:t>
            </a:r>
          </a:p>
          <a:p>
            <a:pPr>
              <a:spcAft>
                <a:spcPts val="400"/>
              </a:spcAft>
            </a:pPr>
            <a:r>
              <a:rPr sz="900" b="1">
                <a:solidFill>
                  <a:srgbClr val="F8FAFC"/>
                </a:solidFill>
              </a:rPr>
              <a:t>Validation Required: </a:t>
            </a:r>
            <a:r>
              <a:rPr sz="900">
                <a:solidFill>
                  <a:srgbClr val="94A3B8"/>
                </a:solidFill>
              </a:rPr>
              <a:t>ISO 81060-2 clinical sphygmomanometer validation, ISO 15197 glucometer accuracy, and native BLE GATT device pairing.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90E17"/>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lIns="0" tIns="0" rIns="0" bIns="0">
            <a:spAutoFit/>
          </a:bodyPr>
          <a:lstStyle/>
          <a:p>
            <a:pPr>
              <a:defRPr sz="900" b="1">
                <a:solidFill>
                  <a:srgbClr val="00B4D8"/>
                </a:solidFill>
              </a:defRPr>
            </a:pPr>
            <a:r>
              <a:t>USE CASE 6: CLINICAL TRIAGE</a:t>
            </a:r>
          </a:p>
        </p:txBody>
      </p:sp>
      <p:sp>
        <p:nvSpPr>
          <p:cNvPr id="3" name="TextBox 2"/>
          <p:cNvSpPr txBox="1"/>
          <p:nvPr/>
        </p:nvSpPr>
        <p:spPr>
          <a:xfrm>
            <a:off x="8412480" y="365760"/>
            <a:ext cx="3017520" cy="320040"/>
          </a:xfrm>
          <a:prstGeom prst="rect">
            <a:avLst/>
          </a:prstGeom>
          <a:noFill/>
        </p:spPr>
        <p:txBody>
          <a:bodyPr wrap="square" lIns="0" tIns="0" rIns="0" bIns="0">
            <a:spAutoFit/>
          </a:bodyPr>
          <a:lstStyle/>
          <a:p>
            <a:pPr algn="r">
              <a:defRPr sz="950" b="1">
                <a:solidFill>
                  <a:srgbClr val="10B981"/>
                </a:solidFill>
              </a:defRPr>
            </a:pPr>
            <a:r>
              <a:t>● VERIFIED LIVE</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100" b="1">
                <a:solidFill>
                  <a:srgbClr val="F8FAFC"/>
                </a:solidFill>
              </a:defRPr>
            </a:pPr>
            <a:r>
              <a:t>Configurable, Clinically Reviewed Alert Workflows</a:t>
            </a:r>
          </a:p>
        </p:txBody>
      </p:sp>
      <p:sp>
        <p:nvSpPr>
          <p:cNvPr id="5" name="TextBox 4"/>
          <p:cNvSpPr txBox="1"/>
          <p:nvPr/>
        </p:nvSpPr>
        <p:spPr>
          <a:xfrm>
            <a:off x="731520" y="1234440"/>
            <a:ext cx="10698480" cy="320040"/>
          </a:xfrm>
          <a:prstGeom prst="rect">
            <a:avLst/>
          </a:prstGeom>
          <a:noFill/>
        </p:spPr>
        <p:txBody>
          <a:bodyPr wrap="square" lIns="0" tIns="0" rIns="0" bIns="0">
            <a:spAutoFit/>
          </a:bodyPr>
          <a:lstStyle/>
          <a:p>
            <a:pPr>
              <a:defRPr sz="1050">
                <a:solidFill>
                  <a:srgbClr val="94A3B8"/>
                </a:solidFill>
              </a:defRPr>
            </a:pPr>
            <a:r>
              <a:t>Consent-gated doctor triage queue, severe event prioritization, and closed-loop audit logging.</a:t>
            </a:r>
          </a:p>
        </p:txBody>
      </p:sp>
      <p:sp>
        <p:nvSpPr>
          <p:cNvPr id="6" name="Rounded Rectangle 5"/>
          <p:cNvSpPr/>
          <p:nvPr/>
        </p:nvSpPr>
        <p:spPr>
          <a:xfrm>
            <a:off x="731520" y="1645920"/>
            <a:ext cx="5120640" cy="219456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92224"/>
            <a:ext cx="4754880" cy="1901952"/>
          </a:xfrm>
          <a:prstGeom prst="rect">
            <a:avLst/>
          </a:prstGeom>
          <a:noFill/>
        </p:spPr>
        <p:txBody>
          <a:bodyPr wrap="square" lIns="0" tIns="0" rIns="0" bIns="0">
            <a:spAutoFit/>
          </a:bodyPr>
          <a:lstStyle/>
          <a:p>
            <a:pPr>
              <a:spcAft>
                <a:spcPts val="700"/>
              </a:spcAft>
              <a:defRPr sz="1000" b="1">
                <a:solidFill>
                  <a:srgbClr val="00B4D8"/>
                </a:solidFill>
              </a:defRPr>
            </a:pPr>
            <a:r>
              <a:t>REAL-WORLD PROBLEM &amp; INTENDED USER</a:t>
            </a:r>
          </a:p>
          <a:p>
            <a:pPr>
              <a:spcAft>
                <a:spcPts val="400"/>
              </a:spcAft>
            </a:pPr>
            <a:r>
              <a:rPr sz="900" b="1">
                <a:solidFill>
                  <a:srgbClr val="F8FAFC"/>
                </a:solidFill>
              </a:rPr>
              <a:t>The Problem: </a:t>
            </a:r>
            <a:r>
              <a:rPr sz="900">
                <a:solidFill>
                  <a:srgbClr val="94A3B8"/>
                </a:solidFill>
              </a:rPr>
              <a:t>Remote patient monitoring causes severe clinical alarm fatigue; doctors receive hundreds of minor alerts, leading to missed crises and unmitigated malpractice liability.</a:t>
            </a:r>
          </a:p>
          <a:p>
            <a:pPr>
              <a:spcAft>
                <a:spcPts val="400"/>
              </a:spcAft>
            </a:pPr>
            <a:r>
              <a:rPr sz="900" b="1">
                <a:solidFill>
                  <a:srgbClr val="F8FAFC"/>
                </a:solidFill>
              </a:rPr>
              <a:t>Intended Users: </a:t>
            </a:r>
            <a:r>
              <a:rPr sz="900">
                <a:solidFill>
                  <a:srgbClr val="94A3B8"/>
                </a:solidFill>
              </a:rPr>
              <a:t>Attending physicians, cardiologists, endocrinologists, and clinic triage nurses.</a:t>
            </a:r>
          </a:p>
          <a:p>
            <a:pPr>
              <a:spcAft>
                <a:spcPts val="400"/>
              </a:spcAft>
            </a:pPr>
            <a:r>
              <a:rPr sz="900" b="1">
                <a:solidFill>
                  <a:srgbClr val="F8FAFC"/>
                </a:solidFill>
              </a:rPr>
              <a:t>Liability Risk: </a:t>
            </a:r>
            <a:r>
              <a:rPr sz="900">
                <a:solidFill>
                  <a:srgbClr val="94A3B8"/>
                </a:solidFill>
              </a:rPr>
              <a:t>Lack of closed-loop documentation exposes clinics to negligence when an alert is unaddressed.</a:t>
            </a:r>
          </a:p>
        </p:txBody>
      </p:sp>
      <p:sp>
        <p:nvSpPr>
          <p:cNvPr id="8" name="Rounded Rectangle 7"/>
          <p:cNvSpPr/>
          <p:nvPr/>
        </p:nvSpPr>
        <p:spPr>
          <a:xfrm>
            <a:off x="6217920" y="1645920"/>
            <a:ext cx="5212080" cy="219456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792224"/>
            <a:ext cx="4846320" cy="1901952"/>
          </a:xfrm>
          <a:prstGeom prst="rect">
            <a:avLst/>
          </a:prstGeom>
          <a:noFill/>
        </p:spPr>
        <p:txBody>
          <a:bodyPr wrap="square" lIns="0" tIns="0" rIns="0" bIns="0">
            <a:spAutoFit/>
          </a:bodyPr>
          <a:lstStyle/>
          <a:p>
            <a:pPr>
              <a:spcAft>
                <a:spcPts val="700"/>
              </a:spcAft>
              <a:defRPr sz="1000" b="1">
                <a:solidFill>
                  <a:srgbClr val="2DD4BF"/>
                </a:solidFill>
              </a:defRPr>
            </a:pPr>
            <a:r>
              <a:t>USER JOURNEY &amp; CLOSED-LOOP RESOLUTION</a:t>
            </a:r>
          </a:p>
          <a:p>
            <a:pPr>
              <a:spcAft>
                <a:spcPts val="400"/>
              </a:spcAft>
            </a:pPr>
            <a:r>
              <a:rPr sz="900" b="1">
                <a:solidFill>
                  <a:srgbClr val="F8FAFC"/>
                </a:solidFill>
              </a:rPr>
              <a:t>Step 1: Automated Detection: </a:t>
            </a:r>
            <a:r>
              <a:rPr sz="900">
                <a:solidFill>
                  <a:srgbClr val="94A3B8"/>
                </a:solidFill>
              </a:rPr>
              <a:t>When patient vitals breach threshold (SBP&gt;=140 Stage 2 or SBP&gt;=180 Crisis), backend generates VitalAlert (Warning/Urgent).</a:t>
            </a:r>
          </a:p>
          <a:p>
            <a:pPr>
              <a:spcAft>
                <a:spcPts val="400"/>
              </a:spcAft>
            </a:pPr>
            <a:r>
              <a:rPr sz="900" b="1">
                <a:solidFill>
                  <a:srgbClr val="F8FAFC"/>
                </a:solidFill>
              </a:rPr>
              <a:t>Step 2: Consent Verification: </a:t>
            </a:r>
            <a:r>
              <a:rPr sz="900">
                <a:solidFill>
                  <a:srgbClr val="94A3B8"/>
                </a:solidFill>
              </a:rPr>
              <a:t>Doctor logs in; /doctor/alerts filters alerts strictly to patients with active VitalSharingConsent.</a:t>
            </a:r>
          </a:p>
          <a:p>
            <a:pPr>
              <a:spcAft>
                <a:spcPts val="400"/>
              </a:spcAft>
            </a:pPr>
            <a:r>
              <a:rPr sz="900" b="1">
                <a:solidFill>
                  <a:srgbClr val="F8FAFC"/>
                </a:solidFill>
              </a:rPr>
              <a:t>Step 3: Triage Prioritization: </a:t>
            </a:r>
            <a:r>
              <a:rPr sz="900">
                <a:solidFill>
                  <a:srgbClr val="94A3B8"/>
                </a:solidFill>
              </a:rPr>
              <a:t>Urgent alerts appear at the top with delta values, medication context, and clinical guidance.</a:t>
            </a:r>
          </a:p>
          <a:p>
            <a:pPr>
              <a:spcAft>
                <a:spcPts val="400"/>
              </a:spcAft>
            </a:pPr>
            <a:r>
              <a:rPr sz="900" b="1">
                <a:solidFill>
                  <a:srgbClr val="F8FAFC"/>
                </a:solidFill>
              </a:rPr>
              <a:t>Step 4: Clinical Action Modal: </a:t>
            </a:r>
            <a:r>
              <a:rPr sz="900">
                <a:solidFill>
                  <a:srgbClr val="94A3B8"/>
                </a:solidFill>
              </a:rPr>
              <a:t>Doctor clicks 'Action Alert', documents clinical notes (e.g., dose titration), and selects follow-up code.</a:t>
            </a:r>
          </a:p>
          <a:p>
            <a:pPr>
              <a:spcAft>
                <a:spcPts val="400"/>
              </a:spcAft>
            </a:pPr>
            <a:r>
              <a:rPr sz="900" b="1">
                <a:solidFill>
                  <a:srgbClr val="F8FAFC"/>
                </a:solidFill>
              </a:rPr>
              <a:t>Step 5: Permanent Audit Resolution: </a:t>
            </a:r>
            <a:r>
              <a:rPr sz="900">
                <a:solidFill>
                  <a:srgbClr val="94A3B8"/>
                </a:solidFill>
              </a:rPr>
              <a:t>Status transitions to RESOLVED; records doctor UUID and timestamp under HIPAA §164.312(b).</a:t>
            </a:r>
          </a:p>
        </p:txBody>
      </p:sp>
      <p:sp>
        <p:nvSpPr>
          <p:cNvPr id="10" name="Rounded Rectangle 9"/>
          <p:cNvSpPr/>
          <p:nvPr/>
        </p:nvSpPr>
        <p:spPr>
          <a:xfrm>
            <a:off x="731520" y="4023360"/>
            <a:ext cx="5120640" cy="228600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169664"/>
            <a:ext cx="4754880" cy="1993392"/>
          </a:xfrm>
          <a:prstGeom prst="rect">
            <a:avLst/>
          </a:prstGeom>
          <a:noFill/>
        </p:spPr>
        <p:txBody>
          <a:bodyPr wrap="square" lIns="0" tIns="0" rIns="0" bIns="0">
            <a:spAutoFit/>
          </a:bodyPr>
          <a:lstStyle/>
          <a:p>
            <a:pPr>
              <a:spcAft>
                <a:spcPts val="700"/>
              </a:spcAft>
              <a:defRPr sz="1000" b="1">
                <a:solidFill>
                  <a:srgbClr val="3B82F6"/>
                </a:solidFill>
              </a:defRPr>
            </a:pPr>
            <a:r>
              <a:t>COMPONENTS, ENDPOINTS &amp; SERVICES</a:t>
            </a:r>
          </a:p>
          <a:p>
            <a:pPr>
              <a:spcAft>
                <a:spcPts val="400"/>
              </a:spcAft>
            </a:pPr>
            <a:r>
              <a:rPr sz="900" b="1">
                <a:solidFill>
                  <a:srgbClr val="F8FAFC"/>
                </a:solidFill>
              </a:rPr>
              <a:t>Frontend Page: </a:t>
            </a:r>
            <a:r>
              <a:rPr sz="900">
                <a:solidFill>
                  <a:srgbClr val="94A3B8"/>
                </a:solidFill>
              </a:rPr>
              <a:t>frontend/src/pages/doctor/DoctorAlertQueue.tsx (Triage cards &amp; AlertActionModal.tsx)</a:t>
            </a:r>
          </a:p>
          <a:p>
            <a:pPr>
              <a:spcAft>
                <a:spcPts val="400"/>
              </a:spcAft>
            </a:pPr>
            <a:r>
              <a:rPr sz="900" b="1">
                <a:solidFill>
                  <a:srgbClr val="F8FAFC"/>
                </a:solidFill>
              </a:rPr>
              <a:t>API Endpoints: </a:t>
            </a:r>
            <a:r>
              <a:rPr sz="900">
                <a:solidFill>
                  <a:srgbClr val="94A3B8"/>
                </a:solidFill>
              </a:rPr>
              <a:t>GET /api/v1/vitals/doctor/alerts (vitals.py:L1517), POST /api/v1/vitals/doctor/alerts/{id}/action (vitals.py:L1571)</a:t>
            </a:r>
          </a:p>
          <a:p>
            <a:pPr>
              <a:spcAft>
                <a:spcPts val="400"/>
              </a:spcAft>
            </a:pPr>
            <a:r>
              <a:rPr sz="900" b="1">
                <a:solidFill>
                  <a:srgbClr val="F8FAFC"/>
                </a:solidFill>
              </a:rPr>
              <a:t>Alert Engine: </a:t>
            </a:r>
            <a:r>
              <a:rPr sz="900">
                <a:solidFill>
                  <a:srgbClr val="94A3B8"/>
                </a:solidFill>
              </a:rPr>
              <a:t>app/services/alert_engine.py (evaluate_vital_reading, check_stale_measurements)</a:t>
            </a:r>
          </a:p>
          <a:p>
            <a:pPr>
              <a:spcAft>
                <a:spcPts val="400"/>
              </a:spcAft>
            </a:pPr>
            <a:r>
              <a:rPr sz="900" b="1">
                <a:solidFill>
                  <a:srgbClr val="F8FAFC"/>
                </a:solidFill>
              </a:rPr>
              <a:t>Database Models: </a:t>
            </a:r>
            <a:r>
              <a:rPr sz="900">
                <a:solidFill>
                  <a:srgbClr val="94A3B8"/>
                </a:solidFill>
              </a:rPr>
              <a:t>VitalAlert, VitalSharingConsent, Doctor, Patient, User</a:t>
            </a:r>
          </a:p>
        </p:txBody>
      </p:sp>
      <p:sp>
        <p:nvSpPr>
          <p:cNvPr id="12" name="Rounded Rectangle 11"/>
          <p:cNvSpPr/>
          <p:nvPr/>
        </p:nvSpPr>
        <p:spPr>
          <a:xfrm>
            <a:off x="6217920" y="4023360"/>
            <a:ext cx="5212080" cy="228600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4169664"/>
            <a:ext cx="4846320" cy="1993392"/>
          </a:xfrm>
          <a:prstGeom prst="rect">
            <a:avLst/>
          </a:prstGeom>
          <a:noFill/>
        </p:spPr>
        <p:txBody>
          <a:bodyPr wrap="square" lIns="0" tIns="0" rIns="0" bIns="0">
            <a:spAutoFit/>
          </a:bodyPr>
          <a:lstStyle/>
          <a:p>
            <a:pPr>
              <a:spcAft>
                <a:spcPts val="700"/>
              </a:spcAft>
              <a:defRPr sz="1000" b="1">
                <a:solidFill>
                  <a:srgbClr val="10B981"/>
                </a:solidFill>
              </a:defRPr>
            </a:pPr>
            <a:r>
              <a:t>EXPECTED BENEFIT &amp; PRE-CLINICAL VALIDATION</a:t>
            </a:r>
          </a:p>
          <a:p>
            <a:pPr>
              <a:spcAft>
                <a:spcPts val="400"/>
              </a:spcAft>
            </a:pPr>
            <a:r>
              <a:rPr sz="900" b="1">
                <a:solidFill>
                  <a:srgbClr val="F8FAFC"/>
                </a:solidFill>
              </a:rPr>
              <a:t>Expected Benefit: </a:t>
            </a:r>
            <a:r>
              <a:rPr sz="900">
                <a:solidFill>
                  <a:srgbClr val="94A3B8"/>
                </a:solidFill>
              </a:rPr>
              <a:t>Eliminates alarm fatigue, ensures closed-loop medical-legal accountability, and accelerates response times for acute decompensation.</a:t>
            </a:r>
          </a:p>
          <a:p>
            <a:pPr>
              <a:spcAft>
                <a:spcPts val="400"/>
              </a:spcAft>
            </a:pPr>
            <a:r>
              <a:rPr sz="900" b="1">
                <a:solidFill>
                  <a:srgbClr val="F8FAFC"/>
                </a:solidFill>
              </a:rPr>
              <a:t>Current Status: </a:t>
            </a:r>
            <a:r>
              <a:rPr sz="900">
                <a:solidFill>
                  <a:srgbClr val="94A3B8"/>
                </a:solidFill>
              </a:rPr>
              <a:t>VERIFIED LIVE on Render; consent enforcement and resolution persistence verified in automated tests.</a:t>
            </a:r>
          </a:p>
          <a:p>
            <a:pPr>
              <a:spcAft>
                <a:spcPts val="400"/>
              </a:spcAft>
            </a:pPr>
            <a:r>
              <a:rPr sz="900" b="1">
                <a:solidFill>
                  <a:srgbClr val="F8FAFC"/>
                </a:solidFill>
              </a:rPr>
              <a:t>Validation Required: </a:t>
            </a:r>
            <a:r>
              <a:rPr sz="900">
                <a:solidFill>
                  <a:srgbClr val="94A3B8"/>
                </a:solidFill>
              </a:rPr>
              <a:t>Clinician-customizable alert thresholds per patient, automated SMS/paging push delivery SLA (&lt;30s), and EHR In Basket integration.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90E17"/>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lIns="0" tIns="0" rIns="0" bIns="0">
            <a:spAutoFit/>
          </a:bodyPr>
          <a:lstStyle/>
          <a:p>
            <a:pPr>
              <a:defRPr sz="900" b="1">
                <a:solidFill>
                  <a:srgbClr val="00B4D8"/>
                </a:solidFill>
              </a:defRPr>
            </a:pPr>
            <a:r>
              <a:t>USE CASE 7: CARE COORDINATION</a:t>
            </a:r>
          </a:p>
        </p:txBody>
      </p:sp>
      <p:sp>
        <p:nvSpPr>
          <p:cNvPr id="3" name="TextBox 2"/>
          <p:cNvSpPr txBox="1"/>
          <p:nvPr/>
        </p:nvSpPr>
        <p:spPr>
          <a:xfrm>
            <a:off x="8412480" y="365760"/>
            <a:ext cx="3017520" cy="320040"/>
          </a:xfrm>
          <a:prstGeom prst="rect">
            <a:avLst/>
          </a:prstGeom>
          <a:noFill/>
        </p:spPr>
        <p:txBody>
          <a:bodyPr wrap="square" lIns="0" tIns="0" rIns="0" bIns="0">
            <a:spAutoFit/>
          </a:bodyPr>
          <a:lstStyle/>
          <a:p>
            <a:pPr algn="r">
              <a:defRPr sz="950" b="1">
                <a:solidFill>
                  <a:srgbClr val="10B981"/>
                </a:solidFill>
              </a:defRPr>
            </a:pPr>
            <a:r>
              <a:t>● VERIFIED LIVE</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100" b="1">
                <a:solidFill>
                  <a:srgbClr val="F8FAFC"/>
                </a:solidFill>
              </a:defRPr>
            </a:pPr>
            <a:r>
              <a:t>Appointment and Medication Organization</a:t>
            </a:r>
          </a:p>
        </p:txBody>
      </p:sp>
      <p:sp>
        <p:nvSpPr>
          <p:cNvPr id="5" name="TextBox 4"/>
          <p:cNvSpPr txBox="1"/>
          <p:nvPr/>
        </p:nvSpPr>
        <p:spPr>
          <a:xfrm>
            <a:off x="731520" y="1234440"/>
            <a:ext cx="10698480" cy="320040"/>
          </a:xfrm>
          <a:prstGeom prst="rect">
            <a:avLst/>
          </a:prstGeom>
          <a:noFill/>
        </p:spPr>
        <p:txBody>
          <a:bodyPr wrap="square" lIns="0" tIns="0" rIns="0" bIns="0">
            <a:spAutoFit/>
          </a:bodyPr>
          <a:lstStyle/>
          <a:p>
            <a:pPr>
              <a:defRPr sz="1050">
                <a:solidFill>
                  <a:srgbClr val="94A3B8"/>
                </a:solidFill>
              </a:defRPr>
            </a:pPr>
            <a:r>
              <a:t>Centralized scheduling, active prescription organizer, compliance tracking, and cross-portal calendar sync.</a:t>
            </a:r>
          </a:p>
        </p:txBody>
      </p:sp>
      <p:sp>
        <p:nvSpPr>
          <p:cNvPr id="6" name="Rounded Rectangle 5"/>
          <p:cNvSpPr/>
          <p:nvPr/>
        </p:nvSpPr>
        <p:spPr>
          <a:xfrm>
            <a:off x="731520" y="1645920"/>
            <a:ext cx="5120640" cy="219456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92224"/>
            <a:ext cx="4754880" cy="1901952"/>
          </a:xfrm>
          <a:prstGeom prst="rect">
            <a:avLst/>
          </a:prstGeom>
          <a:noFill/>
        </p:spPr>
        <p:txBody>
          <a:bodyPr wrap="square" lIns="0" tIns="0" rIns="0" bIns="0">
            <a:spAutoFit/>
          </a:bodyPr>
          <a:lstStyle/>
          <a:p>
            <a:pPr>
              <a:spcAft>
                <a:spcPts val="700"/>
              </a:spcAft>
              <a:defRPr sz="1000" b="1">
                <a:solidFill>
                  <a:srgbClr val="00B4D8"/>
                </a:solidFill>
              </a:defRPr>
            </a:pPr>
            <a:r>
              <a:t>REAL-WORLD PROBLEM &amp; INTENDED USER</a:t>
            </a:r>
          </a:p>
          <a:p>
            <a:pPr>
              <a:spcAft>
                <a:spcPts val="400"/>
              </a:spcAft>
            </a:pPr>
            <a:r>
              <a:rPr sz="900" b="1">
                <a:solidFill>
                  <a:srgbClr val="F8FAFC"/>
                </a:solidFill>
              </a:rPr>
              <a:t>The Problem: </a:t>
            </a:r>
            <a:r>
              <a:rPr sz="900">
                <a:solidFill>
                  <a:srgbClr val="94A3B8"/>
                </a:solidFill>
              </a:rPr>
              <a:t>Chronic disease patients navigate a chaotic web of specialist appointments and conflicting daily dosing regimens, resulting in missed appointments and hospital readmissions.</a:t>
            </a:r>
          </a:p>
          <a:p>
            <a:pPr>
              <a:spcAft>
                <a:spcPts val="400"/>
              </a:spcAft>
            </a:pPr>
            <a:r>
              <a:rPr sz="900" b="1">
                <a:solidFill>
                  <a:srgbClr val="F8FAFC"/>
                </a:solidFill>
              </a:rPr>
              <a:t>Intended Users: </a:t>
            </a:r>
            <a:r>
              <a:rPr sz="900">
                <a:solidFill>
                  <a:srgbClr val="94A3B8"/>
                </a:solidFill>
              </a:rPr>
              <a:t>Patients managing multi-drug schedules, family caregivers, and clinic scheduling coordinators.</a:t>
            </a:r>
          </a:p>
          <a:p>
            <a:pPr>
              <a:spcAft>
                <a:spcPts val="400"/>
              </a:spcAft>
            </a:pPr>
            <a:r>
              <a:rPr sz="900" b="1">
                <a:solidFill>
                  <a:srgbClr val="F8FAFC"/>
                </a:solidFill>
              </a:rPr>
              <a:t>Economic Cost: </a:t>
            </a:r>
            <a:r>
              <a:rPr sz="900">
                <a:solidFill>
                  <a:srgbClr val="94A3B8"/>
                </a:solidFill>
              </a:rPr>
              <a:t>Missed appointments cost the US healthcare system &gt;$150B annually.</a:t>
            </a:r>
          </a:p>
        </p:txBody>
      </p:sp>
      <p:sp>
        <p:nvSpPr>
          <p:cNvPr id="8" name="Rounded Rectangle 7"/>
          <p:cNvSpPr/>
          <p:nvPr/>
        </p:nvSpPr>
        <p:spPr>
          <a:xfrm>
            <a:off x="6217920" y="1645920"/>
            <a:ext cx="5212080" cy="219456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792224"/>
            <a:ext cx="4846320" cy="1901952"/>
          </a:xfrm>
          <a:prstGeom prst="rect">
            <a:avLst/>
          </a:prstGeom>
          <a:noFill/>
        </p:spPr>
        <p:txBody>
          <a:bodyPr wrap="square" lIns="0" tIns="0" rIns="0" bIns="0">
            <a:spAutoFit/>
          </a:bodyPr>
          <a:lstStyle/>
          <a:p>
            <a:pPr>
              <a:spcAft>
                <a:spcPts val="700"/>
              </a:spcAft>
              <a:defRPr sz="1000" b="1">
                <a:solidFill>
                  <a:srgbClr val="2DD4BF"/>
                </a:solidFill>
              </a:defRPr>
            </a:pPr>
            <a:r>
              <a:t>USER JOURNEY &amp; SCHEDULING WORKFLOW</a:t>
            </a:r>
          </a:p>
          <a:p>
            <a:pPr>
              <a:spcAft>
                <a:spcPts val="400"/>
              </a:spcAft>
            </a:pPr>
            <a:r>
              <a:rPr sz="900" b="1">
                <a:solidFill>
                  <a:srgbClr val="F8FAFC"/>
                </a:solidFill>
              </a:rPr>
              <a:t>Step 1: Regimen Review: </a:t>
            </a:r>
            <a:r>
              <a:rPr sz="900">
                <a:solidFill>
                  <a:srgbClr val="94A3B8"/>
                </a:solidFill>
              </a:rPr>
              <a:t>Patient visits /patient/medications; reviews active drug cards, dose timing, prescriber, and refill dates.</a:t>
            </a:r>
          </a:p>
          <a:p>
            <a:pPr>
              <a:spcAft>
                <a:spcPts val="400"/>
              </a:spcAft>
            </a:pPr>
            <a:r>
              <a:rPr sz="900" b="1">
                <a:solidFill>
                  <a:srgbClr val="F8FAFC"/>
                </a:solidFill>
              </a:rPr>
              <a:t>Step 2: Dosing Compliance: </a:t>
            </a:r>
            <a:r>
              <a:rPr sz="900">
                <a:solidFill>
                  <a:srgbClr val="94A3B8"/>
                </a:solidFill>
              </a:rPr>
              <a:t>Logs scheduled doses as taken; requests refill reviews directly from prescribing clinicians.</a:t>
            </a:r>
          </a:p>
          <a:p>
            <a:pPr>
              <a:spcAft>
                <a:spcPts val="400"/>
              </a:spcAft>
            </a:pPr>
            <a:r>
              <a:rPr sz="900" b="1">
                <a:solidFill>
                  <a:srgbClr val="F8FAFC"/>
                </a:solidFill>
              </a:rPr>
              <a:t>Step 3: Appointment Booking: </a:t>
            </a:r>
            <a:r>
              <a:rPr sz="900">
                <a:solidFill>
                  <a:srgbClr val="94A3B8"/>
                </a:solidFill>
              </a:rPr>
              <a:t>Patient visits /patient/appointments; selects clinical department, physician, and appointment slot.</a:t>
            </a:r>
          </a:p>
          <a:p>
            <a:pPr>
              <a:spcAft>
                <a:spcPts val="400"/>
              </a:spcAft>
            </a:pPr>
            <a:r>
              <a:rPr sz="900" b="1">
                <a:solidFill>
                  <a:srgbClr val="F8FAFC"/>
                </a:solidFill>
              </a:rPr>
              <a:t>Step 4: Status Lifecycle: </a:t>
            </a:r>
            <a:r>
              <a:rPr sz="900">
                <a:solidFill>
                  <a:srgbClr val="94A3B8"/>
                </a:solidFill>
              </a:rPr>
              <a:t>Appointments follow automated state transitions (scheduled, completed, cancelled).</a:t>
            </a:r>
          </a:p>
          <a:p>
            <a:pPr>
              <a:spcAft>
                <a:spcPts val="400"/>
              </a:spcAft>
            </a:pPr>
            <a:r>
              <a:rPr sz="900" b="1">
                <a:solidFill>
                  <a:srgbClr val="F8FAFC"/>
                </a:solidFill>
              </a:rPr>
              <a:t>Step 5: Cross-Portal Sync: </a:t>
            </a:r>
            <a:r>
              <a:rPr sz="900">
                <a:solidFill>
                  <a:srgbClr val="94A3B8"/>
                </a:solidFill>
              </a:rPr>
              <a:t>Newly scheduled visits instantly reflect on the attending physician's schedule (/doctor/schedule).</a:t>
            </a:r>
          </a:p>
        </p:txBody>
      </p:sp>
      <p:sp>
        <p:nvSpPr>
          <p:cNvPr id="10" name="Rounded Rectangle 9"/>
          <p:cNvSpPr/>
          <p:nvPr/>
        </p:nvSpPr>
        <p:spPr>
          <a:xfrm>
            <a:off x="731520" y="4023360"/>
            <a:ext cx="5120640" cy="228600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169664"/>
            <a:ext cx="4754880" cy="1993392"/>
          </a:xfrm>
          <a:prstGeom prst="rect">
            <a:avLst/>
          </a:prstGeom>
          <a:noFill/>
        </p:spPr>
        <p:txBody>
          <a:bodyPr wrap="square" lIns="0" tIns="0" rIns="0" bIns="0">
            <a:spAutoFit/>
          </a:bodyPr>
          <a:lstStyle/>
          <a:p>
            <a:pPr>
              <a:spcAft>
                <a:spcPts val="700"/>
              </a:spcAft>
              <a:defRPr sz="1000" b="1">
                <a:solidFill>
                  <a:srgbClr val="3B82F6"/>
                </a:solidFill>
              </a:defRPr>
            </a:pPr>
            <a:r>
              <a:t>COMPONENTS, ENDPOINTS &amp; SERVICES</a:t>
            </a:r>
          </a:p>
          <a:p>
            <a:pPr>
              <a:spcAft>
                <a:spcPts val="400"/>
              </a:spcAft>
            </a:pPr>
            <a:r>
              <a:rPr sz="900" b="1">
                <a:solidFill>
                  <a:srgbClr val="F8FAFC"/>
                </a:solidFill>
              </a:rPr>
              <a:t>Frontend Pages: </a:t>
            </a:r>
            <a:r>
              <a:rPr sz="900">
                <a:solidFill>
                  <a:srgbClr val="94A3B8"/>
                </a:solidFill>
              </a:rPr>
              <a:t>frontend/src/pages/patient/Appointments.tsx, Medications.tsx</a:t>
            </a:r>
          </a:p>
          <a:p>
            <a:pPr>
              <a:spcAft>
                <a:spcPts val="400"/>
              </a:spcAft>
            </a:pPr>
            <a:r>
              <a:rPr sz="900" b="1">
                <a:solidFill>
                  <a:srgbClr val="F8FAFC"/>
                </a:solidFill>
              </a:rPr>
              <a:t>Doctor Portal: </a:t>
            </a:r>
            <a:r>
              <a:rPr sz="900">
                <a:solidFill>
                  <a:srgbClr val="94A3B8"/>
                </a:solidFill>
              </a:rPr>
              <a:t>frontend/src/pages/doctor/DoctorSchedule.tsx (Synchronized provider view)</a:t>
            </a:r>
          </a:p>
          <a:p>
            <a:pPr>
              <a:spcAft>
                <a:spcPts val="400"/>
              </a:spcAft>
            </a:pPr>
            <a:r>
              <a:rPr sz="900" b="1">
                <a:solidFill>
                  <a:srgbClr val="F8FAFC"/>
                </a:solidFill>
              </a:rPr>
              <a:t>API Endpoints: </a:t>
            </a:r>
            <a:r>
              <a:rPr sz="900">
                <a:solidFill>
                  <a:srgbClr val="94A3B8"/>
                </a:solidFill>
              </a:rPr>
              <a:t>GET/POST /api/v1/appointments (appointments.py:L18-60), GET/POST /api/v1/prescriptions (prescriptions.py:L17-60)</a:t>
            </a:r>
          </a:p>
          <a:p>
            <a:pPr>
              <a:spcAft>
                <a:spcPts val="400"/>
              </a:spcAft>
            </a:pPr>
            <a:r>
              <a:rPr sz="900" b="1">
                <a:solidFill>
                  <a:srgbClr val="F8FAFC"/>
                </a:solidFill>
              </a:rPr>
              <a:t>Database Models: </a:t>
            </a:r>
            <a:r>
              <a:rPr sz="900">
                <a:solidFill>
                  <a:srgbClr val="94A3B8"/>
                </a:solidFill>
              </a:rPr>
              <a:t>Appointment, Prescription, Doctor, Patient, Department</a:t>
            </a:r>
          </a:p>
        </p:txBody>
      </p:sp>
      <p:sp>
        <p:nvSpPr>
          <p:cNvPr id="12" name="Rounded Rectangle 11"/>
          <p:cNvSpPr/>
          <p:nvPr/>
        </p:nvSpPr>
        <p:spPr>
          <a:xfrm>
            <a:off x="6217920" y="4023360"/>
            <a:ext cx="5212080" cy="228600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4169664"/>
            <a:ext cx="4846320" cy="1993392"/>
          </a:xfrm>
          <a:prstGeom prst="rect">
            <a:avLst/>
          </a:prstGeom>
          <a:noFill/>
        </p:spPr>
        <p:txBody>
          <a:bodyPr wrap="square" lIns="0" tIns="0" rIns="0" bIns="0">
            <a:spAutoFit/>
          </a:bodyPr>
          <a:lstStyle/>
          <a:p>
            <a:pPr>
              <a:spcAft>
                <a:spcPts val="700"/>
              </a:spcAft>
              <a:defRPr sz="1000" b="1">
                <a:solidFill>
                  <a:srgbClr val="10B981"/>
                </a:solidFill>
              </a:defRPr>
            </a:pPr>
            <a:r>
              <a:t>EXPECTED BENEFIT &amp; PRE-CLINICAL VALIDATION</a:t>
            </a:r>
          </a:p>
          <a:p>
            <a:pPr>
              <a:spcAft>
                <a:spcPts val="400"/>
              </a:spcAft>
            </a:pPr>
            <a:r>
              <a:rPr sz="900" b="1">
                <a:solidFill>
                  <a:srgbClr val="F8FAFC"/>
                </a:solidFill>
              </a:rPr>
              <a:t>Expected Benefit: </a:t>
            </a:r>
            <a:r>
              <a:rPr sz="900">
                <a:solidFill>
                  <a:srgbClr val="94A3B8"/>
                </a:solidFill>
              </a:rPr>
              <a:t>Reduces clinic no-shows, prevents accidental double-dosing or missed refills, and streamlines administrative coordination.</a:t>
            </a:r>
          </a:p>
          <a:p>
            <a:pPr>
              <a:spcAft>
                <a:spcPts val="400"/>
              </a:spcAft>
            </a:pPr>
            <a:r>
              <a:rPr sz="900" b="1">
                <a:solidFill>
                  <a:srgbClr val="F8FAFC"/>
                </a:solidFill>
              </a:rPr>
              <a:t>Current Status: </a:t>
            </a:r>
            <a:r>
              <a:rPr sz="900">
                <a:solidFill>
                  <a:srgbClr val="94A3B8"/>
                </a:solidFill>
              </a:rPr>
              <a:t>VERIFIED LIVE on Render; full CRUD operations verified across patient and doctor roles.</a:t>
            </a:r>
          </a:p>
          <a:p>
            <a:pPr>
              <a:spcAft>
                <a:spcPts val="400"/>
              </a:spcAft>
            </a:pPr>
            <a:r>
              <a:rPr sz="900" b="1">
                <a:solidFill>
                  <a:srgbClr val="F8FAFC"/>
                </a:solidFill>
              </a:rPr>
              <a:t>Validation Required: </a:t>
            </a:r>
            <a:r>
              <a:rPr sz="900">
                <a:solidFill>
                  <a:srgbClr val="94A3B8"/>
                </a:solidFill>
              </a:rPr>
              <a:t>HL7 FHIR Appointment and Schedule resource sync with enterprise hospital scheduling, automated SMS reminders, and NCPDP e-prescribing.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90E17"/>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lIns="0" tIns="0" rIns="0" bIns="0">
            <a:spAutoFit/>
          </a:bodyPr>
          <a:lstStyle/>
          <a:p>
            <a:pPr>
              <a:defRPr sz="900" b="1">
                <a:solidFill>
                  <a:srgbClr val="00B4D8"/>
                </a:solidFill>
              </a:defRPr>
            </a:pPr>
            <a:r>
              <a:t>USE CASE 8: LONGITUDINAL RECORDS</a:t>
            </a:r>
          </a:p>
        </p:txBody>
      </p:sp>
      <p:sp>
        <p:nvSpPr>
          <p:cNvPr id="3" name="TextBox 2"/>
          <p:cNvSpPr txBox="1"/>
          <p:nvPr/>
        </p:nvSpPr>
        <p:spPr>
          <a:xfrm>
            <a:off x="8412480" y="365760"/>
            <a:ext cx="3017520" cy="320040"/>
          </a:xfrm>
          <a:prstGeom prst="rect">
            <a:avLst/>
          </a:prstGeom>
          <a:noFill/>
        </p:spPr>
        <p:txBody>
          <a:bodyPr wrap="square" lIns="0" tIns="0" rIns="0" bIns="0">
            <a:spAutoFit/>
          </a:bodyPr>
          <a:lstStyle/>
          <a:p>
            <a:pPr algn="r">
              <a:defRPr sz="950" b="1">
                <a:solidFill>
                  <a:srgbClr val="10B981"/>
                </a:solidFill>
              </a:defRPr>
            </a:pPr>
            <a:r>
              <a:t>● VERIFIED LIVE</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100" b="1">
                <a:solidFill>
                  <a:srgbClr val="F8FAFC"/>
                </a:solidFill>
              </a:defRPr>
            </a:pPr>
            <a:r>
              <a:t>Previous Analysis History</a:t>
            </a:r>
          </a:p>
        </p:txBody>
      </p:sp>
      <p:sp>
        <p:nvSpPr>
          <p:cNvPr id="5" name="TextBox 4"/>
          <p:cNvSpPr txBox="1"/>
          <p:nvPr/>
        </p:nvSpPr>
        <p:spPr>
          <a:xfrm>
            <a:off x="731520" y="1234440"/>
            <a:ext cx="10698480" cy="320040"/>
          </a:xfrm>
          <a:prstGeom prst="rect">
            <a:avLst/>
          </a:prstGeom>
          <a:noFill/>
        </p:spPr>
        <p:txBody>
          <a:bodyPr wrap="square" lIns="0" tIns="0" rIns="0" bIns="0">
            <a:spAutoFit/>
          </a:bodyPr>
          <a:lstStyle/>
          <a:p>
            <a:pPr>
              <a:defRPr sz="1050">
                <a:solidFill>
                  <a:srgbClr val="94A3B8"/>
                </a:solidFill>
              </a:defRPr>
            </a:pPr>
            <a:r>
              <a:t>Unified chronological archive of past prescription reviews, diagnostic lab explanations, and follow-up Q&amp;A.</a:t>
            </a:r>
          </a:p>
        </p:txBody>
      </p:sp>
      <p:sp>
        <p:nvSpPr>
          <p:cNvPr id="6" name="Rounded Rectangle 5"/>
          <p:cNvSpPr/>
          <p:nvPr/>
        </p:nvSpPr>
        <p:spPr>
          <a:xfrm>
            <a:off x="731520" y="1645920"/>
            <a:ext cx="5120640" cy="219456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92224"/>
            <a:ext cx="4754880" cy="1901952"/>
          </a:xfrm>
          <a:prstGeom prst="rect">
            <a:avLst/>
          </a:prstGeom>
          <a:noFill/>
        </p:spPr>
        <p:txBody>
          <a:bodyPr wrap="square" lIns="0" tIns="0" rIns="0" bIns="0">
            <a:spAutoFit/>
          </a:bodyPr>
          <a:lstStyle/>
          <a:p>
            <a:pPr>
              <a:spcAft>
                <a:spcPts val="700"/>
              </a:spcAft>
              <a:defRPr sz="1000" b="1">
                <a:solidFill>
                  <a:srgbClr val="00B4D8"/>
                </a:solidFill>
              </a:defRPr>
            </a:pPr>
            <a:r>
              <a:t>REAL-WORLD PROBLEM &amp; INTENDED USER</a:t>
            </a:r>
          </a:p>
          <a:p>
            <a:pPr>
              <a:spcAft>
                <a:spcPts val="400"/>
              </a:spcAft>
            </a:pPr>
            <a:r>
              <a:rPr sz="900" b="1">
                <a:solidFill>
                  <a:srgbClr val="F8FAFC"/>
                </a:solidFill>
              </a:rPr>
              <a:t>The Problem: </a:t>
            </a:r>
            <a:r>
              <a:rPr sz="900">
                <a:solidFill>
                  <a:srgbClr val="94A3B8"/>
                </a:solidFill>
              </a:rPr>
              <a:t>Patients lose physical lab printouts and prescription papers; when seeking second opinions or visiting emergency rooms, past diagnostic trajectory is unavailable.</a:t>
            </a:r>
          </a:p>
          <a:p>
            <a:pPr>
              <a:spcAft>
                <a:spcPts val="400"/>
              </a:spcAft>
            </a:pPr>
            <a:r>
              <a:rPr sz="900" b="1">
                <a:solidFill>
                  <a:srgbClr val="F8FAFC"/>
                </a:solidFill>
              </a:rPr>
              <a:t>Intended Users: </a:t>
            </a:r>
            <a:r>
              <a:rPr sz="900">
                <a:solidFill>
                  <a:srgbClr val="94A3B8"/>
                </a:solidFill>
              </a:rPr>
              <a:t>Patients consulting new specialists, clinicians reviewing historical trends, and chronic illness patients.</a:t>
            </a:r>
          </a:p>
          <a:p>
            <a:pPr>
              <a:spcAft>
                <a:spcPts val="400"/>
              </a:spcAft>
            </a:pPr>
            <a:r>
              <a:rPr sz="900" b="1">
                <a:solidFill>
                  <a:srgbClr val="F8FAFC"/>
                </a:solidFill>
              </a:rPr>
              <a:t>Consequence: </a:t>
            </a:r>
            <a:r>
              <a:rPr sz="900">
                <a:solidFill>
                  <a:srgbClr val="94A3B8"/>
                </a:solidFill>
              </a:rPr>
              <a:t>Unnecessary duplicate blood tests and delayed therapy initiation.</a:t>
            </a:r>
          </a:p>
        </p:txBody>
      </p:sp>
      <p:sp>
        <p:nvSpPr>
          <p:cNvPr id="8" name="Rounded Rectangle 7"/>
          <p:cNvSpPr/>
          <p:nvPr/>
        </p:nvSpPr>
        <p:spPr>
          <a:xfrm>
            <a:off x="6217920" y="1645920"/>
            <a:ext cx="5212080" cy="219456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792224"/>
            <a:ext cx="4846320" cy="1901952"/>
          </a:xfrm>
          <a:prstGeom prst="rect">
            <a:avLst/>
          </a:prstGeom>
          <a:noFill/>
        </p:spPr>
        <p:txBody>
          <a:bodyPr wrap="square" lIns="0" tIns="0" rIns="0" bIns="0">
            <a:spAutoFit/>
          </a:bodyPr>
          <a:lstStyle/>
          <a:p>
            <a:pPr>
              <a:spcAft>
                <a:spcPts val="700"/>
              </a:spcAft>
              <a:defRPr sz="1000" b="1">
                <a:solidFill>
                  <a:srgbClr val="2DD4BF"/>
                </a:solidFill>
              </a:defRPr>
            </a:pPr>
            <a:r>
              <a:t>USER JOURNEY &amp; HISTORICAL RETRIEVAL</a:t>
            </a:r>
          </a:p>
          <a:p>
            <a:pPr>
              <a:spcAft>
                <a:spcPts val="400"/>
              </a:spcAft>
            </a:pPr>
            <a:r>
              <a:rPr sz="900" b="1">
                <a:solidFill>
                  <a:srgbClr val="F8FAFC"/>
                </a:solidFill>
              </a:rPr>
              <a:t>Step 1: History Hub: </a:t>
            </a:r>
            <a:r>
              <a:rPr sz="900">
                <a:solidFill>
                  <a:srgbClr val="94A3B8"/>
                </a:solidFill>
              </a:rPr>
              <a:t>Patient navigates to /patient/analyses (PreviousAnalyses.tsx).</a:t>
            </a:r>
          </a:p>
          <a:p>
            <a:pPr>
              <a:spcAft>
                <a:spcPts val="400"/>
              </a:spcAft>
            </a:pPr>
            <a:r>
              <a:rPr sz="900" b="1">
                <a:solidFill>
                  <a:srgbClr val="F8FAFC"/>
                </a:solidFill>
              </a:rPr>
              <a:t>Step 2: Unified Ingestion: </a:t>
            </a:r>
            <a:r>
              <a:rPr sz="900">
                <a:solidFill>
                  <a:srgbClr val="94A3B8"/>
                </a:solidFill>
              </a:rPr>
              <a:t>Frontend executes parallel calls to prescription and lab analysis report endpoints.</a:t>
            </a:r>
          </a:p>
          <a:p>
            <a:pPr>
              <a:spcAft>
                <a:spcPts val="400"/>
              </a:spcAft>
            </a:pPr>
            <a:r>
              <a:rPr sz="900" b="1">
                <a:solidFill>
                  <a:srgbClr val="F8FAFC"/>
                </a:solidFill>
              </a:rPr>
              <a:t>Step 3: Timeline Merge: </a:t>
            </a:r>
            <a:r>
              <a:rPr sz="900">
                <a:solidFill>
                  <a:srgbClr val="94A3B8"/>
                </a:solidFill>
              </a:rPr>
              <a:t>Merges both streams into a unified chronological feed with summary tags and flagged alerts.</a:t>
            </a:r>
          </a:p>
          <a:p>
            <a:pPr>
              <a:spcAft>
                <a:spcPts val="400"/>
              </a:spcAft>
            </a:pPr>
            <a:r>
              <a:rPr sz="900" b="1">
                <a:solidFill>
                  <a:srgbClr val="F8FAFC"/>
                </a:solidFill>
              </a:rPr>
              <a:t>Step 4: Filtering &amp; Search: </a:t>
            </a:r>
            <a:r>
              <a:rPr sz="900">
                <a:solidFill>
                  <a:srgbClr val="94A3B8"/>
                </a:solidFill>
              </a:rPr>
              <a:t>Filters by type (All, Prescriptions, Labs) or searches by keyword (e.g., 'Metformin', 'CBC').</a:t>
            </a:r>
          </a:p>
          <a:p>
            <a:pPr>
              <a:spcAft>
                <a:spcPts val="400"/>
              </a:spcAft>
            </a:pPr>
            <a:r>
              <a:rPr sz="900" b="1">
                <a:solidFill>
                  <a:srgbClr val="F8FAFC"/>
                </a:solidFill>
              </a:rPr>
              <a:t>Step 5: Inspection &amp; Re-Chat: </a:t>
            </a:r>
            <a:r>
              <a:rPr sz="900">
                <a:solidFill>
                  <a:srgbClr val="94A3B8"/>
                </a:solidFill>
              </a:rPr>
              <a:t>Expands any record to inspect full extracted entities or re-opens multi-turn AI Q&amp;A.</a:t>
            </a:r>
          </a:p>
        </p:txBody>
      </p:sp>
      <p:sp>
        <p:nvSpPr>
          <p:cNvPr id="10" name="Rounded Rectangle 9"/>
          <p:cNvSpPr/>
          <p:nvPr/>
        </p:nvSpPr>
        <p:spPr>
          <a:xfrm>
            <a:off x="731520" y="4023360"/>
            <a:ext cx="5120640" cy="228600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169664"/>
            <a:ext cx="4754880" cy="1993392"/>
          </a:xfrm>
          <a:prstGeom prst="rect">
            <a:avLst/>
          </a:prstGeom>
          <a:noFill/>
        </p:spPr>
        <p:txBody>
          <a:bodyPr wrap="square" lIns="0" tIns="0" rIns="0" bIns="0">
            <a:spAutoFit/>
          </a:bodyPr>
          <a:lstStyle/>
          <a:p>
            <a:pPr>
              <a:spcAft>
                <a:spcPts val="700"/>
              </a:spcAft>
              <a:defRPr sz="1000" b="1">
                <a:solidFill>
                  <a:srgbClr val="3B82F6"/>
                </a:solidFill>
              </a:defRPr>
            </a:pPr>
            <a:r>
              <a:t>COMPONENTS, ENDPOINTS &amp; SERVICES</a:t>
            </a:r>
          </a:p>
          <a:p>
            <a:pPr>
              <a:spcAft>
                <a:spcPts val="400"/>
              </a:spcAft>
            </a:pPr>
            <a:r>
              <a:rPr sz="900" b="1">
                <a:solidFill>
                  <a:srgbClr val="F8FAFC"/>
                </a:solidFill>
              </a:rPr>
              <a:t>Frontend Page: </a:t>
            </a:r>
            <a:r>
              <a:rPr sz="900">
                <a:solidFill>
                  <a:srgbClr val="94A3B8"/>
                </a:solidFill>
              </a:rPr>
              <a:t>frontend/src/pages/patient/PreviousAnalyses.tsx (Search, filter, delete, and detail modals)</a:t>
            </a:r>
          </a:p>
          <a:p>
            <a:pPr>
              <a:spcAft>
                <a:spcPts val="400"/>
              </a:spcAft>
            </a:pPr>
            <a:r>
              <a:rPr sz="900" b="1">
                <a:solidFill>
                  <a:srgbClr val="F8FAFC"/>
                </a:solidFill>
              </a:rPr>
              <a:t>API Endpoints: </a:t>
            </a:r>
            <a:r>
              <a:rPr sz="900">
                <a:solidFill>
                  <a:srgbClr val="94A3B8"/>
                </a:solidFill>
              </a:rPr>
              <a:t>GET /api/v1/prescription-analysis/reports (L534), GET /api/v1/medical-report-analysis/reports (L198)</a:t>
            </a:r>
          </a:p>
          <a:p>
            <a:pPr>
              <a:spcAft>
                <a:spcPts val="400"/>
              </a:spcAft>
            </a:pPr>
            <a:r>
              <a:rPr sz="900" b="1">
                <a:solidFill>
                  <a:srgbClr val="F8FAFC"/>
                </a:solidFill>
              </a:rPr>
              <a:t>Persistence Engine: </a:t>
            </a:r>
            <a:r>
              <a:rPr sz="900">
                <a:solidFill>
                  <a:srgbClr val="94A3B8"/>
                </a:solidFill>
              </a:rPr>
              <a:t>SQLAlchemy async sessions storing full JSON guidance, extracted entities, and doctor review status</a:t>
            </a:r>
          </a:p>
          <a:p>
            <a:pPr>
              <a:spcAft>
                <a:spcPts val="400"/>
              </a:spcAft>
            </a:pPr>
            <a:r>
              <a:rPr sz="900" b="1">
                <a:solidFill>
                  <a:srgbClr val="F8FAFC"/>
                </a:solidFill>
              </a:rPr>
              <a:t>Database Models: </a:t>
            </a:r>
            <a:r>
              <a:rPr sz="900">
                <a:solidFill>
                  <a:srgbClr val="94A3B8"/>
                </a:solidFill>
              </a:rPr>
              <a:t>PrescriptionAnalysisReport, MedicalReportAnalysis, PrescriptionExtractedItem, MedicalReportFinding</a:t>
            </a:r>
          </a:p>
        </p:txBody>
      </p:sp>
      <p:sp>
        <p:nvSpPr>
          <p:cNvPr id="12" name="Rounded Rectangle 11"/>
          <p:cNvSpPr/>
          <p:nvPr/>
        </p:nvSpPr>
        <p:spPr>
          <a:xfrm>
            <a:off x="6217920" y="4023360"/>
            <a:ext cx="5212080" cy="228600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4169664"/>
            <a:ext cx="4846320" cy="1993392"/>
          </a:xfrm>
          <a:prstGeom prst="rect">
            <a:avLst/>
          </a:prstGeom>
          <a:noFill/>
        </p:spPr>
        <p:txBody>
          <a:bodyPr wrap="square" lIns="0" tIns="0" rIns="0" bIns="0">
            <a:spAutoFit/>
          </a:bodyPr>
          <a:lstStyle/>
          <a:p>
            <a:pPr>
              <a:spcAft>
                <a:spcPts val="700"/>
              </a:spcAft>
              <a:defRPr sz="1000" b="1">
                <a:solidFill>
                  <a:srgbClr val="10B981"/>
                </a:solidFill>
              </a:defRPr>
            </a:pPr>
            <a:r>
              <a:t>EXPECTED BENEFIT &amp; PRE-CLINICAL VALIDATION</a:t>
            </a:r>
          </a:p>
          <a:p>
            <a:pPr>
              <a:spcAft>
                <a:spcPts val="400"/>
              </a:spcAft>
            </a:pPr>
            <a:r>
              <a:rPr sz="900" b="1">
                <a:solidFill>
                  <a:srgbClr val="F8FAFC"/>
                </a:solidFill>
              </a:rPr>
              <a:t>Expected Benefit: </a:t>
            </a:r>
            <a:r>
              <a:rPr sz="900">
                <a:solidFill>
                  <a:srgbClr val="94A3B8"/>
                </a:solidFill>
              </a:rPr>
              <a:t>Provides unbroken longitudinal visibility into diagnostic trajectory, eliminates duplicate testing, and empowers informed second opinions.</a:t>
            </a:r>
          </a:p>
          <a:p>
            <a:pPr>
              <a:spcAft>
                <a:spcPts val="400"/>
              </a:spcAft>
            </a:pPr>
            <a:r>
              <a:rPr sz="900" b="1">
                <a:solidFill>
                  <a:srgbClr val="F8FAFC"/>
                </a:solidFill>
              </a:rPr>
              <a:t>Current Status: </a:t>
            </a:r>
            <a:r>
              <a:rPr sz="900">
                <a:solidFill>
                  <a:srgbClr val="94A3B8"/>
                </a:solidFill>
              </a:rPr>
              <a:t>VERIFIED LIVE on Render; database persistence verified in automated pipeline tests.</a:t>
            </a:r>
          </a:p>
          <a:p>
            <a:pPr>
              <a:spcAft>
                <a:spcPts val="400"/>
              </a:spcAft>
            </a:pPr>
            <a:r>
              <a:rPr sz="900" b="1">
                <a:solidFill>
                  <a:srgbClr val="F8FAFC"/>
                </a:solidFill>
              </a:rPr>
              <a:t>Validation Required: </a:t>
            </a:r>
            <a:r>
              <a:rPr sz="900">
                <a:solidFill>
                  <a:srgbClr val="94A3B8"/>
                </a:solidFill>
              </a:rPr>
              <a:t>HIPAA §164.312(a)(2)(iv) compliant patient data export (PDF/CCDA/FHIR DocumentReference) and state medical board data retention archiving.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90E17"/>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lIns="0" tIns="0" rIns="0" bIns="0">
            <a:spAutoFit/>
          </a:bodyPr>
          <a:lstStyle/>
          <a:p>
            <a:pPr>
              <a:defRPr sz="900" b="1">
                <a:solidFill>
                  <a:srgbClr val="00B4D8"/>
                </a:solidFill>
              </a:defRPr>
            </a:pPr>
            <a:r>
              <a:t>USE CASE 9: SENSOR PHYSICS LAB</a:t>
            </a:r>
          </a:p>
        </p:txBody>
      </p:sp>
      <p:sp>
        <p:nvSpPr>
          <p:cNvPr id="3" name="TextBox 2"/>
          <p:cNvSpPr txBox="1"/>
          <p:nvPr/>
        </p:nvSpPr>
        <p:spPr>
          <a:xfrm>
            <a:off x="8412480" y="365760"/>
            <a:ext cx="3017520" cy="320040"/>
          </a:xfrm>
          <a:prstGeom prst="rect">
            <a:avLst/>
          </a:prstGeom>
          <a:noFill/>
        </p:spPr>
        <p:txBody>
          <a:bodyPr wrap="square" lIns="0" tIns="0" rIns="0" bIns="0">
            <a:spAutoFit/>
          </a:bodyPr>
          <a:lstStyle/>
          <a:p>
            <a:pPr algn="r">
              <a:defRPr sz="950" b="1">
                <a:solidFill>
                  <a:srgbClr val="A855F7"/>
                </a:solidFill>
              </a:defRPr>
            </a:pPr>
            <a:r>
              <a:t>● SIMULATION ONLY / RESEARCH PROTOTYPE</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100" b="1">
                <a:solidFill>
                  <a:srgbClr val="F8FAFC"/>
                </a:solidFill>
              </a:defRPr>
            </a:pPr>
            <a:r>
              <a:t>PPG Optical-Sensing Educational Research</a:t>
            </a:r>
          </a:p>
        </p:txBody>
      </p:sp>
      <p:sp>
        <p:nvSpPr>
          <p:cNvPr id="5" name="TextBox 4"/>
          <p:cNvSpPr txBox="1"/>
          <p:nvPr/>
        </p:nvSpPr>
        <p:spPr>
          <a:xfrm>
            <a:off x="731520" y="1234440"/>
            <a:ext cx="10698480" cy="320040"/>
          </a:xfrm>
          <a:prstGeom prst="rect">
            <a:avLst/>
          </a:prstGeom>
          <a:noFill/>
        </p:spPr>
        <p:txBody>
          <a:bodyPr wrap="square" lIns="0" tIns="0" rIns="0" bIns="0">
            <a:spAutoFit/>
          </a:bodyPr>
          <a:lstStyle/>
          <a:p>
            <a:pPr>
              <a:defRPr sz="1050">
                <a:solidFill>
                  <a:srgbClr val="94A3B8"/>
                </a:solidFill>
              </a:defRPr>
            </a:pPr>
            <a:r>
              <a:t>Interactive photoplethysmogram wave simulator, Lambert-Beer physics review, and explicit non-diagnostic labeling.</a:t>
            </a:r>
          </a:p>
        </p:txBody>
      </p:sp>
      <p:sp>
        <p:nvSpPr>
          <p:cNvPr id="6" name="Rounded Rectangle 5"/>
          <p:cNvSpPr/>
          <p:nvPr/>
        </p:nvSpPr>
        <p:spPr>
          <a:xfrm>
            <a:off x="731520" y="1645920"/>
            <a:ext cx="5120640" cy="219456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92224"/>
            <a:ext cx="4754880" cy="1901952"/>
          </a:xfrm>
          <a:prstGeom prst="rect">
            <a:avLst/>
          </a:prstGeom>
          <a:noFill/>
        </p:spPr>
        <p:txBody>
          <a:bodyPr wrap="square" lIns="0" tIns="0" rIns="0" bIns="0">
            <a:spAutoFit/>
          </a:bodyPr>
          <a:lstStyle/>
          <a:p>
            <a:pPr>
              <a:spcAft>
                <a:spcPts val="700"/>
              </a:spcAft>
              <a:defRPr sz="1000" b="1">
                <a:solidFill>
                  <a:srgbClr val="A855F7"/>
                </a:solidFill>
              </a:defRPr>
            </a:pPr>
            <a:r>
              <a:t>REAL-WORLD PROBLEM &amp; INTENDED USER</a:t>
            </a:r>
          </a:p>
          <a:p>
            <a:pPr>
              <a:spcAft>
                <a:spcPts val="400"/>
              </a:spcAft>
            </a:pPr>
            <a:r>
              <a:rPr sz="900" b="1">
                <a:solidFill>
                  <a:srgbClr val="F8FAFC"/>
                </a:solidFill>
              </a:rPr>
              <a:t>The Problem: </a:t>
            </a:r>
            <a:r>
              <a:rPr sz="900">
                <a:solidFill>
                  <a:srgbClr val="94A3B8"/>
                </a:solidFill>
              </a:rPr>
              <a:t>Deceptive marketing in consumer health promotes unverified claims, such as measuring blood pressure or glucose optically via phone cameras, leading to dangerous clinical complacency.</a:t>
            </a:r>
          </a:p>
          <a:p>
            <a:pPr>
              <a:spcAft>
                <a:spcPts val="400"/>
              </a:spcAft>
            </a:pPr>
            <a:r>
              <a:rPr sz="900" b="1">
                <a:solidFill>
                  <a:srgbClr val="F8FAFC"/>
                </a:solidFill>
              </a:rPr>
              <a:t>Intended Users: </a:t>
            </a:r>
            <a:r>
              <a:rPr sz="900">
                <a:solidFill>
                  <a:srgbClr val="94A3B8"/>
                </a:solidFill>
              </a:rPr>
              <a:t>Biomedical engineering students, clinical researchers, medical device developers, and patients.</a:t>
            </a:r>
          </a:p>
          <a:p>
            <a:pPr>
              <a:spcAft>
                <a:spcPts val="400"/>
              </a:spcAft>
            </a:pPr>
            <a:r>
              <a:rPr sz="900" b="1">
                <a:solidFill>
                  <a:srgbClr val="F8FAFC"/>
                </a:solidFill>
              </a:rPr>
              <a:t>Scientific Reality: </a:t>
            </a:r>
            <a:r>
              <a:rPr sz="900">
                <a:solidFill>
                  <a:srgbClr val="94A3B8"/>
                </a:solidFill>
              </a:rPr>
              <a:t>Optical PPG measures pulsatile capillary volume, NOT molecular glucose concentration.</a:t>
            </a:r>
          </a:p>
        </p:txBody>
      </p:sp>
      <p:sp>
        <p:nvSpPr>
          <p:cNvPr id="8" name="Rounded Rectangle 7"/>
          <p:cNvSpPr/>
          <p:nvPr/>
        </p:nvSpPr>
        <p:spPr>
          <a:xfrm>
            <a:off x="6217920" y="1645920"/>
            <a:ext cx="5212080" cy="219456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792224"/>
            <a:ext cx="4846320" cy="1901952"/>
          </a:xfrm>
          <a:prstGeom prst="rect">
            <a:avLst/>
          </a:prstGeom>
          <a:noFill/>
        </p:spPr>
        <p:txBody>
          <a:bodyPr wrap="square" lIns="0" tIns="0" rIns="0" bIns="0">
            <a:spAutoFit/>
          </a:bodyPr>
          <a:lstStyle/>
          <a:p>
            <a:pPr>
              <a:spcAft>
                <a:spcPts val="700"/>
              </a:spcAft>
              <a:defRPr sz="1000" b="1">
                <a:solidFill>
                  <a:srgbClr val="2DD4BF"/>
                </a:solidFill>
              </a:defRPr>
            </a:pPr>
            <a:r>
              <a:t>USER JOURNEY &amp; SIMULATION ENGINE</a:t>
            </a:r>
          </a:p>
          <a:p>
            <a:pPr>
              <a:spcAft>
                <a:spcPts val="400"/>
              </a:spcAft>
            </a:pPr>
            <a:r>
              <a:rPr sz="900" b="1">
                <a:solidFill>
                  <a:srgbClr val="F8FAFC"/>
                </a:solidFill>
              </a:rPr>
              <a:t>Step 1: Access Lab: </a:t>
            </a:r>
            <a:r>
              <a:rPr sz="900">
                <a:solidFill>
                  <a:srgbClr val="94A3B8"/>
                </a:solidFill>
              </a:rPr>
              <a:t>User opens /patient/vitalsense/research (PPGResearch.tsx).</a:t>
            </a:r>
          </a:p>
          <a:p>
            <a:pPr>
              <a:spcAft>
                <a:spcPts val="400"/>
              </a:spcAft>
            </a:pPr>
            <a:r>
              <a:rPr sz="900" b="1">
                <a:solidFill>
                  <a:srgbClr val="F8FAFC"/>
                </a:solidFill>
              </a:rPr>
              <a:t>Step 2: Regulatory Warning: </a:t>
            </a:r>
            <a:r>
              <a:rPr sz="900">
                <a:solidFill>
                  <a:srgbClr val="94A3B8"/>
                </a:solidFill>
              </a:rPr>
              <a:t>Prominent amber banner explicitly declares the module is an educational research simulator, NOT a medical device.</a:t>
            </a:r>
          </a:p>
          <a:p>
            <a:pPr>
              <a:spcAft>
                <a:spcPts val="400"/>
              </a:spcAft>
            </a:pPr>
            <a:r>
              <a:rPr sz="900" b="1">
                <a:solidFill>
                  <a:srgbClr val="F8FAFC"/>
                </a:solidFill>
              </a:rPr>
              <a:t>Step 3: Real-Time Waveform: </a:t>
            </a:r>
            <a:r>
              <a:rPr sz="900">
                <a:solidFill>
                  <a:srgbClr val="94A3B8"/>
                </a:solidFill>
              </a:rPr>
              <a:t>HTML5 Canvas renders pulsatile optical wave: systolic peak, dicrotic notch, and diastolic runoff.</a:t>
            </a:r>
          </a:p>
          <a:p>
            <a:pPr>
              <a:spcAft>
                <a:spcPts val="400"/>
              </a:spcAft>
            </a:pPr>
            <a:r>
              <a:rPr sz="900" b="1">
                <a:solidFill>
                  <a:srgbClr val="F8FAFC"/>
                </a:solidFill>
              </a:rPr>
              <a:t>Step 4: Parameter Modulators: </a:t>
            </a:r>
            <a:r>
              <a:rPr sz="900">
                <a:solidFill>
                  <a:srgbClr val="94A3B8"/>
                </a:solidFill>
              </a:rPr>
              <a:t>User adjusts BPM, arterial stiffness (notch depth), and vasomotor tone (amplitude).</a:t>
            </a:r>
          </a:p>
          <a:p>
            <a:pPr>
              <a:spcAft>
                <a:spcPts val="400"/>
              </a:spcAft>
            </a:pPr>
            <a:r>
              <a:rPr sz="900" b="1">
                <a:solidFill>
                  <a:srgbClr val="F8FAFC"/>
                </a:solidFill>
              </a:rPr>
              <a:t>Step 5: Bio-Physics Panels: </a:t>
            </a:r>
            <a:r>
              <a:rPr sz="900">
                <a:solidFill>
                  <a:srgbClr val="94A3B8"/>
                </a:solidFill>
              </a:rPr>
              <a:t>Reviews Lambert-Beer light attenuation, penetration depths (Green vs NIR), and why optical glucose is unviable.</a:t>
            </a:r>
          </a:p>
        </p:txBody>
      </p:sp>
      <p:sp>
        <p:nvSpPr>
          <p:cNvPr id="10" name="Rounded Rectangle 9"/>
          <p:cNvSpPr/>
          <p:nvPr/>
        </p:nvSpPr>
        <p:spPr>
          <a:xfrm>
            <a:off x="731520" y="4023360"/>
            <a:ext cx="5120640" cy="228600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169664"/>
            <a:ext cx="4754880" cy="1993392"/>
          </a:xfrm>
          <a:prstGeom prst="rect">
            <a:avLst/>
          </a:prstGeom>
          <a:noFill/>
        </p:spPr>
        <p:txBody>
          <a:bodyPr wrap="square" lIns="0" tIns="0" rIns="0" bIns="0">
            <a:spAutoFit/>
          </a:bodyPr>
          <a:lstStyle/>
          <a:p>
            <a:pPr>
              <a:spcAft>
                <a:spcPts val="700"/>
              </a:spcAft>
              <a:defRPr sz="1000" b="1">
                <a:solidFill>
                  <a:srgbClr val="3B82F6"/>
                </a:solidFill>
              </a:defRPr>
            </a:pPr>
            <a:r>
              <a:t>COMPONENTS, ENDPOINTS &amp; SERVICES</a:t>
            </a:r>
          </a:p>
          <a:p>
            <a:pPr>
              <a:spcAft>
                <a:spcPts val="400"/>
              </a:spcAft>
            </a:pPr>
            <a:r>
              <a:rPr sz="900" b="1">
                <a:solidFill>
                  <a:srgbClr val="F8FAFC"/>
                </a:solidFill>
              </a:rPr>
              <a:t>Frontend Page: </a:t>
            </a:r>
            <a:r>
              <a:rPr sz="900">
                <a:solidFill>
                  <a:srgbClr val="94A3B8"/>
                </a:solidFill>
              </a:rPr>
              <a:t>frontend/src/pages/patient/PPGResearch.tsx (Canvas renderer, parameter sliders, physics guides)</a:t>
            </a:r>
          </a:p>
          <a:p>
            <a:pPr>
              <a:spcAft>
                <a:spcPts val="400"/>
              </a:spcAft>
            </a:pPr>
            <a:r>
              <a:rPr sz="900" b="1">
                <a:solidFill>
                  <a:srgbClr val="F8FAFC"/>
                </a:solidFill>
              </a:rPr>
              <a:t>Hardware Gateway: </a:t>
            </a:r>
            <a:r>
              <a:rPr sz="900">
                <a:solidFill>
                  <a:srgbClr val="94A3B8"/>
                </a:solidFill>
              </a:rPr>
              <a:t>backend/app/api/v1/devices.py (WebSerial 115.2k baud &amp; WebBluetooth GATT adapters)</a:t>
            </a:r>
          </a:p>
          <a:p>
            <a:pPr>
              <a:spcAft>
                <a:spcPts val="400"/>
              </a:spcAft>
            </a:pPr>
            <a:r>
              <a:rPr sz="900" b="1">
                <a:solidFill>
                  <a:srgbClr val="F8FAFC"/>
                </a:solidFill>
              </a:rPr>
              <a:t>Quality Indexing: </a:t>
            </a:r>
            <a:r>
              <a:rPr sz="900">
                <a:solidFill>
                  <a:srgbClr val="94A3B8"/>
                </a:solidFill>
              </a:rPr>
              <a:t>Signal Quality Indexing (SQI) verifying SNR &gt; 25 dB and contact force 0.3-2.5 N to reject motion artifacts</a:t>
            </a:r>
          </a:p>
          <a:p>
            <a:pPr>
              <a:spcAft>
                <a:spcPts val="400"/>
              </a:spcAft>
            </a:pPr>
            <a:r>
              <a:rPr sz="900" b="1">
                <a:solidFill>
                  <a:srgbClr val="F8FAFC"/>
                </a:solidFill>
              </a:rPr>
              <a:t>Regulatory Guard: </a:t>
            </a:r>
            <a:r>
              <a:rPr sz="900">
                <a:solidFill>
                  <a:srgbClr val="94A3B8"/>
                </a:solidFill>
              </a:rPr>
              <a:t>Strict non-diagnostic code disclaimers across frontend UI and backend schemas</a:t>
            </a:r>
          </a:p>
        </p:txBody>
      </p:sp>
      <p:sp>
        <p:nvSpPr>
          <p:cNvPr id="12" name="Rounded Rectangle 11"/>
          <p:cNvSpPr/>
          <p:nvPr/>
        </p:nvSpPr>
        <p:spPr>
          <a:xfrm>
            <a:off x="6217920" y="4023360"/>
            <a:ext cx="5212080" cy="228600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4169664"/>
            <a:ext cx="4846320" cy="1993392"/>
          </a:xfrm>
          <a:prstGeom prst="rect">
            <a:avLst/>
          </a:prstGeom>
          <a:noFill/>
        </p:spPr>
        <p:txBody>
          <a:bodyPr wrap="square" lIns="0" tIns="0" rIns="0" bIns="0">
            <a:spAutoFit/>
          </a:bodyPr>
          <a:lstStyle/>
          <a:p>
            <a:pPr>
              <a:spcAft>
                <a:spcPts val="700"/>
              </a:spcAft>
              <a:defRPr sz="1000" b="1">
                <a:solidFill>
                  <a:srgbClr val="A855F7"/>
                </a:solidFill>
              </a:defRPr>
            </a:pPr>
            <a:r>
              <a:t>EXPECTED BENEFIT &amp; PRE-CLINICAL VALIDATION</a:t>
            </a:r>
          </a:p>
          <a:p>
            <a:pPr>
              <a:spcAft>
                <a:spcPts val="400"/>
              </a:spcAft>
            </a:pPr>
            <a:r>
              <a:rPr sz="900" b="1">
                <a:solidFill>
                  <a:srgbClr val="F8FAFC"/>
                </a:solidFill>
              </a:rPr>
              <a:t>Expected Benefit: </a:t>
            </a:r>
            <a:r>
              <a:rPr sz="900">
                <a:solidFill>
                  <a:srgbClr val="94A3B8"/>
                </a:solidFill>
              </a:rPr>
              <a:t>Dismantles fraudulent consumer health claims, provides scientific transparency, and offers a signal-processing sandbox.</a:t>
            </a:r>
          </a:p>
          <a:p>
            <a:pPr>
              <a:spcAft>
                <a:spcPts val="400"/>
              </a:spcAft>
            </a:pPr>
            <a:r>
              <a:rPr sz="900" b="1">
                <a:solidFill>
                  <a:srgbClr val="F8FAFC"/>
                </a:solidFill>
              </a:rPr>
              <a:t>Current Status: </a:t>
            </a:r>
            <a:r>
              <a:rPr sz="900">
                <a:solidFill>
                  <a:srgbClr val="94A3B8"/>
                </a:solidFill>
              </a:rPr>
              <a:t>SIMULATION ONLY / RESEARCH PROTOTYPE (Explicitly labeled non-diagnostic).</a:t>
            </a:r>
          </a:p>
          <a:p>
            <a:pPr>
              <a:spcAft>
                <a:spcPts val="400"/>
              </a:spcAft>
            </a:pPr>
            <a:r>
              <a:rPr sz="900" b="1">
                <a:solidFill>
                  <a:srgbClr val="F8FAFC"/>
                </a:solidFill>
              </a:rPr>
              <a:t>Validation Required: </a:t>
            </a:r>
            <a:r>
              <a:rPr sz="900">
                <a:solidFill>
                  <a:srgbClr val="94A3B8"/>
                </a:solidFill>
              </a:rPr>
              <a:t>FDA General Wellness Guidance &amp; 21 CFR §801.109 compliance, optical tissue phantom bench testing, and IRB approval for human testing.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90E17"/>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lIns="0" tIns="0" rIns="0" bIns="0">
            <a:spAutoFit/>
          </a:bodyPr>
          <a:lstStyle/>
          <a:p>
            <a:pPr>
              <a:defRPr sz="900" b="1">
                <a:solidFill>
                  <a:srgbClr val="00B4D8"/>
                </a:solidFill>
              </a:defRPr>
            </a:pPr>
            <a:r>
              <a:t>USE CASE 10: GOVERNANCE &amp; RBAC</a:t>
            </a:r>
          </a:p>
        </p:txBody>
      </p:sp>
      <p:sp>
        <p:nvSpPr>
          <p:cNvPr id="3" name="TextBox 2"/>
          <p:cNvSpPr txBox="1"/>
          <p:nvPr/>
        </p:nvSpPr>
        <p:spPr>
          <a:xfrm>
            <a:off x="8412480" y="365760"/>
            <a:ext cx="3017520" cy="320040"/>
          </a:xfrm>
          <a:prstGeom prst="rect">
            <a:avLst/>
          </a:prstGeom>
          <a:noFill/>
        </p:spPr>
        <p:txBody>
          <a:bodyPr wrap="square" lIns="0" tIns="0" rIns="0" bIns="0">
            <a:spAutoFit/>
          </a:bodyPr>
          <a:lstStyle/>
          <a:p>
            <a:pPr algn="r">
              <a:defRPr sz="950" b="1">
                <a:solidFill>
                  <a:srgbClr val="10B981"/>
                </a:solidFill>
              </a:defRPr>
            </a:pPr>
            <a:r>
              <a:t>● VERIFIED LIVE</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100" b="1">
                <a:solidFill>
                  <a:srgbClr val="F8FAFC"/>
                </a:solidFill>
              </a:defRPr>
            </a:pPr>
            <a:r>
              <a:t>Role-Specific Patient, Doctor, &amp; Admin Workflows</a:t>
            </a:r>
          </a:p>
        </p:txBody>
      </p:sp>
      <p:sp>
        <p:nvSpPr>
          <p:cNvPr id="5" name="TextBox 4"/>
          <p:cNvSpPr txBox="1"/>
          <p:nvPr/>
        </p:nvSpPr>
        <p:spPr>
          <a:xfrm>
            <a:off x="731520" y="1234440"/>
            <a:ext cx="10698480" cy="320040"/>
          </a:xfrm>
          <a:prstGeom prst="rect">
            <a:avLst/>
          </a:prstGeom>
          <a:noFill/>
        </p:spPr>
        <p:txBody>
          <a:bodyPr wrap="square" lIns="0" tIns="0" rIns="0" bIns="0">
            <a:spAutoFit/>
          </a:bodyPr>
          <a:lstStyle/>
          <a:p>
            <a:pPr>
              <a:defRPr sz="1050">
                <a:solidFill>
                  <a:srgbClr val="94A3B8"/>
                </a:solidFill>
              </a:defRPr>
            </a:pPr>
            <a:r>
              <a:t>Strict Role-Based Access Control, dedicated portals, HIPAA audit logs, and Master Patient Index (MPI).</a:t>
            </a:r>
          </a:p>
        </p:txBody>
      </p:sp>
      <p:sp>
        <p:nvSpPr>
          <p:cNvPr id="6" name="Rounded Rectangle 5"/>
          <p:cNvSpPr/>
          <p:nvPr/>
        </p:nvSpPr>
        <p:spPr>
          <a:xfrm>
            <a:off x="731520" y="1645920"/>
            <a:ext cx="5120640" cy="219456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92224"/>
            <a:ext cx="4754880" cy="1901952"/>
          </a:xfrm>
          <a:prstGeom prst="rect">
            <a:avLst/>
          </a:prstGeom>
          <a:noFill/>
        </p:spPr>
        <p:txBody>
          <a:bodyPr wrap="square" lIns="0" tIns="0" rIns="0" bIns="0">
            <a:spAutoFit/>
          </a:bodyPr>
          <a:lstStyle/>
          <a:p>
            <a:pPr>
              <a:spcAft>
                <a:spcPts val="700"/>
              </a:spcAft>
              <a:defRPr sz="1000" b="1">
                <a:solidFill>
                  <a:srgbClr val="00B4D8"/>
                </a:solidFill>
              </a:defRPr>
            </a:pPr>
            <a:r>
              <a:t>REAL-WORLD PROBLEM &amp; INTENDED USER</a:t>
            </a:r>
          </a:p>
          <a:p>
            <a:pPr>
              <a:spcAft>
                <a:spcPts val="400"/>
              </a:spcAft>
            </a:pPr>
            <a:r>
              <a:rPr sz="900" b="1">
                <a:solidFill>
                  <a:srgbClr val="F8FAFC"/>
                </a:solidFill>
              </a:rPr>
              <a:t>The Problem: </a:t>
            </a:r>
            <a:r>
              <a:rPr sz="900">
                <a:solidFill>
                  <a:srgbClr val="94A3B8"/>
                </a:solidFill>
              </a:rPr>
              <a:t>A single generic interface fails healthcare: patients are confused by clinical density, doctors are slowed by administrative screens, and cross-role data leaks violate HIPAA §164.312(a)(1).</a:t>
            </a:r>
          </a:p>
          <a:p>
            <a:pPr>
              <a:spcAft>
                <a:spcPts val="400"/>
              </a:spcAft>
            </a:pPr>
            <a:r>
              <a:rPr sz="900" b="1">
                <a:solidFill>
                  <a:srgbClr val="F8FAFC"/>
                </a:solidFill>
              </a:rPr>
              <a:t>Intended Users: </a:t>
            </a:r>
            <a:r>
              <a:rPr sz="900">
                <a:solidFill>
                  <a:srgbClr val="94A3B8"/>
                </a:solidFill>
              </a:rPr>
              <a:t>Patients (personal health), Doctors &amp; Nurses (clinical triage), and Hospital Administrators (compliance &amp; MPI).</a:t>
            </a:r>
          </a:p>
          <a:p>
            <a:pPr>
              <a:spcAft>
                <a:spcPts val="400"/>
              </a:spcAft>
            </a:pPr>
            <a:r>
              <a:rPr sz="900" b="1">
                <a:solidFill>
                  <a:srgbClr val="F8FAFC"/>
                </a:solidFill>
              </a:rPr>
              <a:t>Security Mandate: </a:t>
            </a:r>
            <a:r>
              <a:rPr sz="900">
                <a:solidFill>
                  <a:srgbClr val="94A3B8"/>
                </a:solidFill>
              </a:rPr>
              <a:t>Strict enforcement of the Principle of Least Privilege across all API endpoints.</a:t>
            </a:r>
          </a:p>
        </p:txBody>
      </p:sp>
      <p:sp>
        <p:nvSpPr>
          <p:cNvPr id="8" name="Rounded Rectangle 7"/>
          <p:cNvSpPr/>
          <p:nvPr/>
        </p:nvSpPr>
        <p:spPr>
          <a:xfrm>
            <a:off x="6217920" y="1645920"/>
            <a:ext cx="5212080" cy="219456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792224"/>
            <a:ext cx="4846320" cy="1901952"/>
          </a:xfrm>
          <a:prstGeom prst="rect">
            <a:avLst/>
          </a:prstGeom>
          <a:noFill/>
        </p:spPr>
        <p:txBody>
          <a:bodyPr wrap="square" lIns="0" tIns="0" rIns="0" bIns="0">
            <a:spAutoFit/>
          </a:bodyPr>
          <a:lstStyle/>
          <a:p>
            <a:pPr>
              <a:spcAft>
                <a:spcPts val="700"/>
              </a:spcAft>
              <a:defRPr sz="1000" b="1">
                <a:solidFill>
                  <a:srgbClr val="2DD4BF"/>
                </a:solidFill>
              </a:defRPr>
            </a:pPr>
            <a:r>
              <a:t>USER JOURNEY &amp; ROLE SEGREGATION</a:t>
            </a:r>
          </a:p>
          <a:p>
            <a:pPr>
              <a:spcAft>
                <a:spcPts val="400"/>
              </a:spcAft>
            </a:pPr>
            <a:r>
              <a:rPr sz="900" b="1">
                <a:solidFill>
                  <a:srgbClr val="F8FAFC"/>
                </a:solidFill>
              </a:rPr>
              <a:t>Step 1: Auth &amp; Role Token: </a:t>
            </a:r>
            <a:r>
              <a:rPr sz="900">
                <a:solidFill>
                  <a:srgbClr val="94A3B8"/>
                </a:solidFill>
              </a:rPr>
              <a:t>User authenticates; receives signed JWT with verified role (patient, doctor, nurse, admin).</a:t>
            </a:r>
          </a:p>
          <a:p>
            <a:pPr>
              <a:spcAft>
                <a:spcPts val="400"/>
              </a:spcAft>
            </a:pPr>
            <a:r>
              <a:rPr sz="900" b="1">
                <a:solidFill>
                  <a:srgbClr val="F8FAFC"/>
                </a:solidFill>
              </a:rPr>
              <a:t>Step 2: Client Route Guard: </a:t>
            </a:r>
            <a:r>
              <a:rPr sz="900">
                <a:solidFill>
                  <a:srgbClr val="94A3B8"/>
                </a:solidFill>
              </a:rPr>
              <a:t>ProtectedRoute.tsx inspects role and auto-redirects to authorized portal root (/patient, /doctor, /admin).</a:t>
            </a:r>
          </a:p>
          <a:p>
            <a:pPr>
              <a:spcAft>
                <a:spcPts val="400"/>
              </a:spcAft>
            </a:pPr>
            <a:r>
              <a:rPr sz="900" b="1">
                <a:solidFill>
                  <a:srgbClr val="F8FAFC"/>
                </a:solidFill>
              </a:rPr>
              <a:t>Step 3: Patient Workflow: </a:t>
            </a:r>
            <a:r>
              <a:rPr sz="900">
                <a:solidFill>
                  <a:srgbClr val="94A3B8"/>
                </a:solidFill>
              </a:rPr>
              <a:t>Accesses health twin HUD, logs vitals, uploads lab reports, reviews prescriptions.</a:t>
            </a:r>
          </a:p>
          <a:p>
            <a:pPr>
              <a:spcAft>
                <a:spcPts val="400"/>
              </a:spcAft>
            </a:pPr>
            <a:r>
              <a:rPr sz="900" b="1">
                <a:solidFill>
                  <a:srgbClr val="F8FAFC"/>
                </a:solidFill>
              </a:rPr>
              <a:t>Step 4: Doctor Workflow: </a:t>
            </a:r>
            <a:r>
              <a:rPr sz="900">
                <a:solidFill>
                  <a:srgbClr val="94A3B8"/>
                </a:solidFill>
              </a:rPr>
              <a:t>Inspects panel triage queue (/doctor/alerts), reviews vitals, documents clinical actions.</a:t>
            </a:r>
          </a:p>
          <a:p>
            <a:pPr>
              <a:spcAft>
                <a:spcPts val="400"/>
              </a:spcAft>
            </a:pPr>
            <a:r>
              <a:rPr sz="900" b="1">
                <a:solidFill>
                  <a:srgbClr val="F8FAFC"/>
                </a:solidFill>
              </a:rPr>
              <a:t>Step 5: Admin Workflow: </a:t>
            </a:r>
            <a:r>
              <a:rPr sz="900">
                <a:solidFill>
                  <a:srgbClr val="94A3B8"/>
                </a:solidFill>
              </a:rPr>
              <a:t>Inspects HIPAA audit logs (/admin/audit-logs) and manages Master Patient Index (/admin/patients).</a:t>
            </a:r>
          </a:p>
        </p:txBody>
      </p:sp>
      <p:sp>
        <p:nvSpPr>
          <p:cNvPr id="10" name="Rounded Rectangle 9"/>
          <p:cNvSpPr/>
          <p:nvPr/>
        </p:nvSpPr>
        <p:spPr>
          <a:xfrm>
            <a:off x="731520" y="4023360"/>
            <a:ext cx="5120640" cy="228600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169664"/>
            <a:ext cx="4754880" cy="1993392"/>
          </a:xfrm>
          <a:prstGeom prst="rect">
            <a:avLst/>
          </a:prstGeom>
          <a:noFill/>
        </p:spPr>
        <p:txBody>
          <a:bodyPr wrap="square" lIns="0" tIns="0" rIns="0" bIns="0">
            <a:spAutoFit/>
          </a:bodyPr>
          <a:lstStyle/>
          <a:p>
            <a:pPr>
              <a:spcAft>
                <a:spcPts val="700"/>
              </a:spcAft>
              <a:defRPr sz="1000" b="1">
                <a:solidFill>
                  <a:srgbClr val="3B82F6"/>
                </a:solidFill>
              </a:defRPr>
            </a:pPr>
            <a:r>
              <a:t>COMPONENTS, ENDPOINTS &amp; SERVICES</a:t>
            </a:r>
          </a:p>
          <a:p>
            <a:pPr>
              <a:spcAft>
                <a:spcPts val="400"/>
              </a:spcAft>
            </a:pPr>
            <a:r>
              <a:rPr sz="900" b="1">
                <a:solidFill>
                  <a:srgbClr val="F8FAFC"/>
                </a:solidFill>
              </a:rPr>
              <a:t>Route Guards: </a:t>
            </a:r>
            <a:r>
              <a:rPr sz="900">
                <a:solidFill>
                  <a:srgbClr val="94A3B8"/>
                </a:solidFill>
              </a:rPr>
              <a:t>frontend/src/components/ProtectedRoute.tsx, frontend/src/router.tsx (L109-153)</a:t>
            </a:r>
          </a:p>
          <a:p>
            <a:pPr>
              <a:spcAft>
                <a:spcPts val="400"/>
              </a:spcAft>
            </a:pPr>
            <a:r>
              <a:rPr sz="900" b="1">
                <a:solidFill>
                  <a:srgbClr val="F8FAFC"/>
                </a:solidFill>
              </a:rPr>
              <a:t>Backend RBAC: </a:t>
            </a:r>
            <a:r>
              <a:rPr sz="900">
                <a:solidFill>
                  <a:srgbClr val="94A3B8"/>
                </a:solidFill>
              </a:rPr>
              <a:t>require_roles, AdminOnly, DoctorOrNurse dependencies (dependencies.py:L50-74)</a:t>
            </a:r>
          </a:p>
          <a:p>
            <a:pPr>
              <a:spcAft>
                <a:spcPts val="400"/>
              </a:spcAft>
            </a:pPr>
            <a:r>
              <a:rPr sz="900" b="1">
                <a:solidFill>
                  <a:srgbClr val="F8FAFC"/>
                </a:solidFill>
              </a:rPr>
              <a:t>Admin Endpoints: </a:t>
            </a:r>
            <a:r>
              <a:rPr sz="900">
                <a:solidFill>
                  <a:srgbClr val="94A3B8"/>
                </a:solidFill>
              </a:rPr>
              <a:t>GET /api/v1/audit-logs (audit_logs.py), GET /api/v1/mpi/patients (mpi.py)</a:t>
            </a:r>
          </a:p>
          <a:p>
            <a:pPr>
              <a:spcAft>
                <a:spcPts val="400"/>
              </a:spcAft>
            </a:pPr>
            <a:r>
              <a:rPr sz="900" b="1">
                <a:solidFill>
                  <a:srgbClr val="F8FAFC"/>
                </a:solidFill>
              </a:rPr>
              <a:t>Database Models: </a:t>
            </a:r>
            <a:r>
              <a:rPr sz="900">
                <a:solidFill>
                  <a:srgbClr val="94A3B8"/>
                </a:solidFill>
              </a:rPr>
              <a:t>User (role enum), AuditLog (HIPAA §164.312b), MasterPatientIndex</a:t>
            </a:r>
          </a:p>
        </p:txBody>
      </p:sp>
      <p:sp>
        <p:nvSpPr>
          <p:cNvPr id="12" name="Rounded Rectangle 11"/>
          <p:cNvSpPr/>
          <p:nvPr/>
        </p:nvSpPr>
        <p:spPr>
          <a:xfrm>
            <a:off x="6217920" y="4023360"/>
            <a:ext cx="5212080" cy="228600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4169664"/>
            <a:ext cx="4846320" cy="1993392"/>
          </a:xfrm>
          <a:prstGeom prst="rect">
            <a:avLst/>
          </a:prstGeom>
          <a:noFill/>
        </p:spPr>
        <p:txBody>
          <a:bodyPr wrap="square" lIns="0" tIns="0" rIns="0" bIns="0">
            <a:spAutoFit/>
          </a:bodyPr>
          <a:lstStyle/>
          <a:p>
            <a:pPr>
              <a:spcAft>
                <a:spcPts val="700"/>
              </a:spcAft>
              <a:defRPr sz="1000" b="1">
                <a:solidFill>
                  <a:srgbClr val="10B981"/>
                </a:solidFill>
              </a:defRPr>
            </a:pPr>
            <a:r>
              <a:t>EXPECTED BENEFIT &amp; PRE-CLINICAL VALIDATION</a:t>
            </a:r>
          </a:p>
          <a:p>
            <a:pPr>
              <a:spcAft>
                <a:spcPts val="400"/>
              </a:spcAft>
            </a:pPr>
            <a:r>
              <a:rPr sz="900" b="1">
                <a:solidFill>
                  <a:srgbClr val="F8FAFC"/>
                </a:solidFill>
              </a:rPr>
              <a:t>Expected Benefit: </a:t>
            </a:r>
            <a:r>
              <a:rPr sz="900">
                <a:solidFill>
                  <a:srgbClr val="94A3B8"/>
                </a:solidFill>
              </a:rPr>
              <a:t>Enforces strict HIPAA access controls, optimizes clinical workflows, and eliminates cross-tenant data contamination.</a:t>
            </a:r>
          </a:p>
          <a:p>
            <a:pPr>
              <a:spcAft>
                <a:spcPts val="400"/>
              </a:spcAft>
            </a:pPr>
            <a:r>
              <a:rPr sz="900" b="1">
                <a:solidFill>
                  <a:srgbClr val="F8FAFC"/>
                </a:solidFill>
              </a:rPr>
              <a:t>Current Status: </a:t>
            </a:r>
            <a:r>
              <a:rPr sz="900">
                <a:solidFill>
                  <a:srgbClr val="94A3B8"/>
                </a:solidFill>
              </a:rPr>
              <a:t>VERIFIED LIVE on Render; tested across all four roles in test_rbac_permissions.py.</a:t>
            </a:r>
          </a:p>
          <a:p>
            <a:pPr>
              <a:spcAft>
                <a:spcPts val="400"/>
              </a:spcAft>
            </a:pPr>
            <a:r>
              <a:rPr sz="900" b="1">
                <a:solidFill>
                  <a:srgbClr val="F8FAFC"/>
                </a:solidFill>
              </a:rPr>
              <a:t>Validation Required: </a:t>
            </a:r>
            <a:r>
              <a:rPr sz="900">
                <a:solidFill>
                  <a:srgbClr val="94A3B8"/>
                </a:solidFill>
              </a:rPr>
              <a:t>Third-party penetration testing (OWASP Top 10, IDOR), enterprise SAML 2.0 / SMART-on-FHIR SSO, and mandatory MFA.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90E17"/>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lIns="0" tIns="0" rIns="0" bIns="0">
            <a:spAutoFit/>
          </a:bodyPr>
          <a:lstStyle/>
          <a:p>
            <a:pPr>
              <a:defRPr sz="900" b="1">
                <a:solidFill>
                  <a:srgbClr val="00B4D8"/>
                </a:solidFill>
              </a:defRPr>
            </a:pPr>
            <a:r>
              <a:t>SYSTEM ARCHITECTURE &amp; SECURITY</a:t>
            </a:r>
          </a:p>
        </p:txBody>
      </p:sp>
      <p:sp>
        <p:nvSpPr>
          <p:cNvPr id="3" name="TextBox 2"/>
          <p:cNvSpPr txBox="1"/>
          <p:nvPr/>
        </p:nvSpPr>
        <p:spPr>
          <a:xfrm>
            <a:off x="731520" y="658368"/>
            <a:ext cx="10698480" cy="594360"/>
          </a:xfrm>
          <a:prstGeom prst="rect">
            <a:avLst/>
          </a:prstGeom>
          <a:noFill/>
        </p:spPr>
        <p:txBody>
          <a:bodyPr wrap="square" lIns="0" tIns="0" rIns="0" bIns="0">
            <a:spAutoFit/>
          </a:bodyPr>
          <a:lstStyle/>
          <a:p>
            <a:pPr>
              <a:defRPr sz="2100" b="1">
                <a:solidFill>
                  <a:srgbClr val="F8FAFC"/>
                </a:solidFill>
              </a:defRPr>
            </a:pPr>
            <a:r>
              <a:t>Multi-Tiered Technical Safeguards &amp; Production Resilience</a:t>
            </a:r>
          </a:p>
        </p:txBody>
      </p:sp>
      <p:sp>
        <p:nvSpPr>
          <p:cNvPr id="4" name="TextBox 3"/>
          <p:cNvSpPr txBox="1"/>
          <p:nvPr/>
        </p:nvSpPr>
        <p:spPr>
          <a:xfrm>
            <a:off x="731520" y="1234440"/>
            <a:ext cx="10698480" cy="320040"/>
          </a:xfrm>
          <a:prstGeom prst="rect">
            <a:avLst/>
          </a:prstGeom>
          <a:noFill/>
        </p:spPr>
        <p:txBody>
          <a:bodyPr wrap="square" lIns="0" tIns="0" rIns="0" bIns="0">
            <a:spAutoFit/>
          </a:bodyPr>
          <a:lstStyle/>
          <a:p>
            <a:pPr>
              <a:defRPr sz="1050">
                <a:solidFill>
                  <a:srgbClr val="94A3B8"/>
                </a:solidFill>
              </a:defRPr>
            </a:pPr>
            <a:r>
              <a:t>Rigorous defensive engineering protecting data integrity, preventing injection attacks, and ensuring high uptime.</a:t>
            </a:r>
          </a:p>
        </p:txBody>
      </p:sp>
      <p:sp>
        <p:nvSpPr>
          <p:cNvPr id="5" name="Rounded Rectangle 4"/>
          <p:cNvSpPr/>
          <p:nvPr/>
        </p:nvSpPr>
        <p:spPr>
          <a:xfrm>
            <a:off x="731520" y="1645920"/>
            <a:ext cx="3383280" cy="466344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92224"/>
            <a:ext cx="3017520" cy="4370832"/>
          </a:xfrm>
          <a:prstGeom prst="rect">
            <a:avLst/>
          </a:prstGeom>
          <a:noFill/>
        </p:spPr>
        <p:txBody>
          <a:bodyPr wrap="square" lIns="0" tIns="0" rIns="0" bIns="0">
            <a:spAutoFit/>
          </a:bodyPr>
          <a:lstStyle/>
          <a:p>
            <a:pPr>
              <a:spcAft>
                <a:spcPts val="700"/>
              </a:spcAft>
              <a:defRPr sz="1000" b="1">
                <a:solidFill>
                  <a:srgbClr val="00B4D8"/>
                </a:solidFill>
              </a:defRPr>
            </a:pPr>
            <a:r>
              <a:t>INPUT VALIDATION &amp; ANTI-INJECTION</a:t>
            </a:r>
          </a:p>
          <a:p>
            <a:pPr>
              <a:spcAft>
                <a:spcPts val="400"/>
              </a:spcAft>
            </a:pPr>
            <a:r>
              <a:rPr sz="900" b="1">
                <a:solidFill>
                  <a:srgbClr val="F8FAFC"/>
                </a:solidFill>
              </a:rPr>
              <a:t>Magic Byte Verification: </a:t>
            </a:r>
            <a:r>
              <a:rPr sz="900">
                <a:solidFill>
                  <a:srgbClr val="94A3B8"/>
                </a:solidFill>
              </a:rPr>
              <a:t>Rejects deceptive file extensions; verifies %PDF-, JPEG, and PNG headers.</a:t>
            </a:r>
          </a:p>
          <a:p>
            <a:pPr>
              <a:spcAft>
                <a:spcPts val="400"/>
              </a:spcAft>
            </a:pPr>
            <a:r>
              <a:rPr sz="900" b="1">
                <a:solidFill>
                  <a:srgbClr val="F8FAFC"/>
                </a:solidFill>
              </a:rPr>
              <a:t>Anti-Prompt Injection: </a:t>
            </a:r>
            <a:r>
              <a:rPr sz="900">
                <a:solidFill>
                  <a:srgbClr val="94A3B8"/>
                </a:solidFill>
              </a:rPr>
              <a:t>Regex sanitizer strips jailbreak phrases ('ignore prior instructions', 'act as DAN').</a:t>
            </a:r>
          </a:p>
          <a:p>
            <a:pPr>
              <a:spcAft>
                <a:spcPts val="400"/>
              </a:spcAft>
            </a:pPr>
            <a:r>
              <a:rPr sz="900" b="1">
                <a:solidFill>
                  <a:srgbClr val="F8FAFC"/>
                </a:solidFill>
              </a:rPr>
              <a:t>Payload Limits: </a:t>
            </a:r>
            <a:r>
              <a:rPr sz="900">
                <a:solidFill>
                  <a:srgbClr val="94A3B8"/>
                </a:solidFill>
              </a:rPr>
              <a:t>Hard 10MB upload ceiling prevents denial-of-service memory exhaustion.</a:t>
            </a:r>
          </a:p>
          <a:p>
            <a:pPr>
              <a:spcAft>
                <a:spcPts val="400"/>
              </a:spcAft>
            </a:pPr>
            <a:r>
              <a:rPr sz="900" b="1">
                <a:solidFill>
                  <a:srgbClr val="F8FAFC"/>
                </a:solidFill>
              </a:rPr>
              <a:t>MIME Enforcement: </a:t>
            </a:r>
            <a:r>
              <a:rPr sz="900">
                <a:solidFill>
                  <a:srgbClr val="94A3B8"/>
                </a:solidFill>
              </a:rPr>
              <a:t>Strict multi-stage MIME type whitelisting.</a:t>
            </a:r>
          </a:p>
        </p:txBody>
      </p:sp>
      <p:sp>
        <p:nvSpPr>
          <p:cNvPr id="7" name="Rounded Rectangle 6"/>
          <p:cNvSpPr/>
          <p:nvPr/>
        </p:nvSpPr>
        <p:spPr>
          <a:xfrm>
            <a:off x="4389120" y="1645920"/>
            <a:ext cx="3383280" cy="466344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792224"/>
            <a:ext cx="3017520" cy="4370832"/>
          </a:xfrm>
          <a:prstGeom prst="rect">
            <a:avLst/>
          </a:prstGeom>
          <a:noFill/>
        </p:spPr>
        <p:txBody>
          <a:bodyPr wrap="square" lIns="0" tIns="0" rIns="0" bIns="0">
            <a:spAutoFit/>
          </a:bodyPr>
          <a:lstStyle/>
          <a:p>
            <a:pPr>
              <a:spcAft>
                <a:spcPts val="700"/>
              </a:spcAft>
              <a:defRPr sz="1000" b="1">
                <a:solidFill>
                  <a:srgbClr val="3B82F6"/>
                </a:solidFill>
              </a:defRPr>
            </a:pPr>
            <a:r>
              <a:t>RESILIENCE &amp; OFFLINE FALLBACKS</a:t>
            </a:r>
          </a:p>
          <a:p>
            <a:pPr>
              <a:spcAft>
                <a:spcPts val="400"/>
              </a:spcAft>
            </a:pPr>
            <a:r>
              <a:rPr sz="900" b="1">
                <a:solidFill>
                  <a:srgbClr val="F8FAFC"/>
                </a:solidFill>
              </a:rPr>
              <a:t>Deterministic Lexicons: </a:t>
            </a:r>
            <a:r>
              <a:rPr sz="900">
                <a:solidFill>
                  <a:srgbClr val="94A3B8"/>
                </a:solidFill>
              </a:rPr>
              <a:t>37-term lab dictionary &amp; 10-rule DDI matrix function 100% offline.</a:t>
            </a:r>
          </a:p>
          <a:p>
            <a:pPr>
              <a:spcAft>
                <a:spcPts val="400"/>
              </a:spcAft>
            </a:pPr>
            <a:r>
              <a:rPr sz="900" b="1">
                <a:solidFill>
                  <a:srgbClr val="F8FAFC"/>
                </a:solidFill>
              </a:rPr>
              <a:t>Self-Healing Migrations: </a:t>
            </a:r>
            <a:r>
              <a:rPr sz="900">
                <a:solidFill>
                  <a:srgbClr val="94A3B8"/>
                </a:solidFill>
              </a:rPr>
              <a:t>Engine automatically checks and executes ALTER TABLE for missing columns.</a:t>
            </a:r>
          </a:p>
          <a:p>
            <a:pPr>
              <a:spcAft>
                <a:spcPts val="400"/>
              </a:spcAft>
            </a:pPr>
            <a:r>
              <a:rPr sz="900" b="1">
                <a:solidFill>
                  <a:srgbClr val="F8FAFC"/>
                </a:solidFill>
              </a:rPr>
              <a:t>Dual-Generation Chunks: </a:t>
            </a:r>
            <a:r>
              <a:rPr sz="900">
                <a:solidFill>
                  <a:srgbClr val="94A3B8"/>
                </a:solidFill>
              </a:rPr>
              <a:t>Legacy Vite chunks co-located in backend/static/assets/ prevent 404s on rolling deploys.</a:t>
            </a:r>
          </a:p>
          <a:p>
            <a:pPr>
              <a:spcAft>
                <a:spcPts val="400"/>
              </a:spcAft>
            </a:pPr>
            <a:r>
              <a:rPr sz="900" b="1">
                <a:solidFill>
                  <a:srgbClr val="F8FAFC"/>
                </a:solidFill>
              </a:rPr>
              <a:t>Service Worker v3: </a:t>
            </a:r>
            <a:r>
              <a:rPr sz="900">
                <a:solidFill>
                  <a:srgbClr val="94A3B8"/>
                </a:solidFill>
              </a:rPr>
              <a:t>PWA worker bypasses /assets/* to prevent stale cache lockups.</a:t>
            </a:r>
          </a:p>
        </p:txBody>
      </p:sp>
      <p:sp>
        <p:nvSpPr>
          <p:cNvPr id="9" name="Rounded Rectangle 8"/>
          <p:cNvSpPr/>
          <p:nvPr/>
        </p:nvSpPr>
        <p:spPr>
          <a:xfrm>
            <a:off x="8046720" y="1645920"/>
            <a:ext cx="3383280" cy="466344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792224"/>
            <a:ext cx="3017520" cy="4370832"/>
          </a:xfrm>
          <a:prstGeom prst="rect">
            <a:avLst/>
          </a:prstGeom>
          <a:noFill/>
        </p:spPr>
        <p:txBody>
          <a:bodyPr wrap="square" lIns="0" tIns="0" rIns="0" bIns="0">
            <a:spAutoFit/>
          </a:bodyPr>
          <a:lstStyle/>
          <a:p>
            <a:pPr>
              <a:spcAft>
                <a:spcPts val="700"/>
              </a:spcAft>
              <a:defRPr sz="1000" b="1">
                <a:solidFill>
                  <a:srgbClr val="10B981"/>
                </a:solidFill>
              </a:defRPr>
            </a:pPr>
            <a:r>
              <a:t>DATA INTEGRITY &amp; HIPAA COMPLIANCE</a:t>
            </a:r>
          </a:p>
          <a:p>
            <a:pPr>
              <a:spcAft>
                <a:spcPts val="400"/>
              </a:spcAft>
            </a:pPr>
            <a:r>
              <a:rPr sz="900" b="1">
                <a:solidFill>
                  <a:srgbClr val="F8FAFC"/>
                </a:solidFill>
              </a:rPr>
              <a:t>Provenance Isolation: </a:t>
            </a:r>
            <a:r>
              <a:rPr sz="900">
                <a:solidFill>
                  <a:srgbClr val="94A3B8"/>
                </a:solidFill>
              </a:rPr>
              <a:t>is_sample flag isolates demo simulation data from genuine patient history.</a:t>
            </a:r>
          </a:p>
          <a:p>
            <a:pPr>
              <a:spcAft>
                <a:spcPts val="400"/>
              </a:spcAft>
            </a:pPr>
            <a:r>
              <a:rPr sz="900" b="1">
                <a:solidFill>
                  <a:srgbClr val="F8FAFC"/>
                </a:solidFill>
              </a:rPr>
              <a:t>Atomic Purge API: </a:t>
            </a:r>
            <a:r>
              <a:rPr sz="900">
                <a:solidFill>
                  <a:srgbClr val="94A3B8"/>
                </a:solidFill>
              </a:rPr>
              <a:t>Dedicated endpoint wipes demo readings without touching real clinical vitals.</a:t>
            </a:r>
          </a:p>
          <a:p>
            <a:pPr>
              <a:spcAft>
                <a:spcPts val="400"/>
              </a:spcAft>
            </a:pPr>
            <a:r>
              <a:rPr sz="900" b="1">
                <a:solidFill>
                  <a:srgbClr val="F8FAFC"/>
                </a:solidFill>
              </a:rPr>
              <a:t>Immutable Audit Trail: </a:t>
            </a:r>
            <a:r>
              <a:rPr sz="900">
                <a:solidFill>
                  <a:srgbClr val="94A3B8"/>
                </a:solidFill>
              </a:rPr>
              <a:t>AuditLog table records all CRUD, login, and export events with IP &amp; timestamp.</a:t>
            </a:r>
          </a:p>
          <a:p>
            <a:pPr>
              <a:spcAft>
                <a:spcPts val="400"/>
              </a:spcAft>
            </a:pPr>
            <a:r>
              <a:rPr sz="900" b="1">
                <a:solidFill>
                  <a:srgbClr val="F8FAFC"/>
                </a:solidFill>
              </a:rPr>
              <a:t>Access Control: </a:t>
            </a:r>
            <a:r>
              <a:rPr sz="900">
                <a:solidFill>
                  <a:srgbClr val="94A3B8"/>
                </a:solidFill>
              </a:rPr>
              <a:t>JWT access tokens (30m) &amp; refresh tokens (7d) with role-gated endpoints.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90E17"/>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lIns="0" tIns="0" rIns="0" bIns="0">
            <a:spAutoFit/>
          </a:bodyPr>
          <a:lstStyle/>
          <a:p>
            <a:pPr>
              <a:defRPr sz="900" b="1">
                <a:solidFill>
                  <a:srgbClr val="00B4D8"/>
                </a:solidFill>
              </a:defRPr>
            </a:pPr>
            <a:r>
              <a:t>REGULATORY STRATEGY &amp; ROADMAP</a:t>
            </a:r>
          </a:p>
        </p:txBody>
      </p:sp>
      <p:sp>
        <p:nvSpPr>
          <p:cNvPr id="3" name="TextBox 2"/>
          <p:cNvSpPr txBox="1"/>
          <p:nvPr/>
        </p:nvSpPr>
        <p:spPr>
          <a:xfrm>
            <a:off x="731520" y="658368"/>
            <a:ext cx="10698480" cy="594360"/>
          </a:xfrm>
          <a:prstGeom prst="rect">
            <a:avLst/>
          </a:prstGeom>
          <a:noFill/>
        </p:spPr>
        <p:txBody>
          <a:bodyPr wrap="square" lIns="0" tIns="0" rIns="0" bIns="0">
            <a:spAutoFit/>
          </a:bodyPr>
          <a:lstStyle/>
          <a:p>
            <a:pPr>
              <a:defRPr sz="2100" b="1">
                <a:solidFill>
                  <a:srgbClr val="F8FAFC"/>
                </a:solidFill>
              </a:defRPr>
            </a:pPr>
            <a:r>
              <a:t>Pre-Clinical Validation &amp; Software as a Medical Device (SaMD)</a:t>
            </a:r>
          </a:p>
        </p:txBody>
      </p:sp>
      <p:sp>
        <p:nvSpPr>
          <p:cNvPr id="4" name="TextBox 3"/>
          <p:cNvSpPr txBox="1"/>
          <p:nvPr/>
        </p:nvSpPr>
        <p:spPr>
          <a:xfrm>
            <a:off x="731520" y="1234440"/>
            <a:ext cx="10698480" cy="320040"/>
          </a:xfrm>
          <a:prstGeom prst="rect">
            <a:avLst/>
          </a:prstGeom>
          <a:noFill/>
        </p:spPr>
        <p:txBody>
          <a:bodyPr wrap="square" lIns="0" tIns="0" rIns="0" bIns="0">
            <a:spAutoFit/>
          </a:bodyPr>
          <a:lstStyle/>
          <a:p>
            <a:pPr>
              <a:defRPr sz="1050">
                <a:solidFill>
                  <a:srgbClr val="94A3B8"/>
                </a:solidFill>
              </a:defRPr>
            </a:pPr>
            <a:r>
              <a:t>Five-phase structured path from analytical verification to IRB prospective clinical feasibility trials.</a:t>
            </a:r>
          </a:p>
        </p:txBody>
      </p:sp>
      <p:sp>
        <p:nvSpPr>
          <p:cNvPr id="5" name="Rounded Rectangle 4"/>
          <p:cNvSpPr/>
          <p:nvPr/>
        </p:nvSpPr>
        <p:spPr>
          <a:xfrm>
            <a:off x="731520" y="1645920"/>
            <a:ext cx="5120640" cy="219456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92224"/>
            <a:ext cx="4754880" cy="1901952"/>
          </a:xfrm>
          <a:prstGeom prst="rect">
            <a:avLst/>
          </a:prstGeom>
          <a:noFill/>
        </p:spPr>
        <p:txBody>
          <a:bodyPr wrap="square" lIns="0" tIns="0" rIns="0" bIns="0">
            <a:spAutoFit/>
          </a:bodyPr>
          <a:lstStyle/>
          <a:p>
            <a:pPr>
              <a:spcAft>
                <a:spcPts val="700"/>
              </a:spcAft>
              <a:defRPr sz="1000" b="1">
                <a:solidFill>
                  <a:srgbClr val="00B4D8"/>
                </a:solidFill>
              </a:defRPr>
            </a:pPr>
            <a:r>
              <a:t>PHASE 1 &amp; 2: ANALYTICAL &amp; MULTI-READER BENCHMARKS</a:t>
            </a:r>
          </a:p>
          <a:p>
            <a:pPr>
              <a:spcAft>
                <a:spcPts val="400"/>
              </a:spcAft>
            </a:pPr>
            <a:r>
              <a:rPr sz="900" b="1">
                <a:solidFill>
                  <a:srgbClr val="F8FAFC"/>
                </a:solidFill>
              </a:rPr>
              <a:t>Phase 1: Analytical Testing: </a:t>
            </a:r>
            <a:r>
              <a:rPr sz="900">
                <a:solidFill>
                  <a:srgbClr val="94A3B8"/>
                </a:solidFill>
              </a:rPr>
              <a:t>COMPLETE: 91 backend automated tests passing; deterministic formulas verified (MAP, AHA, DDI).</a:t>
            </a:r>
          </a:p>
          <a:p>
            <a:pPr>
              <a:spcAft>
                <a:spcPts val="400"/>
              </a:spcAft>
            </a:pPr>
            <a:r>
              <a:rPr sz="900" b="1">
                <a:solidFill>
                  <a:srgbClr val="F8FAFC"/>
                </a:solidFill>
              </a:rPr>
              <a:t>Phase 2: Pre-Clinical Benchmarks: </a:t>
            </a:r>
            <a:r>
              <a:rPr sz="900">
                <a:solidFill>
                  <a:srgbClr val="94A3B8"/>
                </a:solidFill>
              </a:rPr>
              <a:t>Q3 2026: 500-sample de-identified handwriting dataset for OCR accuracy; 1,000-sample multi-center lab panel extraction benchmark.</a:t>
            </a:r>
          </a:p>
          <a:p>
            <a:pPr>
              <a:spcAft>
                <a:spcPts val="400"/>
              </a:spcAft>
            </a:pPr>
            <a:r>
              <a:rPr sz="900" b="1">
                <a:solidFill>
                  <a:srgbClr val="F8FAFC"/>
                </a:solidFill>
              </a:rPr>
              <a:t>Hallucination Scoring: </a:t>
            </a:r>
            <a:r>
              <a:rPr sz="900">
                <a:solidFill>
                  <a:srgbClr val="94A3B8"/>
                </a:solidFill>
              </a:rPr>
              <a:t>Double-blind review by board-certified physicians scoring accuracy and omission risk.</a:t>
            </a:r>
          </a:p>
        </p:txBody>
      </p:sp>
      <p:sp>
        <p:nvSpPr>
          <p:cNvPr id="7" name="Rounded Rectangle 6"/>
          <p:cNvSpPr/>
          <p:nvPr/>
        </p:nvSpPr>
        <p:spPr>
          <a:xfrm>
            <a:off x="6217920" y="1645920"/>
            <a:ext cx="5120640" cy="219456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92224"/>
            <a:ext cx="4754880" cy="1901952"/>
          </a:xfrm>
          <a:prstGeom prst="rect">
            <a:avLst/>
          </a:prstGeom>
          <a:noFill/>
        </p:spPr>
        <p:txBody>
          <a:bodyPr wrap="square" lIns="0" tIns="0" rIns="0" bIns="0">
            <a:spAutoFit/>
          </a:bodyPr>
          <a:lstStyle/>
          <a:p>
            <a:pPr>
              <a:spcAft>
                <a:spcPts val="700"/>
              </a:spcAft>
              <a:defRPr sz="1000" b="1">
                <a:solidFill>
                  <a:srgbClr val="2DD4BF"/>
                </a:solidFill>
              </a:defRPr>
            </a:pPr>
            <a:r>
              <a:t>PHASE 3: HUMAN FACTORS &amp; USABILITY</a:t>
            </a:r>
          </a:p>
          <a:p>
            <a:pPr>
              <a:spcAft>
                <a:spcPts val="400"/>
              </a:spcAft>
            </a:pPr>
            <a:r>
              <a:rPr sz="900" b="1">
                <a:solidFill>
                  <a:srgbClr val="F8FAFC"/>
                </a:solidFill>
              </a:rPr>
              <a:t>Geriatric Usability Cohort: </a:t>
            </a:r>
            <a:r>
              <a:rPr sz="900">
                <a:solidFill>
                  <a:srgbClr val="94A3B8"/>
                </a:solidFill>
              </a:rPr>
              <a:t>Q4 2026: Formal usability testing with patients aged 65+ and low digital literacy.</a:t>
            </a:r>
          </a:p>
          <a:p>
            <a:pPr>
              <a:spcAft>
                <a:spcPts val="400"/>
              </a:spcAft>
            </a:pPr>
            <a:r>
              <a:rPr sz="900" b="1">
                <a:solidFill>
                  <a:srgbClr val="F8FAFC"/>
                </a:solidFill>
              </a:rPr>
              <a:t>WCAG 2.1 AA Certification: </a:t>
            </a:r>
            <a:r>
              <a:rPr sz="900">
                <a:solidFill>
                  <a:srgbClr val="94A3B8"/>
                </a:solidFill>
              </a:rPr>
              <a:t>High-contrast themes, aria-live announcements, and screen-reader compliance.</a:t>
            </a:r>
          </a:p>
          <a:p>
            <a:pPr>
              <a:spcAft>
                <a:spcPts val="400"/>
              </a:spcAft>
            </a:pPr>
            <a:r>
              <a:rPr sz="900" b="1">
                <a:solidFill>
                  <a:srgbClr val="F8FAFC"/>
                </a:solidFill>
              </a:rPr>
              <a:t>Alarm Fatigue Quantification: </a:t>
            </a:r>
            <a:r>
              <a:rPr sz="900">
                <a:solidFill>
                  <a:srgbClr val="94A3B8"/>
                </a:solidFill>
              </a:rPr>
              <a:t>Cognitive load testing with clinic nurses evaluating Doctor Triage Queue resolution speed.</a:t>
            </a:r>
          </a:p>
        </p:txBody>
      </p:sp>
      <p:sp>
        <p:nvSpPr>
          <p:cNvPr id="9" name="Rounded Rectangle 8"/>
          <p:cNvSpPr/>
          <p:nvPr/>
        </p:nvSpPr>
        <p:spPr>
          <a:xfrm>
            <a:off x="731520" y="4023360"/>
            <a:ext cx="5120640" cy="228600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169664"/>
            <a:ext cx="4754880" cy="1993392"/>
          </a:xfrm>
          <a:prstGeom prst="rect">
            <a:avLst/>
          </a:prstGeom>
          <a:noFill/>
        </p:spPr>
        <p:txBody>
          <a:bodyPr wrap="square" lIns="0" tIns="0" rIns="0" bIns="0">
            <a:spAutoFit/>
          </a:bodyPr>
          <a:lstStyle/>
          <a:p>
            <a:pPr>
              <a:spcAft>
                <a:spcPts val="700"/>
              </a:spcAft>
              <a:defRPr sz="1000" b="1">
                <a:solidFill>
                  <a:srgbClr val="3B82F6"/>
                </a:solidFill>
              </a:defRPr>
            </a:pPr>
            <a:r>
              <a:t>PHASE 4: INTEROPERABILITY &amp; SECURITY AUDITS</a:t>
            </a:r>
          </a:p>
          <a:p>
            <a:pPr>
              <a:spcAft>
                <a:spcPts val="400"/>
              </a:spcAft>
            </a:pPr>
            <a:r>
              <a:rPr sz="900" b="1">
                <a:solidFill>
                  <a:srgbClr val="F8FAFC"/>
                </a:solidFill>
              </a:rPr>
              <a:t>SMART-on-FHIR Integration: </a:t>
            </a:r>
            <a:r>
              <a:rPr sz="900">
                <a:solidFill>
                  <a:srgbClr val="94A3B8"/>
                </a:solidFill>
              </a:rPr>
              <a:t>Q1 2027: Certified HL7 FHIR v4.0.1 mapping for Patient, Observation, &amp; DocumentReference.</a:t>
            </a:r>
          </a:p>
          <a:p>
            <a:pPr>
              <a:spcAft>
                <a:spcPts val="400"/>
              </a:spcAft>
            </a:pPr>
            <a:r>
              <a:rPr sz="900" b="1">
                <a:solidFill>
                  <a:srgbClr val="F8FAFC"/>
                </a:solidFill>
              </a:rPr>
              <a:t>Third-Party Pen Testing: </a:t>
            </a:r>
            <a:r>
              <a:rPr sz="900">
                <a:solidFill>
                  <a:srgbClr val="94A3B8"/>
                </a:solidFill>
              </a:rPr>
              <a:t>OWASP Top 10, IDOR, and privilege escalation penetration test by certified auditor.</a:t>
            </a:r>
          </a:p>
          <a:p>
            <a:pPr>
              <a:spcAft>
                <a:spcPts val="400"/>
              </a:spcAft>
            </a:pPr>
            <a:r>
              <a:rPr sz="900" b="1">
                <a:solidFill>
                  <a:srgbClr val="F8FAFC"/>
                </a:solidFill>
              </a:rPr>
              <a:t>Compliance &amp; Identity: </a:t>
            </a:r>
            <a:r>
              <a:rPr sz="900">
                <a:solidFill>
                  <a:srgbClr val="94A3B8"/>
                </a:solidFill>
              </a:rPr>
              <a:t>SOC 2 Type II audit, institutional BAA agreements, and enterprise SAML 2.0 / MFA.</a:t>
            </a:r>
          </a:p>
        </p:txBody>
      </p:sp>
      <p:sp>
        <p:nvSpPr>
          <p:cNvPr id="11" name="Rounded Rectangle 10"/>
          <p:cNvSpPr/>
          <p:nvPr/>
        </p:nvSpPr>
        <p:spPr>
          <a:xfrm>
            <a:off x="6217920" y="4023360"/>
            <a:ext cx="5120640" cy="228600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4169664"/>
            <a:ext cx="4754880" cy="1993392"/>
          </a:xfrm>
          <a:prstGeom prst="rect">
            <a:avLst/>
          </a:prstGeom>
          <a:noFill/>
        </p:spPr>
        <p:txBody>
          <a:bodyPr wrap="square" lIns="0" tIns="0" rIns="0" bIns="0">
            <a:spAutoFit/>
          </a:bodyPr>
          <a:lstStyle/>
          <a:p>
            <a:pPr>
              <a:spcAft>
                <a:spcPts val="700"/>
              </a:spcAft>
              <a:defRPr sz="1000" b="1">
                <a:solidFill>
                  <a:srgbClr val="A855F7"/>
                </a:solidFill>
              </a:defRPr>
            </a:pPr>
            <a:r>
              <a:t>PHASE 5: IRB PROSPECTIVE CLINICAL FEASIBILITY</a:t>
            </a:r>
          </a:p>
          <a:p>
            <a:pPr>
              <a:spcAft>
                <a:spcPts val="400"/>
              </a:spcAft>
            </a:pPr>
            <a:r>
              <a:rPr sz="900" b="1">
                <a:solidFill>
                  <a:srgbClr val="F8FAFC"/>
                </a:solidFill>
              </a:rPr>
              <a:t>Clinical Protocol: </a:t>
            </a:r>
            <a:r>
              <a:rPr sz="900">
                <a:solidFill>
                  <a:srgbClr val="94A3B8"/>
                </a:solidFill>
              </a:rPr>
              <a:t>Q2 2027: Multi-site IRB-approved randomized feasibility trial in outpatient cardiology and endocrinology.</a:t>
            </a:r>
          </a:p>
          <a:p>
            <a:pPr>
              <a:spcAft>
                <a:spcPts val="400"/>
              </a:spcAft>
            </a:pPr>
            <a:r>
              <a:rPr sz="900" b="1">
                <a:solidFill>
                  <a:srgbClr val="F8FAFC"/>
                </a:solidFill>
              </a:rPr>
              <a:t>Primary Endpoints: </a:t>
            </a:r>
            <a:r>
              <a:rPr sz="900">
                <a:solidFill>
                  <a:srgbClr val="94A3B8"/>
                </a:solidFill>
              </a:rPr>
              <a:t>Blood pressure control (change in systolic mmHg) and glycemic Time in Range (TIR).</a:t>
            </a:r>
          </a:p>
          <a:p>
            <a:pPr>
              <a:spcAft>
                <a:spcPts val="400"/>
              </a:spcAft>
            </a:pPr>
            <a:r>
              <a:rPr sz="900" b="1">
                <a:solidFill>
                  <a:srgbClr val="F8FAFC"/>
                </a:solidFill>
              </a:rPr>
              <a:t>Secondary Endpoints: </a:t>
            </a:r>
            <a:r>
              <a:rPr sz="900">
                <a:solidFill>
                  <a:srgbClr val="94A3B8"/>
                </a:solidFill>
              </a:rPr>
              <a:t>Medication adherence scores and reduction in patient anxiety following AI lab report translation.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90E17"/>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lIns="0" tIns="0" rIns="0" bIns="0">
            <a:spAutoFit/>
          </a:bodyPr>
          <a:lstStyle/>
          <a:p>
            <a:pPr>
              <a:defRPr sz="900" b="1">
                <a:solidFill>
                  <a:srgbClr val="00B4D8"/>
                </a:solidFill>
              </a:defRPr>
            </a:pPr>
            <a:r>
              <a:t>SUMMARY &amp; LIVE VERIFICATION</a:t>
            </a:r>
          </a:p>
        </p:txBody>
      </p:sp>
      <p:sp>
        <p:nvSpPr>
          <p:cNvPr id="3" name="TextBox 2"/>
          <p:cNvSpPr txBox="1"/>
          <p:nvPr/>
        </p:nvSpPr>
        <p:spPr>
          <a:xfrm>
            <a:off x="731520" y="658368"/>
            <a:ext cx="10698480" cy="594360"/>
          </a:xfrm>
          <a:prstGeom prst="rect">
            <a:avLst/>
          </a:prstGeom>
          <a:noFill/>
        </p:spPr>
        <p:txBody>
          <a:bodyPr wrap="square" lIns="0" tIns="0" rIns="0" bIns="0">
            <a:spAutoFit/>
          </a:bodyPr>
          <a:lstStyle/>
          <a:p>
            <a:pPr>
              <a:defRPr sz="2100" b="1">
                <a:solidFill>
                  <a:srgbClr val="F8FAFC"/>
                </a:solidFill>
              </a:defRPr>
            </a:pPr>
            <a:r>
              <a:t>MediCare AI — Trustworthy Healthcare Technology</a:t>
            </a:r>
          </a:p>
        </p:txBody>
      </p:sp>
      <p:sp>
        <p:nvSpPr>
          <p:cNvPr id="4" name="TextBox 3"/>
          <p:cNvSpPr txBox="1"/>
          <p:nvPr/>
        </p:nvSpPr>
        <p:spPr>
          <a:xfrm>
            <a:off x="731520" y="1234440"/>
            <a:ext cx="10698480" cy="320040"/>
          </a:xfrm>
          <a:prstGeom prst="rect">
            <a:avLst/>
          </a:prstGeom>
          <a:noFill/>
        </p:spPr>
        <p:txBody>
          <a:bodyPr wrap="square" lIns="0" tIns="0" rIns="0" bIns="0">
            <a:spAutoFit/>
          </a:bodyPr>
          <a:lstStyle/>
          <a:p>
            <a:pPr>
              <a:defRPr sz="1050">
                <a:solidFill>
                  <a:srgbClr val="94A3B8"/>
                </a:solidFill>
              </a:defRPr>
            </a:pPr>
            <a:r>
              <a:t>Explore the live platform, inspect the open-source codebase, and experience the verified use cases firsthand.</a:t>
            </a:r>
          </a:p>
        </p:txBody>
      </p:sp>
      <p:sp>
        <p:nvSpPr>
          <p:cNvPr id="5" name="Rounded Rectangle 4"/>
          <p:cNvSpPr/>
          <p:nvPr/>
        </p:nvSpPr>
        <p:spPr>
          <a:xfrm>
            <a:off x="731520" y="1645920"/>
            <a:ext cx="5120640" cy="466344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92224"/>
            <a:ext cx="4754880" cy="4370832"/>
          </a:xfrm>
          <a:prstGeom prst="rect">
            <a:avLst/>
          </a:prstGeom>
          <a:noFill/>
        </p:spPr>
        <p:txBody>
          <a:bodyPr wrap="square" lIns="0" tIns="0" rIns="0" bIns="0">
            <a:spAutoFit/>
          </a:bodyPr>
          <a:lstStyle/>
          <a:p>
            <a:pPr>
              <a:spcAft>
                <a:spcPts val="700"/>
              </a:spcAft>
              <a:defRPr sz="1000" b="1">
                <a:solidFill>
                  <a:srgbClr val="10B981"/>
                </a:solidFill>
              </a:defRPr>
            </a:pPr>
            <a:r>
              <a:t>PLATFORM STRENGTHS &amp; ARCHITECTURAL DIFFERENTIATION</a:t>
            </a:r>
          </a:p>
          <a:p>
            <a:pPr>
              <a:spcAft>
                <a:spcPts val="400"/>
              </a:spcAft>
            </a:pPr>
            <a:r>
              <a:rPr sz="900" b="1">
                <a:solidFill>
                  <a:srgbClr val="F8FAFC"/>
                </a:solidFill>
              </a:rPr>
              <a:t>Clinical Conservatism: </a:t>
            </a:r>
            <a:r>
              <a:rPr sz="900">
                <a:solidFill>
                  <a:srgbClr val="94A3B8"/>
                </a:solidFill>
              </a:rPr>
              <a:t>Prefers explicit uncertainty flags and deterministic medical rules over unconstrained generative hallucinations.</a:t>
            </a:r>
          </a:p>
          <a:p>
            <a:pPr>
              <a:spcAft>
                <a:spcPts val="400"/>
              </a:spcAft>
            </a:pPr>
            <a:r>
              <a:rPr sz="900" b="1">
                <a:solidFill>
                  <a:srgbClr val="F8FAFC"/>
                </a:solidFill>
              </a:rPr>
              <a:t>Grounded Intelligence: </a:t>
            </a:r>
            <a:r>
              <a:rPr sz="900">
                <a:solidFill>
                  <a:srgbClr val="94A3B8"/>
                </a:solidFill>
              </a:rPr>
              <a:t>AI responses are anchored to verified patient records (medications, vitals, lab reports) rather than general web text.</a:t>
            </a:r>
          </a:p>
          <a:p>
            <a:pPr>
              <a:spcAft>
                <a:spcPts val="400"/>
              </a:spcAft>
            </a:pPr>
            <a:r>
              <a:rPr sz="900" b="1">
                <a:solidFill>
                  <a:srgbClr val="F8FAFC"/>
                </a:solidFill>
              </a:rPr>
              <a:t>Closed-Loop Triage: </a:t>
            </a:r>
            <a:r>
              <a:rPr sz="900">
                <a:solidFill>
                  <a:srgbClr val="94A3B8"/>
                </a:solidFill>
              </a:rPr>
              <a:t>Doctor alert workflows eliminate alarm fatigue and enforce medical-legal audit documentation.</a:t>
            </a:r>
          </a:p>
          <a:p>
            <a:pPr>
              <a:spcAft>
                <a:spcPts val="400"/>
              </a:spcAft>
            </a:pPr>
            <a:r>
              <a:rPr sz="900" b="1">
                <a:solidFill>
                  <a:srgbClr val="F8FAFC"/>
                </a:solidFill>
              </a:rPr>
              <a:t>Strict Provenance Isolation: </a:t>
            </a:r>
            <a:r>
              <a:rPr sz="900">
                <a:solidFill>
                  <a:srgbClr val="94A3B8"/>
                </a:solidFill>
              </a:rPr>
              <a:t>Simulation and educational research data are strictly separated from genuine patient records.</a:t>
            </a:r>
          </a:p>
          <a:p>
            <a:pPr>
              <a:spcAft>
                <a:spcPts val="400"/>
              </a:spcAft>
            </a:pPr>
            <a:r>
              <a:rPr sz="900" b="1">
                <a:solidFill>
                  <a:srgbClr val="F8FAFC"/>
                </a:solidFill>
              </a:rPr>
              <a:t>High-Availability Deployment: </a:t>
            </a:r>
            <a:r>
              <a:rPr sz="900">
                <a:solidFill>
                  <a:srgbClr val="94A3B8"/>
                </a:solidFill>
              </a:rPr>
              <a:t>Dual-generation Vite chunk retention, self-healing migrations, and offline fallbacks ensure continuous operation.</a:t>
            </a:r>
          </a:p>
        </p:txBody>
      </p:sp>
      <p:sp>
        <p:nvSpPr>
          <p:cNvPr id="7" name="Rounded Rectangle 6"/>
          <p:cNvSpPr/>
          <p:nvPr/>
        </p:nvSpPr>
        <p:spPr>
          <a:xfrm>
            <a:off x="6217920" y="1645920"/>
            <a:ext cx="5212080" cy="466344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92224"/>
            <a:ext cx="4846320" cy="4370832"/>
          </a:xfrm>
          <a:prstGeom prst="rect">
            <a:avLst/>
          </a:prstGeom>
          <a:noFill/>
        </p:spPr>
        <p:txBody>
          <a:bodyPr wrap="square" lIns="0" tIns="0" rIns="0" bIns="0">
            <a:spAutoFit/>
          </a:bodyPr>
          <a:lstStyle/>
          <a:p>
            <a:pPr>
              <a:spcAft>
                <a:spcPts val="700"/>
              </a:spcAft>
              <a:defRPr sz="1000" b="1">
                <a:solidFill>
                  <a:srgbClr val="00B4D8"/>
                </a:solidFill>
              </a:defRPr>
            </a:pPr>
            <a:r>
              <a:t>LIVE VERIFICATION &amp; INTERACTIVE RESOURCES</a:t>
            </a:r>
          </a:p>
          <a:p>
            <a:pPr>
              <a:spcAft>
                <a:spcPts val="400"/>
              </a:spcAft>
            </a:pPr>
            <a:r>
              <a:rPr sz="900" b="1">
                <a:solidFill>
                  <a:srgbClr val="F8FAFC"/>
                </a:solidFill>
              </a:rPr>
              <a:t>Production URL: </a:t>
            </a:r>
            <a:r>
              <a:rPr sz="900">
                <a:solidFill>
                  <a:srgbClr val="94A3B8"/>
                </a:solidFill>
              </a:rPr>
              <a:t>https://medicare-ai-iv31.onrender.com</a:t>
            </a:r>
          </a:p>
          <a:p>
            <a:pPr>
              <a:spcAft>
                <a:spcPts val="400"/>
              </a:spcAft>
            </a:pPr>
            <a:r>
              <a:rPr sz="900" b="1">
                <a:solidFill>
                  <a:srgbClr val="F8FAFC"/>
                </a:solidFill>
              </a:rPr>
              <a:t>Source Code: </a:t>
            </a:r>
            <a:r>
              <a:rPr sz="900">
                <a:solidFill>
                  <a:srgbClr val="94A3B8"/>
                </a:solidFill>
              </a:rPr>
              <a:t>https://github.com/gopidsai687/medicare-ai</a:t>
            </a:r>
          </a:p>
          <a:p>
            <a:pPr>
              <a:spcAft>
                <a:spcPts val="400"/>
              </a:spcAft>
            </a:pPr>
            <a:r>
              <a:rPr sz="900" b="1">
                <a:solidFill>
                  <a:srgbClr val="F8FAFC"/>
                </a:solidFill>
              </a:rPr>
              <a:t>Deliverables Suite: </a:t>
            </a:r>
            <a:r>
              <a:rPr sz="900">
                <a:solidFill>
                  <a:srgbClr val="94A3B8"/>
                </a:solidFill>
              </a:rPr>
              <a:t>docs/presentation/ (PPTX, Technical Specification, Speaking Scripts, Executive Briefs)</a:t>
            </a:r>
          </a:p>
          <a:p>
            <a:pPr>
              <a:spcAft>
                <a:spcPts val="400"/>
              </a:spcAft>
            </a:pPr>
            <a:r>
              <a:rPr sz="900" b="1">
                <a:solidFill>
                  <a:srgbClr val="F8FAFC"/>
                </a:solidFill>
              </a:rPr>
              <a:t>Pre-Seeded Demo Accounts: </a:t>
            </a:r>
            <a:r>
              <a:rPr sz="900">
                <a:solidFill>
                  <a:srgbClr val="94A3B8"/>
                </a:solidFill>
              </a:rPr>
              <a:t>Patient: patient@medicare.ai / patient123
Doctor: doctor@medicare.ai / doctor123
Admin: admin@medicare.ai / admin123</a:t>
            </a:r>
          </a:p>
          <a:p>
            <a:pPr>
              <a:spcAft>
                <a:spcPts val="400"/>
              </a:spcAft>
            </a:pPr>
            <a:r>
              <a:rPr sz="900" b="1">
                <a:solidFill>
                  <a:srgbClr val="F8FAFC"/>
                </a:solidFill>
              </a:rPr>
              <a:t>Key Demonstration Routes: </a:t>
            </a:r>
            <a:r>
              <a:rPr sz="900">
                <a:solidFill>
                  <a:srgbClr val="94A3B8"/>
                </a:solidFill>
              </a:rPr>
              <a:t>/patient (Dashboard &amp; HUD)
/patient/prescriptions/analyze (Rx Pipeline)
/patient/medical-reports/analyze (Lab Engine)
/doctor/alerts (Doctor Triage Queue)
/admin/audit-logs (HIPAA Trail)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